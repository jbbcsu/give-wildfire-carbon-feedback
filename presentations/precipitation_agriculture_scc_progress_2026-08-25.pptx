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e0d1662ca4977" /><Relationship Type="http://schemas.openxmlformats.org/officeDocument/2006/relationships/extended-properties" Target="/docProps/app.xml" Id="Ra7554933bb454608" /><Relationship Type="http://schemas.openxmlformats.org/officeDocument/2006/relationships/officeDocument" Target="/ppt/presentation.xml" Id="Rd4d42ea8385e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ab54d16bb443e"/>
  </p:sldMasterIdLst>
  <p:notesMasterIdLst>
    <p:notesMasterId xmlns:r="http://schemas.openxmlformats.org/officeDocument/2006/relationships" r:id="R099e9c3ed83c4f58"/>
  </p:notesMasterIdLst>
  <p:sldIdLst>
    <p:sldId xmlns:r="http://schemas.openxmlformats.org/officeDocument/2006/relationships" id="256" r:id="R5f6523b5aaa340dc"/>
    <p:sldId xmlns:r="http://schemas.openxmlformats.org/officeDocument/2006/relationships" id="257" r:id="R615d6caf4ada46c2"/>
    <p:sldId xmlns:r="http://schemas.openxmlformats.org/officeDocument/2006/relationships" id="258" r:id="Rdea52d743d2d41b5"/>
    <p:sldId xmlns:r="http://schemas.openxmlformats.org/officeDocument/2006/relationships" id="259" r:id="R130e07f87a904e1e"/>
    <p:sldId xmlns:r="http://schemas.openxmlformats.org/officeDocument/2006/relationships" id="260" r:id="R06839e4ac1354db0"/>
    <p:sldId xmlns:r="http://schemas.openxmlformats.org/officeDocument/2006/relationships" id="261" r:id="R8af982718f1a4230"/>
    <p:sldId xmlns:r="http://schemas.openxmlformats.org/officeDocument/2006/relationships" id="262" r:id="Rbe4307f816474493"/>
    <p:sldId xmlns:r="http://schemas.openxmlformats.org/officeDocument/2006/relationships" id="263" r:id="R1136eb908fe84149"/>
    <p:sldId xmlns:r="http://schemas.openxmlformats.org/officeDocument/2006/relationships" id="264" r:id="R961785c0c3114cac"/>
    <p:sldId xmlns:r="http://schemas.openxmlformats.org/officeDocument/2006/relationships" id="265" r:id="R9ce3c9c8858f4d2f"/>
    <p:sldId xmlns:r="http://schemas.openxmlformats.org/officeDocument/2006/relationships" id="266" r:id="R65ec21c36ed54c36"/>
    <p:sldId xmlns:r="http://schemas.openxmlformats.org/officeDocument/2006/relationships" id="267" r:id="Rf98dcaa4dbd047f3"/>
    <p:sldId xmlns:r="http://schemas.openxmlformats.org/officeDocument/2006/relationships" id="268" r:id="Rf70d1372cadb49d5"/>
    <p:sldId xmlns:r="http://schemas.openxmlformats.org/officeDocument/2006/relationships" id="269" r:id="Rd82a7b0f317d4a5f"/>
    <p:sldId xmlns:r="http://schemas.openxmlformats.org/officeDocument/2006/relationships" id="270" r:id="R5ee27f77bf0e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38d628f114e47" /><Relationship Type="http://schemas.openxmlformats.org/officeDocument/2006/relationships/slideMaster" Target="/ppt/slideMasters/slideMaster1.xml" Id="Ra0bab54d16bb443e" /><Relationship Type="http://schemas.openxmlformats.org/officeDocument/2006/relationships/notesMaster" Target="/ppt/notesMasters/notesMaster1.xml" Id="R099e9c3ed83c4f58" /><Relationship Type="http://schemas.openxmlformats.org/officeDocument/2006/relationships/presProps" Target="/ppt/presProps.xml" Id="Rec3b829a0cea434f" /><Relationship Type="http://schemas.openxmlformats.org/officeDocument/2006/relationships/tableStyles" Target="/ppt/tableStyles.xml" Id="R3a5a135634384059" /><Relationship Type="http://schemas.openxmlformats.org/officeDocument/2006/relationships/slide" Target="/ppt/slides/slide1.xml" Id="R5f6523b5aaa340dc" /><Relationship Type="http://schemas.openxmlformats.org/officeDocument/2006/relationships/slide" Target="/ppt/slides/slide2.xml" Id="R615d6caf4ada46c2" /><Relationship Type="http://schemas.openxmlformats.org/officeDocument/2006/relationships/slide" Target="/ppt/slides/slide3.xml" Id="Rdea52d743d2d41b5" /><Relationship Type="http://schemas.openxmlformats.org/officeDocument/2006/relationships/slide" Target="/ppt/slides/slide4.xml" Id="R130e07f87a904e1e" /><Relationship Type="http://schemas.openxmlformats.org/officeDocument/2006/relationships/slide" Target="/ppt/slides/slide5.xml" Id="R06839e4ac1354db0" /><Relationship Type="http://schemas.openxmlformats.org/officeDocument/2006/relationships/slide" Target="/ppt/slides/slide6.xml" Id="R8af982718f1a4230" /><Relationship Type="http://schemas.openxmlformats.org/officeDocument/2006/relationships/slide" Target="/ppt/slides/slide7.xml" Id="Rbe4307f816474493" /><Relationship Type="http://schemas.openxmlformats.org/officeDocument/2006/relationships/slide" Target="/ppt/slides/slide8.xml" Id="R1136eb908fe84149" /><Relationship Type="http://schemas.openxmlformats.org/officeDocument/2006/relationships/slide" Target="/ppt/slides/slide9.xml" Id="R961785c0c3114cac" /><Relationship Type="http://schemas.openxmlformats.org/officeDocument/2006/relationships/slide" Target="/ppt/slides/slide10.xml" Id="R9ce3c9c8858f4d2f" /><Relationship Type="http://schemas.openxmlformats.org/officeDocument/2006/relationships/slide" Target="/ppt/slides/slide11.xml" Id="R65ec21c36ed54c36" /><Relationship Type="http://schemas.openxmlformats.org/officeDocument/2006/relationships/slide" Target="/ppt/slides/slide12.xml" Id="Rf98dcaa4dbd047f3" /><Relationship Type="http://schemas.openxmlformats.org/officeDocument/2006/relationships/slide" Target="/ppt/slides/slide13.xml" Id="Rf70d1372cadb49d5" /><Relationship Type="http://schemas.openxmlformats.org/officeDocument/2006/relationships/slide" Target="/ppt/slides/slide14.xml" Id="Rd82a7b0f317d4a5f" /><Relationship Type="http://schemas.openxmlformats.org/officeDocument/2006/relationships/slide" Target="/ppt/slides/slide15.xml" Id="R5ee27f77bf0e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673d0e857b47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4ef86abab4506" /><Relationship Type="http://schemas.openxmlformats.org/officeDocument/2006/relationships/notesMaster" Target="/ppt/notesMasters/notesMaster1.xml" Id="R5f443c689d59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a43881fe8411d" /><Relationship Type="http://schemas.openxmlformats.org/officeDocument/2006/relationships/notesMaster" Target="/ppt/notesMasters/notesMaster1.xml" Id="R4270c69d35334d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4ad82a36c24ce3" /><Relationship Type="http://schemas.openxmlformats.org/officeDocument/2006/relationships/notesMaster" Target="/ppt/notesMasters/notesMaster1.xml" Id="R2a405ab1221649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b1280a2fe74c00" /><Relationship Type="http://schemas.openxmlformats.org/officeDocument/2006/relationships/notesMaster" Target="/ppt/notesMasters/notesMaster1.xml" Id="Rb0cad2c89587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bc2149197546f6" /><Relationship Type="http://schemas.openxmlformats.org/officeDocument/2006/relationships/notesMaster" Target="/ppt/notesMasters/notesMaster1.xml" Id="Rfff45714691049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f69d69661d4947" /><Relationship Type="http://schemas.openxmlformats.org/officeDocument/2006/relationships/notesMaster" Target="/ppt/notesMasters/notesMaster1.xml" Id="Rd4c62e864c7146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d5740db8443e4" /><Relationship Type="http://schemas.openxmlformats.org/officeDocument/2006/relationships/notesMaster" Target="/ppt/notesMasters/notesMaster1.xml" Id="R446f468717c54b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914a1193f74d90" /><Relationship Type="http://schemas.openxmlformats.org/officeDocument/2006/relationships/notesMaster" Target="/ppt/notesMasters/notesMaster1.xml" Id="R5b792a5c10d447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c72d85cd3f480c" /><Relationship Type="http://schemas.openxmlformats.org/officeDocument/2006/relationships/notesMaster" Target="/ppt/notesMasters/notesMaster1.xml" Id="R0e658131e3d645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16821ecc984f4e" /><Relationship Type="http://schemas.openxmlformats.org/officeDocument/2006/relationships/notesMaster" Target="/ppt/notesMasters/notesMaster1.xml" Id="R1ba1fb05bd1b4e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45d06470ab4220" /><Relationship Type="http://schemas.openxmlformats.org/officeDocument/2006/relationships/notesMaster" Target="/ppt/notesMasters/notesMaster1.xml" Id="Rcc6da924b3124f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a58e66916b4633" /><Relationship Type="http://schemas.openxmlformats.org/officeDocument/2006/relationships/notesMaster" Target="/ppt/notesMasters/notesMaster1.xml" Id="Rc1fd0d2a73534b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aafe0374964c9e" /><Relationship Type="http://schemas.openxmlformats.org/officeDocument/2006/relationships/notesMaster" Target="/ppt/notesMasters/notesMaster1.xml" Id="R8ac59f7423cd4d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1ba9e6bb77418d" /><Relationship Type="http://schemas.openxmlformats.org/officeDocument/2006/relationships/notesMaster" Target="/ppt/notesMasters/notesMaster1.xml" Id="Rde2964e50a364a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bd636239b94aa6" /><Relationship Type="http://schemas.openxmlformats.org/officeDocument/2006/relationships/notesMaster" Target="/ppt/notesMasters/notesMaster1.xml" Id="Ra3f7f5214b5e43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is an evidence-bounded progress report, not a results-release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evidence: RESULTS_STATUS.md; MAIN_MANUSCRIPT.md; METHODS_SUPPORTING_INFORMATION.md.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annual precipitation totals are included, but are not assumed to be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framing: manuscript/MAIN_MANUSCRIPT.md, Sections 1–2.</a:t>
            </a:r>
          </a:p>
          <a:p xmlns:a="http://schemas.openxmlformats.org/drawingml/2006/main">
            <a:r>
              <a:t>- User-approved scope recorded in project design documents.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replacement design is the central double-counting safeguard.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 and tests: src/AgricultureReplacementHarness.jl; test/runtests.jl.</a:t>
            </a:r>
          </a:p>
          <a:p xmlns:a="http://schemas.openxmlformats.org/drawingml/2006/main">
            <a:r>
              <a:t>- Local Methods SI: Section S7, Model integration and SCC.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arrow is structurally implemented but not empirically populated.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code: scripts/, src/, test/.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GDHY data: https://doi.org/10.1038/s41597-020-0433-7</a:t>
            </a:r>
          </a:p>
          <a:p xmlns:a="http://schemas.openxmlformats.org/drawingml/2006/main">
            <a:r>
              <a:t>- GGCMI Phase 3: https://doi.org/10.5194/gmd-16-6745-2023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Storage quantities reflect the local project state as of 24 August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CRU drought data: https://crudata.uea.ac.uk/cru/data/drought/</a:t>
            </a:r>
          </a:p>
          <a:p xmlns:a="http://schemas.openxmlformats.org/drawingml/2006/main">
            <a:r>
              <a:t>- USDA NASS bulk datasets: https://www.nass.usda.gov/datasets/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production specification will use licensed crop-specific phenology if a globally consistent source passes the data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Methods SI: Sections S3–S4.</a:t>
            </a:r>
          </a:p>
          <a:p xmlns:a="http://schemas.openxmlformats.org/drawingml/2006/main">
            <a:r>
              <a:t>- Local executable feature builders and reconciliation tests under scripts/.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workflow and support diagnostics, not a statement of global production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RESULTS_STATUS.md, six-crop rainfed panel rows.</a:t>
            </a:r>
          </a:p>
          <a:p xmlns:a="http://schemas.openxmlformats.org/drawingml/2006/main">
            <a:r>
              <a:t>- Local artifact: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causal or SCC interpretation is permitted from these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frozen evaluation specification: config/response_evaluation_spec.toml.</a:t>
            </a:r>
          </a:p>
          <a:p xmlns:a="http://schemas.openxmlformats.org/drawingml/2006/main">
            <a:r>
              <a:t>- Local validation code: scripts/evaluate_crop_response_models.py and scripts/validate_response_evaluation_audit.py.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18 comparisons equal six crop-season labels × three holdout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- Local claim ledger: RESULTS_STATUS.md, completed empirical checks.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‘Stage’ denotes the three-window timing proxy plus temperature; ‘Season joint’ uses seasonal precipitation plus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Lower RMSE is better. The y-axis is deliberately truncated to show the small differences; the values are predictive, not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summaries: outputs/multicrop_noirr_1982_1989_response_summary.json and outputs/mai_noirr_1992_2000_response_summary.json.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CRU scPDSI is a historical benchmark only and will not be substituted for future climate-driven drought.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RESULTS_STATUS.md, historical crop-stage scPDSI path.</a:t>
            </a:r>
          </a:p>
          <a:p xmlns:a="http://schemas.openxmlformats.org/drawingml/2006/main">
            <a:r>
              <a:t>- CRU source: https://crudata.uea.ac.uk/cru/data/drought/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archived control passes under Julia 1.6.4 x86_64/Rosetta; native Apple-silicon execution is blocked before the harness by an archived Electron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integration harness: scripts/test_give_replacement_harness.jl.</a:t>
            </a:r>
          </a:p>
          <a:p xmlns:a="http://schemas.openxmlformats.org/drawingml/2006/main">
            <a:r>
              <a:t>- Local claim ledger: RESULTS_STATUS.md, full-GIVE replacement execution gate.</a:t>
            </a:r>
          </a:p>
          <a:p xmlns:a="http://schemas.openxmlformats.org/drawingml/2006/main">
            <a:r>
              <a:t>- Runtime documentation: REPOSITORY.md.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precipitation track remains the priority; secondary tracks should not delay its empirical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repositories: precipitation_scc, ocean_fisheries_scc, biodiversity_scc.</a:t>
            </a:r>
          </a:p>
          <a:p xmlns:a="http://schemas.openxmlformats.org/drawingml/2006/main">
            <a:r>
              <a:t>- Local repository status and model contracts as of 25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that the project is progressing through explicit scientific gates rather than producing an early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local evidence in RESULTS_STATUS.md and manuscript/MAIN_MANUSCRIPT.md.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130368ba34f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21490978be47ea" /><Relationship Type="http://schemas.openxmlformats.org/officeDocument/2006/relationships/slideLayout" Target="/ppt/slideLayouts/slideLayout1.xml" Id="Rd01bc13ab1374f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bc13ab1374f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d5d8623594fcd" /><Relationship Type="http://schemas.openxmlformats.org/officeDocument/2006/relationships/notesSlide" Target="/ppt/notesSlides/notesSlide1.xml" Id="R2f0bbc8665f64e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609275b8647bf" /><Relationship Type="http://schemas.openxmlformats.org/officeDocument/2006/relationships/notesSlide" Target="/ppt/notesSlides/notesSlide2.xml" Id="R5b784f2e0c7740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2ec4ed918444c" /><Relationship Type="http://schemas.openxmlformats.org/officeDocument/2006/relationships/notesSlide" Target="/ppt/notesSlides/notesSlide3.xml" Id="R081d1d8c2f3c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7cbbf2a134c1c" /><Relationship Type="http://schemas.openxmlformats.org/officeDocument/2006/relationships/notesSlide" Target="/ppt/notesSlides/notesSlide4.xml" Id="R6fb289f2f4ee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3e69ee13b45fb" /><Relationship Type="http://schemas.openxmlformats.org/officeDocument/2006/relationships/notesSlide" Target="/ppt/notesSlides/notesSlide5.xml" Id="Rfce580cd5d1f40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eeea63cde40f4" /><Relationship Type="http://schemas.openxmlformats.org/officeDocument/2006/relationships/notesSlide" Target="/ppt/notesSlides/notesSlide6.xml" Id="Rcc4a30861d4046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39b93b98b4add" /><Relationship Type="http://schemas.openxmlformats.org/officeDocument/2006/relationships/chart" Target="/ppt/slides/charts/chart1.xml" Id="R23ad961129e44564" /><Relationship Type="http://schemas.openxmlformats.org/officeDocument/2006/relationships/notesSlide" Target="/ppt/notesSlides/notesSlide7.xml" Id="Red1c60fdd9cf41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eb33573ce4ecb" /><Relationship Type="http://schemas.openxmlformats.org/officeDocument/2006/relationships/notesSlide" Target="/ppt/notesSlides/notesSlide8.xml" Id="Re0a4e500a24042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3207c61a443d0" /><Relationship Type="http://schemas.openxmlformats.org/officeDocument/2006/relationships/chart" Target="/ppt/slides/charts/chart2.xml" Id="R53caa2a8da3b4fa3" /><Relationship Type="http://schemas.openxmlformats.org/officeDocument/2006/relationships/notesSlide" Target="/ppt/notesSlides/notesSlide9.xml" Id="R1afa52fc6d7a45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01d235fc34a34" /><Relationship Type="http://schemas.openxmlformats.org/officeDocument/2006/relationships/notesSlide" Target="/ppt/notesSlides/notesSlide10.xml" Id="R123998ae2bad42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2fda811be4faa" /><Relationship Type="http://schemas.openxmlformats.org/officeDocument/2006/relationships/chart" Target="/ppt/slides/charts/chart3.xml" Id="R80a67a52bfd24e6f" /><Relationship Type="http://schemas.openxmlformats.org/officeDocument/2006/relationships/notesSlide" Target="/ppt/notesSlides/notesSlide11.xml" Id="Rb4852dcf14f249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ae0e09ee1403e" /><Relationship Type="http://schemas.openxmlformats.org/officeDocument/2006/relationships/notesSlide" Target="/ppt/notesSlides/notesSlide12.xml" Id="Rd06ab50542c544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57f4dd5184a48" /><Relationship Type="http://schemas.openxmlformats.org/officeDocument/2006/relationships/notesSlide" Target="/ppt/notesSlides/notesSlide13.xml" Id="R11e6e11647d84f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3f41c916246b3" /><Relationship Type="http://schemas.openxmlformats.org/officeDocument/2006/relationships/notesSlide" Target="/ppt/notesSlides/notesSlide14.xml" Id="R0d86155aca614f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e8942f58a4aef" /><Relationship Type="http://schemas.openxmlformats.org/officeDocument/2006/relationships/notesSlide" Target="/ppt/notesSlides/notesSlide15.xml" Id="R1ef83b4ef3504f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Observed crop-years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Maize</c:v>
              </c:pt>
              <c:pt idx="1">
                <c:v>Rice 1</c:v>
              </c:pt>
              <c:pt idx="2">
                <c:v>Winter wheat</c:v>
              </c:pt>
              <c:pt idx="3">
                <c:v>Soybean</c:v>
              </c:pt>
              <c:pt idx="4">
                <c:v>Spring wheat</c:v>
              </c:pt>
              <c:pt idx="5">
                <c:v>Rice 2</c:v>
              </c:pt>
            </c:strLit>
          </c:cat>
          <c:val>
            <c:numLit>
              <c:formatCode>General</c:formatCode>
              <c:ptCount val="6"/>
              <c:pt idx="0">
                <c:v>120325</c:v>
              </c:pt>
              <c:pt idx="1">
                <c:v>76348</c:v>
              </c:pt>
              <c:pt idx="2">
                <c:v>68778</c:v>
              </c:pt>
              <c:pt idx="3">
                <c:v>48900</c:v>
              </c:pt>
              <c:pt idx="4">
                <c:v>40977</c:v>
              </c:pt>
              <c:pt idx="5">
                <c:v>12694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Lowest-RMSE comparisons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9C5E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3"/>
              <c:pt idx="0">
                <c:v>Stage/timing + temperature</c:v>
              </c:pt>
              <c:pt idx="1">
                <c:v>Season total + temperature</c:v>
              </c:pt>
              <c:pt idx="2">
                <c:v>Precipitation total only</c:v>
              </c:pt>
            </c:strLit>
          </c:cat>
          <c:val>
            <c:numLit>
              <c:formatCode>General</c:formatCode>
              <c:ptCount val="3"/>
              <c:pt idx="0">
                <c:v>11</c:v>
              </c:pt>
              <c:pt idx="1">
                <c:v>5</c:v>
              </c:pt>
              <c:pt idx="2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Stage/timing joint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82–89 spatial</c:v>
              </c:pt>
              <c:pt idx="1">
                <c:v>82–89 temporal</c:v>
              </c:pt>
              <c:pt idx="2">
                <c:v>82–89 extreme</c:v>
              </c:pt>
              <c:pt idx="3">
                <c:v>92–00 spatial</c:v>
              </c:pt>
              <c:pt idx="4">
                <c:v>92–00 temporal</c:v>
              </c:pt>
              <c:pt idx="5">
                <c:v>92–00 extreme</c:v>
              </c:pt>
            </c:strLit>
          </c:cat>
          <c:val>
            <c:numLit>
              <c:formatCode>0.00</c:formatCode>
              <c:ptCount val="6"/>
              <c:pt idx="0">
                <c:v>0.29449</c:v>
              </c:pt>
              <c:pt idx="1">
                <c:v>0.30817</c:v>
              </c:pt>
              <c:pt idx="2">
                <c:v>0.29922</c:v>
              </c:pt>
              <c:pt idx="3">
                <c:v>0.32727</c:v>
              </c:pt>
              <c:pt idx="4">
                <c:v>0.28817</c:v>
              </c:pt>
              <c:pt idx="5">
                <c:v>0.32279</c:v>
              </c:pt>
            </c:numLit>
          </c:val>
        </c:ser>
        <c:ser>
          <c:idx val="1"/>
          <c:order val="1"/>
          <c:tx>
            <c:v>Precipitation total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6"/>
              <c:pt idx="0">
                <c:v>82–89 spatial</c:v>
              </c:pt>
              <c:pt idx="1">
                <c:v>82–89 temporal</c:v>
              </c:pt>
              <c:pt idx="2">
                <c:v>82–89 extreme</c:v>
              </c:pt>
              <c:pt idx="3">
                <c:v>92–00 spatial</c:v>
              </c:pt>
              <c:pt idx="4">
                <c:v>92–00 temporal</c:v>
              </c:pt>
              <c:pt idx="5">
                <c:v>92–00 extreme</c:v>
              </c:pt>
            </c:strLit>
          </c:cat>
          <c:val>
            <c:numLit>
              <c:formatCode>0.00</c:formatCode>
              <c:ptCount val="6"/>
              <c:pt idx="0">
                <c:v>0.30367</c:v>
              </c:pt>
              <c:pt idx="1">
                <c:v>0.31699</c:v>
              </c:pt>
              <c:pt idx="2">
                <c:v>0.31136</c:v>
              </c:pt>
              <c:pt idx="3">
                <c:v>0.32956</c:v>
              </c:pt>
              <c:pt idx="4">
                <c:v>0.28364</c:v>
              </c:pt>
              <c:pt idx="5">
                <c:v>0.32669</c:v>
              </c:pt>
            </c:numLit>
          </c:val>
        </c:ser>
        <c:ser>
          <c:idx val="2"/>
          <c:order val="2"/>
          <c:tx>
            <c:v>Zero change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6"/>
              <c:pt idx="0">
                <c:v>82–89 spatial</c:v>
              </c:pt>
              <c:pt idx="1">
                <c:v>82–89 temporal</c:v>
              </c:pt>
              <c:pt idx="2">
                <c:v>82–89 extreme</c:v>
              </c:pt>
              <c:pt idx="3">
                <c:v>92–00 spatial</c:v>
              </c:pt>
              <c:pt idx="4">
                <c:v>92–00 temporal</c:v>
              </c:pt>
              <c:pt idx="5">
                <c:v>92–00 extreme</c:v>
              </c:pt>
            </c:strLit>
          </c:cat>
          <c:val>
            <c:numLit>
              <c:formatCode>0.00</c:formatCode>
              <c:ptCount val="6"/>
              <c:pt idx="0">
                <c:v>0.31029</c:v>
              </c:pt>
              <c:pt idx="1">
                <c:v>0.32769</c:v>
              </c:pt>
              <c:pt idx="2">
                <c:v>0.31634</c:v>
              </c:pt>
              <c:pt idx="3">
                <c:v>0.33483</c:v>
              </c:pt>
              <c:pt idx="4">
                <c:v>0.28826</c:v>
              </c:pt>
              <c:pt idx="5">
                <c:v>0.32656</c:v>
              </c:pt>
            </c:numLit>
          </c:val>
        </c:ser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.2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D6670"/>
                    </a:solidFill>
                  </a:rPr>
                  <a:t>Log-yield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D6670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670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D8BD72C-48C2-4607-AC45-2F27326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90AC8DD-91AE-4D66-BD9A-98C9557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GIVE MODEL EXTENSION — PROGRESS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87C2A4-802B-4731-BB5F-5754F4E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Precipitation, agriculture, and the social cost of carbon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45A970-9E35-4A34-9F2D-36EB651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What is implemented, what the preliminary evidence shows, and what remains before an SCC estimate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CBB86-DB3F-40C8-8E09-5ABEA2A8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5809A493-3F7A-49AD-A63A-3B76CB2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Research progress • 25 August 2026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2C486D1-6ED9-4C0E-9D77-65704DF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No empirical damage or SCC result is claimed yet</a:t>
            </a:r>
          </a:p>
        </p:txBody>
      </p:sp>
    </p:spTree>
    <p:extLst>
      <p:ext uri="{BB962C8B-B14F-4D97-AF65-F5344CB8AC3E}">
        <p14:creationId xmlns:p14="http://schemas.microsoft.com/office/powerpoint/2010/main" val="10174508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3C0F0CDB-A912-4CEE-B507-D7197540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question is not simply whether rainfall matters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34EA574D-3E0B-4509-8242-A9E7834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q-lead">
            <a:extLst xmlns:a="http://schemas.openxmlformats.org/drawingml/2006/main">
              <a:ext uri="{FF2B5EF4-FFF2-40B4-BE49-F238E27FC236}">
                <a16:creationId xmlns:a16="http://schemas.microsoft.com/office/drawing/2014/main" id="{84E30137-8D07-4D83-A78F-41530C30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Target estimand</a:t>
            </a:r>
          </a:p>
        </p:txBody>
      </p:sp>
      <p:sp>
        <p:nvSpPr>
          <p:cNvPr id="4" name="q-main">
            <a:extLst xmlns:a="http://schemas.openxmlformats.org/drawingml/2006/main">
              <a:ext uri="{FF2B5EF4-FFF2-40B4-BE49-F238E27FC236}">
                <a16:creationId xmlns:a16="http://schemas.microsoft.com/office/drawing/2014/main" id="{AD629A52-49E1-46EB-9AA8-F4286C9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95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Agricultural losses attributable to climate-driven changes in both rainfall quantity and within-season distribution</a:t>
            </a:r>
          </a:p>
        </p:txBody>
      </p:sp>
      <p:sp>
        <p:nvSpPr>
          <p:cNvPr id="5" name="q-panel">
            <a:extLst xmlns:a="http://schemas.openxmlformats.org/drawingml/2006/main">
              <a:ext uri="{FF2B5EF4-FFF2-40B4-BE49-F238E27FC236}">
                <a16:creationId xmlns:a16="http://schemas.microsoft.com/office/drawing/2014/main" id="{2089F1B0-0A3B-4198-AF28-1C9710F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714750" cy="40005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-panel-title">
            <a:extLst xmlns:a="http://schemas.openxmlformats.org/drawingml/2006/main">
              <a:ext uri="{FF2B5EF4-FFF2-40B4-BE49-F238E27FC236}">
                <a16:creationId xmlns:a16="http://schemas.microsoft.com/office/drawing/2014/main" id="{9F7B3F59-B3BD-46BC-A46F-79C97CB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8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distribution matters</a:t>
            </a:r>
          </a:p>
        </p:txBody>
      </p:sp>
      <p:sp>
        <p:nvSpPr>
          <p:cNvPr id="7" name="q-bullets">
            <a:extLst xmlns:a="http://schemas.openxmlformats.org/drawingml/2006/main">
              <a:ext uri="{FF2B5EF4-FFF2-40B4-BE49-F238E27FC236}">
                <a16:creationId xmlns:a16="http://schemas.microsoft.com/office/drawing/2014/main" id="{E161777C-4A15-4733-A395-39FA4C4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00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Planting and reproductive stages have different water sensitivities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Dry spells can occur despite normal seasonal totals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Heavy rainfall can damage crops or arrive too 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Heat and rainfall covary and must be modeled jointly</a:t>
            </a:r>
          </a:p>
        </p:txBody>
      </p:sp>
      <p:sp>
        <p:nvSpPr>
          <p:cNvPr id="8" name="q-scope">
            <a:extLst xmlns:a="http://schemas.openxmlformats.org/drawingml/2006/main">
              <a:ext uri="{FF2B5EF4-FFF2-40B4-BE49-F238E27FC236}">
                <a16:creationId xmlns:a16="http://schemas.microsoft.com/office/drawing/2014/main" id="{5F6710FD-1041-4FC0-8D58-45A792A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Primary scope: global agriculture. Secondary validation: U.S. counties and non-irrigated crops.</a:t>
            </a:r>
          </a:p>
        </p:txBody>
      </p:sp>
    </p:spTree>
    <p:extLst>
      <p:ext uri="{BB962C8B-B14F-4D97-AF65-F5344CB8AC3E}">
        <p14:creationId xmlns:p14="http://schemas.microsoft.com/office/powerpoint/2010/main" val="8474170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">
            <a:extLst xmlns:a="http://schemas.openxmlformats.org/drawingml/2006/main">
              <a:ext uri="{FF2B5EF4-FFF2-40B4-BE49-F238E27FC236}">
                <a16:creationId xmlns:a16="http://schemas.microsoft.com/office/drawing/2014/main" id="{F46D9C75-7B2C-497C-991E-26DB6692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Agriculture is replaced inside GIVE—not added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4C86A0A-8996-4ACC-99CE-6B2B0408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boundary-left-title">
            <a:extLst xmlns:a="http://schemas.openxmlformats.org/drawingml/2006/main">
              <a:ext uri="{FF2B5EF4-FFF2-40B4-BE49-F238E27FC236}">
                <a16:creationId xmlns:a16="http://schemas.microsoft.com/office/drawing/2014/main" id="{F4FD5D71-3103-4EE8-817C-29DE1E0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Existing path</a:t>
            </a:r>
          </a:p>
        </p:txBody>
      </p:sp>
      <p:sp>
        <p:nvSpPr>
          <p:cNvPr id="4" name="legacy">
            <a:extLst xmlns:a="http://schemas.openxmlformats.org/drawingml/2006/main">
              <a:ext uri="{FF2B5EF4-FFF2-40B4-BE49-F238E27FC236}">
                <a16:creationId xmlns:a16="http://schemas.microsoft.com/office/drawing/2014/main" id="{59B4DA6D-4CDC-4E25-BC94-3EAE2F9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4476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gacy-text">
            <a:extLst xmlns:a="http://schemas.openxmlformats.org/drawingml/2006/main">
              <a:ext uri="{FF2B5EF4-FFF2-40B4-BE49-F238E27FC236}">
                <a16:creationId xmlns:a16="http://schemas.microsoft.com/office/drawing/2014/main" id="{E4CE9A68-F2A3-4041-9F1F-9073A1A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MooreAg agriculture damages</a:t>
            </a:r>
          </a:p>
        </p:txBody>
      </p:sp>
      <p:sp>
        <p:nvSpPr>
          <p:cNvPr id="6" name="replace-symbol">
            <a:extLst xmlns:a="http://schemas.openxmlformats.org/drawingml/2006/main">
              <a:ext uri="{FF2B5EF4-FFF2-40B4-BE49-F238E27FC236}">
                <a16:creationId xmlns:a16="http://schemas.microsoft.com/office/drawing/2014/main" id="{C5CF333B-1343-4F5F-B4CA-802B4408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joint">
            <a:extLst xmlns:a="http://schemas.openxmlformats.org/drawingml/2006/main">
              <a:ext uri="{FF2B5EF4-FFF2-40B4-BE49-F238E27FC236}">
                <a16:creationId xmlns:a16="http://schemas.microsoft.com/office/drawing/2014/main" id="{53A7C85D-1B3A-44E9-BD24-50CB07B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5276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joint-text">
            <a:extLst xmlns:a="http://schemas.openxmlformats.org/drawingml/2006/main">
              <a:ext uri="{FF2B5EF4-FFF2-40B4-BE49-F238E27FC236}">
                <a16:creationId xmlns:a16="http://schemas.microsoft.com/office/drawing/2014/main" id="{5AB64FC6-03A7-4E9B-969E-A7B2ACF3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2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0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JointAgriculture replacement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 crop-season responses + one welfare map</a:t>
            </a:r>
          </a:p>
        </p:txBody>
      </p:sp>
      <p:sp>
        <p:nvSpPr>
          <p:cNvPr id="9" name="boundary-rule">
            <a:extLst xmlns:a="http://schemas.openxmlformats.org/drawingml/2006/main">
              <a:ext uri="{FF2B5EF4-FFF2-40B4-BE49-F238E27FC236}">
                <a16:creationId xmlns:a16="http://schemas.microsoft.com/office/drawing/2014/main" id="{F21BFEED-3949-4AE7-BD88-98BDB1B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Hard accounting rule</a:t>
            </a:r>
          </a:p>
        </p:txBody>
      </p:sp>
      <p:sp>
        <p:nvSpPr>
          <p:cNvPr id="10" name="boundary-bullets">
            <a:extLst xmlns:a="http://schemas.openxmlformats.org/drawingml/2006/main">
              <a:ext uri="{FF2B5EF4-FFF2-40B4-BE49-F238E27FC236}">
                <a16:creationId xmlns:a16="http://schemas.microsoft.com/office/drawing/2014/main" id="{53DC2B07-02D5-4D68-B090-61FF08D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24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Exactly one producer supplies GIVE agriculture damages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Legacy and replacement components cannot coexist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Coastal damages already represented by CIAM remain excluded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Infrastructure flooding is deferred behind a separate future interface</a:t>
            </a:r>
          </a:p>
        </p:txBody>
      </p:sp>
    </p:spTree>
    <p:extLst>
      <p:ext uri="{BB962C8B-B14F-4D97-AF65-F5344CB8AC3E}">
        <p14:creationId xmlns:p14="http://schemas.microsoft.com/office/powerpoint/2010/main" val="1957173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4">
            <a:extLst xmlns:a="http://schemas.openxmlformats.org/drawingml/2006/main">
              <a:ext uri="{FF2B5EF4-FFF2-40B4-BE49-F238E27FC236}">
                <a16:creationId xmlns:a16="http://schemas.microsoft.com/office/drawing/2014/main" id="{39E047BF-8FC6-423B-89D1-F64851E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pipeline now reaches GIVE’s agriculture boundary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5F581EF-4E62-4F47-940D-2A6033A6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pipe-arrow-0">
            <a:extLst xmlns:a="http://schemas.openxmlformats.org/drawingml/2006/main">
              <a:ext uri="{FF2B5EF4-FFF2-40B4-BE49-F238E27FC236}">
                <a16:creationId xmlns:a16="http://schemas.microsoft.com/office/drawing/2014/main" id="{7428D7D8-FB55-4815-85FE-C790571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pipe-arrow-1">
            <a:extLst xmlns:a="http://schemas.openxmlformats.org/drawingml/2006/main">
              <a:ext uri="{FF2B5EF4-FFF2-40B4-BE49-F238E27FC236}">
                <a16:creationId xmlns:a16="http://schemas.microsoft.com/office/drawing/2014/main" id="{23E15FCD-961B-4FD5-8018-CE5621A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pipe-arrow-2">
            <a:extLst xmlns:a="http://schemas.openxmlformats.org/drawingml/2006/main">
              <a:ext uri="{FF2B5EF4-FFF2-40B4-BE49-F238E27FC236}">
                <a16:creationId xmlns:a16="http://schemas.microsoft.com/office/drawing/2014/main" id="{F52C4501-6B7D-4A67-84CD-0BF1BE7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pipe-arrow-3">
            <a:extLst xmlns:a="http://schemas.openxmlformats.org/drawingml/2006/main">
              <a:ext uri="{FF2B5EF4-FFF2-40B4-BE49-F238E27FC236}">
                <a16:creationId xmlns:a16="http://schemas.microsoft.com/office/drawing/2014/main" id="{C6B0F443-E27B-4978-915B-B8AEAA0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pipe-0">
            <a:extLst xmlns:a="http://schemas.openxmlformats.org/drawingml/2006/main">
              <a:ext uri="{FF2B5EF4-FFF2-40B4-BE49-F238E27FC236}">
                <a16:creationId xmlns:a16="http://schemas.microsoft.com/office/drawing/2014/main" id="{FCB48B7F-AF79-4698-8FE3-9822FEF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-num-0">
            <a:extLst xmlns:a="http://schemas.openxmlformats.org/drawingml/2006/main">
              <a:ext uri="{FF2B5EF4-FFF2-40B4-BE49-F238E27FC236}">
                <a16:creationId xmlns:a16="http://schemas.microsoft.com/office/drawing/2014/main" id="{6954B149-B8F9-4E37-B8BB-80121A4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ipe-title-0">
            <a:extLst xmlns:a="http://schemas.openxmlformats.org/drawingml/2006/main">
              <a:ext uri="{FF2B5EF4-FFF2-40B4-BE49-F238E27FC236}">
                <a16:creationId xmlns:a16="http://schemas.microsoft.com/office/drawing/2014/main" id="{8763AE18-8259-4568-B436-621BB44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Daily climate</a:t>
            </a:r>
          </a:p>
        </p:txBody>
      </p:sp>
      <p:sp>
        <p:nvSpPr>
          <p:cNvPr id="10" name="pipe-body-0">
            <a:extLst xmlns:a="http://schemas.openxmlformats.org/drawingml/2006/main">
              <a:ext uri="{FF2B5EF4-FFF2-40B4-BE49-F238E27FC236}">
                <a16:creationId xmlns:a16="http://schemas.microsoft.com/office/drawing/2014/main" id="{1D27AB52-6949-475B-B2E4-65F8FF0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ISIMIP precipitation and temperature</a:t>
            </a:r>
          </a:p>
        </p:txBody>
      </p:sp>
      <p:sp>
        <p:nvSpPr>
          <p:cNvPr id="11" name="pipe-1">
            <a:extLst xmlns:a="http://schemas.openxmlformats.org/drawingml/2006/main">
              <a:ext uri="{FF2B5EF4-FFF2-40B4-BE49-F238E27FC236}">
                <a16:creationId xmlns:a16="http://schemas.microsoft.com/office/drawing/2014/main" id="{1B068DB5-7B75-48B7-B4A7-E783304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-num-1">
            <a:extLst xmlns:a="http://schemas.openxmlformats.org/drawingml/2006/main">
              <a:ext uri="{FF2B5EF4-FFF2-40B4-BE49-F238E27FC236}">
                <a16:creationId xmlns:a16="http://schemas.microsoft.com/office/drawing/2014/main" id="{A82763EF-9F76-45B3-A011-6A8596F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pipe-title-1">
            <a:extLst xmlns:a="http://schemas.openxmlformats.org/drawingml/2006/main">
              <a:ext uri="{FF2B5EF4-FFF2-40B4-BE49-F238E27FC236}">
                <a16:creationId xmlns:a16="http://schemas.microsoft.com/office/drawing/2014/main" id="{75F04980-2674-4A85-801C-C7FD092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windows</a:t>
            </a:r>
          </a:p>
        </p:txBody>
      </p:sp>
      <p:sp>
        <p:nvSpPr>
          <p:cNvPr id="14" name="pipe-body-1">
            <a:extLst xmlns:a="http://schemas.openxmlformats.org/drawingml/2006/main">
              <a:ext uri="{FF2B5EF4-FFF2-40B4-BE49-F238E27FC236}">
                <a16:creationId xmlns:a16="http://schemas.microsoft.com/office/drawing/2014/main" id="{8EB5A600-CA8C-4BB2-8665-66C7AD4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GGCMI calendars; cross-year seasons</a:t>
            </a:r>
          </a:p>
        </p:txBody>
      </p:sp>
      <p:sp>
        <p:nvSpPr>
          <p:cNvPr id="15" name="pipe-2">
            <a:extLst xmlns:a="http://schemas.openxmlformats.org/drawingml/2006/main">
              <a:ext uri="{FF2B5EF4-FFF2-40B4-BE49-F238E27FC236}">
                <a16:creationId xmlns:a16="http://schemas.microsoft.com/office/drawing/2014/main" id="{C1DA162A-74A3-45DA-9A1F-886D18B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pipe-num-2">
            <a:extLst xmlns:a="http://schemas.openxmlformats.org/drawingml/2006/main">
              <a:ext uri="{FF2B5EF4-FFF2-40B4-BE49-F238E27FC236}">
                <a16:creationId xmlns:a16="http://schemas.microsoft.com/office/drawing/2014/main" id="{5FF02E5E-3283-4BCF-A062-216AA3FB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pipe-title-2">
            <a:extLst xmlns:a="http://schemas.openxmlformats.org/drawingml/2006/main">
              <a:ext uri="{FF2B5EF4-FFF2-40B4-BE49-F238E27FC236}">
                <a16:creationId xmlns:a16="http://schemas.microsoft.com/office/drawing/2014/main" id="{4465B8BD-45D9-4B2B-8934-3A4AA40C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Yield panel</a:t>
            </a:r>
          </a:p>
        </p:txBody>
      </p:sp>
      <p:sp>
        <p:nvSpPr>
          <p:cNvPr id="18" name="pipe-body-2">
            <a:extLst xmlns:a="http://schemas.openxmlformats.org/drawingml/2006/main">
              <a:ext uri="{FF2B5EF4-FFF2-40B4-BE49-F238E27FC236}">
                <a16:creationId xmlns:a16="http://schemas.microsoft.com/office/drawing/2014/main" id="{DAEFF9B6-5EF2-45A5-B0C7-AA2F778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GDHY crop-year outcomes</a:t>
            </a:r>
          </a:p>
        </p:txBody>
      </p:sp>
      <p:sp>
        <p:nvSpPr>
          <p:cNvPr id="19" name="pipe-3">
            <a:extLst xmlns:a="http://schemas.openxmlformats.org/drawingml/2006/main">
              <a:ext uri="{FF2B5EF4-FFF2-40B4-BE49-F238E27FC236}">
                <a16:creationId xmlns:a16="http://schemas.microsoft.com/office/drawing/2014/main" id="{23BDE130-2101-4B24-B51E-E89BA176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pipe-num-3">
            <a:extLst xmlns:a="http://schemas.openxmlformats.org/drawingml/2006/main">
              <a:ext uri="{FF2B5EF4-FFF2-40B4-BE49-F238E27FC236}">
                <a16:creationId xmlns:a16="http://schemas.microsoft.com/office/drawing/2014/main" id="{CE1B98C7-0610-4BC0-9C9B-79D8950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ipe-title-3">
            <a:extLst xmlns:a="http://schemas.openxmlformats.org/drawingml/2006/main">
              <a:ext uri="{FF2B5EF4-FFF2-40B4-BE49-F238E27FC236}">
                <a16:creationId xmlns:a16="http://schemas.microsoft.com/office/drawing/2014/main" id="{BA661B7D-4A95-4D22-8B9A-4A62459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Response audit</a:t>
            </a:r>
          </a:p>
        </p:txBody>
      </p:sp>
      <p:sp>
        <p:nvSpPr>
          <p:cNvPr id="22" name="pipe-body-3">
            <a:extLst xmlns:a="http://schemas.openxmlformats.org/drawingml/2006/main">
              <a:ext uri="{FF2B5EF4-FFF2-40B4-BE49-F238E27FC236}">
                <a16:creationId xmlns:a16="http://schemas.microsoft.com/office/drawing/2014/main" id="{DDAB00EE-2137-4CA1-9702-7D38926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Spatial, temporal, and extreme holdouts</a:t>
            </a:r>
          </a:p>
        </p:txBody>
      </p:sp>
      <p:sp>
        <p:nvSpPr>
          <p:cNvPr id="23" name="pipe-4">
            <a:extLst xmlns:a="http://schemas.openxmlformats.org/drawingml/2006/main">
              <a:ext uri="{FF2B5EF4-FFF2-40B4-BE49-F238E27FC236}">
                <a16:creationId xmlns:a16="http://schemas.microsoft.com/office/drawing/2014/main" id="{6F9E2363-D583-42E9-824F-D98F290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pipe-num-4">
            <a:extLst xmlns:a="http://schemas.openxmlformats.org/drawingml/2006/main">
              <a:ext uri="{FF2B5EF4-FFF2-40B4-BE49-F238E27FC236}">
                <a16:creationId xmlns:a16="http://schemas.microsoft.com/office/drawing/2014/main" id="{885A6E68-DD51-4927-A0A1-9741C80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pipe-title-4">
            <a:extLst xmlns:a="http://schemas.openxmlformats.org/drawingml/2006/main">
              <a:ext uri="{FF2B5EF4-FFF2-40B4-BE49-F238E27FC236}">
                <a16:creationId xmlns:a16="http://schemas.microsoft.com/office/drawing/2014/main" id="{9C8594F8-8052-4F30-9E64-4680DE60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GIVE replacement</a:t>
            </a:r>
          </a:p>
        </p:txBody>
      </p:sp>
      <p:sp>
        <p:nvSpPr>
          <p:cNvPr id="26" name="pipe-body-4">
            <a:extLst xmlns:a="http://schemas.openxmlformats.org/drawingml/2006/main">
              <a:ext uri="{FF2B5EF4-FFF2-40B4-BE49-F238E27FC236}">
                <a16:creationId xmlns:a16="http://schemas.microsoft.com/office/drawing/2014/main" id="{3FACB598-F2F7-4004-BBED-5B12946D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Crop loss → regional welfare → SCC</a:t>
            </a:r>
          </a:p>
        </p:txBody>
      </p:sp>
      <p:sp>
        <p:nvSpPr>
          <p:cNvPr id="27" name="pipeline-status">
            <a:extLst xmlns:a="http://schemas.openxmlformats.org/drawingml/2006/main">
              <a:ext uri="{FF2B5EF4-FFF2-40B4-BE49-F238E27FC236}">
                <a16:creationId xmlns:a16="http://schemas.microsoft.com/office/drawing/2014/main" id="{50529993-A44B-4D31-8D20-B4F6F7DA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Implemented: data construction, validation gates, component installation, and synthetic connectivity. Open: production response, future pulse climate, welfare calibration, and SCC.</a:t>
            </a:r>
          </a:p>
        </p:txBody>
      </p:sp>
    </p:spTree>
    <p:extLst>
      <p:ext uri="{BB962C8B-B14F-4D97-AF65-F5344CB8AC3E}">
        <p14:creationId xmlns:p14="http://schemas.microsoft.com/office/powerpoint/2010/main" val="4878913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C5083E61-7916-46A3-96CA-B2A7759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Core historical inputs are local and provenance-checked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7AD5A0B6-72E8-4746-AF05-26C9EAD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m1-box">
            <a:extLst xmlns:a="http://schemas.openxmlformats.org/drawingml/2006/main">
              <a:ext uri="{FF2B5EF4-FFF2-40B4-BE49-F238E27FC236}">
                <a16:creationId xmlns:a16="http://schemas.microsoft.com/office/drawing/2014/main" id="{C59F6BB3-B64D-48EB-8E40-CF4A741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1-accent">
            <a:extLst xmlns:a="http://schemas.openxmlformats.org/drawingml/2006/main">
              <a:ext uri="{FF2B5EF4-FFF2-40B4-BE49-F238E27FC236}">
                <a16:creationId xmlns:a16="http://schemas.microsoft.com/office/drawing/2014/main" id="{9E67A4F3-7909-4CDF-84A4-77BF06D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1-value">
            <a:extLst xmlns:a="http://schemas.openxmlformats.org/drawingml/2006/main">
              <a:ext uri="{FF2B5EF4-FFF2-40B4-BE49-F238E27FC236}">
                <a16:creationId xmlns:a16="http://schemas.microsoft.com/office/drawing/2014/main" id="{3A3B6A85-380E-4363-9B4E-843B9A5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 GB</a:t>
            </a:r>
          </a:p>
        </p:txBody>
      </p:sp>
      <p:sp>
        <p:nvSpPr>
          <p:cNvPr id="6" name="m1-label">
            <a:extLst xmlns:a="http://schemas.openxmlformats.org/drawingml/2006/main">
              <a:ext uri="{FF2B5EF4-FFF2-40B4-BE49-F238E27FC236}">
                <a16:creationId xmlns:a16="http://schemas.microsoft.com/office/drawing/2014/main" id="{C5D25479-08C3-4186-A955-7113B14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9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Raw climate, calendar, yield, and drought inputs</a:t>
            </a:r>
          </a:p>
        </p:txBody>
      </p:sp>
      <p:sp>
        <p:nvSpPr>
          <p:cNvPr id="7" name="m2-box">
            <a:extLst xmlns:a="http://schemas.openxmlformats.org/drawingml/2006/main">
              <a:ext uri="{FF2B5EF4-FFF2-40B4-BE49-F238E27FC236}">
                <a16:creationId xmlns:a16="http://schemas.microsoft.com/office/drawing/2014/main" id="{CAB1F542-56ED-48F5-B2A4-8437926E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2-accent">
            <a:extLst xmlns:a="http://schemas.openxmlformats.org/drawingml/2006/main">
              <a:ext uri="{FF2B5EF4-FFF2-40B4-BE49-F238E27FC236}">
                <a16:creationId xmlns:a16="http://schemas.microsoft.com/office/drawing/2014/main" id="{AE6F1BA6-7B58-440A-AA74-1D51C945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2-value">
            <a:extLst xmlns:a="http://schemas.openxmlformats.org/drawingml/2006/main">
              <a:ext uri="{FF2B5EF4-FFF2-40B4-BE49-F238E27FC236}">
                <a16:creationId xmlns:a16="http://schemas.microsoft.com/office/drawing/2014/main" id="{998B7EB9-D0FF-45DA-BB79-C574B9A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1981–2019</a:t>
            </a:r>
          </a:p>
        </p:txBody>
      </p:sp>
      <p:sp>
        <p:nvSpPr>
          <p:cNvPr id="10" name="m2-label">
            <a:extLst xmlns:a="http://schemas.openxmlformats.org/drawingml/2006/main">
              <a:ext uri="{FF2B5EF4-FFF2-40B4-BE49-F238E27FC236}">
                <a16:creationId xmlns:a16="http://schemas.microsoft.com/office/drawing/2014/main" id="{7325FEC8-466B-4502-B4C9-052C27D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Daily precipitation, mean temperature, maximum and minimum temperature</a:t>
            </a:r>
          </a:p>
        </p:txBody>
      </p:sp>
      <p:sp>
        <p:nvSpPr>
          <p:cNvPr id="11" name="m3-box">
            <a:extLst xmlns:a="http://schemas.openxmlformats.org/drawingml/2006/main">
              <a:ext uri="{FF2B5EF4-FFF2-40B4-BE49-F238E27FC236}">
                <a16:creationId xmlns:a16="http://schemas.microsoft.com/office/drawing/2014/main" id="{DC6EDEC7-1225-43E1-AFEF-52CFAA0D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3-accent">
            <a:extLst xmlns:a="http://schemas.openxmlformats.org/drawingml/2006/main">
              <a:ext uri="{FF2B5EF4-FFF2-40B4-BE49-F238E27FC236}">
                <a16:creationId xmlns:a16="http://schemas.microsoft.com/office/drawing/2014/main" id="{44997782-B60A-47AD-9963-7ACA61C4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3-value">
            <a:extLst xmlns:a="http://schemas.openxmlformats.org/drawingml/2006/main">
              <a:ext uri="{FF2B5EF4-FFF2-40B4-BE49-F238E27FC236}">
                <a16:creationId xmlns:a16="http://schemas.microsoft.com/office/drawing/2014/main" id="{5FD9F436-673D-4BEA-B2F5-9B15CF1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4" name="m3-label">
            <a:extLst xmlns:a="http://schemas.openxmlformats.org/drawingml/2006/main">
              <a:ext uri="{FF2B5EF4-FFF2-40B4-BE49-F238E27FC236}">
                <a16:creationId xmlns:a16="http://schemas.microsoft.com/office/drawing/2014/main" id="{455F22CE-9B84-4A75-AC6F-C6A8EBE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Crop-calendar files: six crop-season labels × rainfed/irrigated</a:t>
            </a:r>
          </a:p>
        </p:txBody>
      </p:sp>
      <p:sp>
        <p:nvSpPr>
          <p:cNvPr id="15" name="m4-box">
            <a:extLst xmlns:a="http://schemas.openxmlformats.org/drawingml/2006/main">
              <a:ext uri="{FF2B5EF4-FFF2-40B4-BE49-F238E27FC236}">
                <a16:creationId xmlns:a16="http://schemas.microsoft.com/office/drawing/2014/main" id="{689CF0C2-B2A1-482A-8B45-629C2A2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28003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4-accent">
            <a:extLst xmlns:a="http://schemas.openxmlformats.org/drawingml/2006/main">
              <a:ext uri="{FF2B5EF4-FFF2-40B4-BE49-F238E27FC236}">
                <a16:creationId xmlns:a16="http://schemas.microsoft.com/office/drawing/2014/main" id="{B817A983-DDF5-4E84-B836-09634B2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4-value">
            <a:extLst xmlns:a="http://schemas.openxmlformats.org/drawingml/2006/main">
              <a:ext uri="{FF2B5EF4-FFF2-40B4-BE49-F238E27FC236}">
                <a16:creationId xmlns:a16="http://schemas.microsoft.com/office/drawing/2014/main" id="{77894EF5-6FD9-4833-91BE-05902FC1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716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 crops</a:t>
            </a:r>
          </a:p>
        </p:txBody>
      </p:sp>
      <p:sp>
        <p:nvSpPr>
          <p:cNvPr id="18" name="m4-label">
            <a:extLst xmlns:a="http://schemas.openxmlformats.org/drawingml/2006/main">
              <a:ext uri="{FF2B5EF4-FFF2-40B4-BE49-F238E27FC236}">
                <a16:creationId xmlns:a16="http://schemas.microsoft.com/office/drawing/2014/main" id="{22E24EC8-1FE9-47AD-8E0C-1CCCCFC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Maize, soybean, two rice seasons, spring and winter wheat</a:t>
            </a:r>
          </a:p>
        </p:txBody>
      </p:sp>
      <p:sp>
        <p:nvSpPr>
          <p:cNvPr id="19" name="data-secondary-title">
            <a:extLst xmlns:a="http://schemas.openxmlformats.org/drawingml/2006/main">
              <a:ext uri="{FF2B5EF4-FFF2-40B4-BE49-F238E27FC236}">
                <a16:creationId xmlns:a16="http://schemas.microsoft.com/office/drawing/2014/main" id="{2CDD6605-FCAA-4AF1-95E5-213A01E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Additional validation inputs</a:t>
            </a:r>
          </a:p>
        </p:txBody>
      </p:sp>
      <p:sp>
        <p:nvSpPr>
          <p:cNvPr id="20" name="data-secondary">
            <a:extLst xmlns:a="http://schemas.openxmlformats.org/drawingml/2006/main">
              <a:ext uri="{FF2B5EF4-FFF2-40B4-BE49-F238E27FC236}">
                <a16:creationId xmlns:a16="http://schemas.microsoft.com/office/drawing/2014/main" id="{F61700DA-C37D-4F6D-B864-0EEF5AB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CRU scPDSI: complete 1903–2025 global file, checksum recorded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USDA NASS crops bulk file: resumable partial download; server remains intermittent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Raw and derived data remain ignored by Git; provenance manifests are tracked</a:t>
            </a:r>
          </a:p>
        </p:txBody>
      </p:sp>
    </p:spTree>
    <p:extLst>
      <p:ext uri="{BB962C8B-B14F-4D97-AF65-F5344CB8AC3E}">
        <p14:creationId xmlns:p14="http://schemas.microsoft.com/office/powerpoint/2010/main" val="1782293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6">
            <a:extLst xmlns:a="http://schemas.openxmlformats.org/drawingml/2006/main">
              <a:ext uri="{FF2B5EF4-FFF2-40B4-BE49-F238E27FC236}">
                <a16:creationId xmlns:a16="http://schemas.microsoft.com/office/drawing/2014/main" id="{B8A24E09-BAF7-4332-94EE-06B8C77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Rainfall timing, dry spells, and extremes are explicit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7CE71440-895E-44D7-A5B5-6B64F92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feature-season">
            <a:extLst xmlns:a="http://schemas.openxmlformats.org/drawingml/2006/main">
              <a:ext uri="{FF2B5EF4-FFF2-40B4-BE49-F238E27FC236}">
                <a16:creationId xmlns:a16="http://schemas.microsoft.com/office/drawing/2014/main" id="{B168CF7C-5907-4846-B85C-0009AEF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season</a:t>
            </a:r>
          </a:p>
        </p:txBody>
      </p:sp>
      <p:sp>
        <p:nvSpPr>
          <p:cNvPr id="4" name="early">
            <a:extLst xmlns:a="http://schemas.openxmlformats.org/drawingml/2006/main">
              <a:ext uri="{FF2B5EF4-FFF2-40B4-BE49-F238E27FC236}">
                <a16:creationId xmlns:a16="http://schemas.microsoft.com/office/drawing/2014/main" id="{AA79D9CE-961E-403D-8A94-705FC54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ddle">
            <a:extLst xmlns:a="http://schemas.openxmlformats.org/drawingml/2006/main">
              <a:ext uri="{FF2B5EF4-FFF2-40B4-BE49-F238E27FC236}">
                <a16:creationId xmlns:a16="http://schemas.microsoft.com/office/drawing/2014/main" id="{CE15D1FD-C311-4825-9C48-1895EF3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te">
            <a:extLst xmlns:a="http://schemas.openxmlformats.org/drawingml/2006/main">
              <a:ext uri="{FF2B5EF4-FFF2-40B4-BE49-F238E27FC236}">
                <a16:creationId xmlns:a16="http://schemas.microsoft.com/office/drawing/2014/main" id="{4E69AA48-266A-46C2-9164-3889CAF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arly-label">
            <a:extLst xmlns:a="http://schemas.openxmlformats.org/drawingml/2006/main">
              <a:ext uri="{FF2B5EF4-FFF2-40B4-BE49-F238E27FC236}">
                <a16:creationId xmlns:a16="http://schemas.microsoft.com/office/drawing/2014/main" id="{C3F4B84E-5B73-42F2-87C8-21C59E6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Early 0–30%</a:t>
            </a:r>
          </a:p>
        </p:txBody>
      </p:sp>
      <p:sp>
        <p:nvSpPr>
          <p:cNvPr id="8" name="middle-label">
            <a:extLst xmlns:a="http://schemas.openxmlformats.org/drawingml/2006/main">
              <a:ext uri="{FF2B5EF4-FFF2-40B4-BE49-F238E27FC236}">
                <a16:creationId xmlns:a16="http://schemas.microsoft.com/office/drawing/2014/main" id="{46F7E4D7-182F-4D06-8E7C-C6EEA52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Middle 30–70%</a:t>
            </a:r>
          </a:p>
        </p:txBody>
      </p:sp>
      <p:sp>
        <p:nvSpPr>
          <p:cNvPr id="9" name="late-label">
            <a:extLst xmlns:a="http://schemas.openxmlformats.org/drawingml/2006/main">
              <a:ext uri="{FF2B5EF4-FFF2-40B4-BE49-F238E27FC236}">
                <a16:creationId xmlns:a16="http://schemas.microsoft.com/office/drawing/2014/main" id="{F22FC034-FDC9-4A94-8C82-E766ECB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 70–100%</a:t>
            </a:r>
          </a:p>
        </p:txBody>
      </p:sp>
      <p:sp>
        <p:nvSpPr>
          <p:cNvPr id="10" name="feature-warning">
            <a:extLst xmlns:a="http://schemas.openxmlformats.org/drawingml/2006/main">
              <a:ext uri="{FF2B5EF4-FFF2-40B4-BE49-F238E27FC236}">
                <a16:creationId xmlns:a16="http://schemas.microsoft.com/office/drawing/2014/main" id="{9FF61988-087F-4735-9B3B-9DEDC0D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These are transparent temporal proxies—not claimed physiological stages.</a:t>
            </a:r>
          </a:p>
        </p:txBody>
      </p:sp>
      <p:sp>
        <p:nvSpPr>
          <p:cNvPr id="11" name="feat-0-box">
            <a:extLst xmlns:a="http://schemas.openxmlformats.org/drawingml/2006/main">
              <a:ext uri="{FF2B5EF4-FFF2-40B4-BE49-F238E27FC236}">
                <a16:creationId xmlns:a16="http://schemas.microsoft.com/office/drawing/2014/main" id="{D112B9D8-ADA8-4C70-9F29-EAB26918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-0">
            <a:extLst xmlns:a="http://schemas.openxmlformats.org/drawingml/2006/main">
              <a:ext uri="{FF2B5EF4-FFF2-40B4-BE49-F238E27FC236}">
                <a16:creationId xmlns:a16="http://schemas.microsoft.com/office/drawing/2014/main" id="{B694A146-F75C-4DB5-A774-7527447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Total rain</a:t>
            </a:r>
          </a:p>
        </p:txBody>
      </p:sp>
      <p:sp>
        <p:nvSpPr>
          <p:cNvPr id="13" name="feat-1-box">
            <a:extLst xmlns:a="http://schemas.openxmlformats.org/drawingml/2006/main">
              <a:ext uri="{FF2B5EF4-FFF2-40B4-BE49-F238E27FC236}">
                <a16:creationId xmlns:a16="http://schemas.microsoft.com/office/drawing/2014/main" id="{59B9B84E-2A76-4923-BEDF-F288D6A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t-1">
            <a:extLst xmlns:a="http://schemas.openxmlformats.org/drawingml/2006/main">
              <a:ext uri="{FF2B5EF4-FFF2-40B4-BE49-F238E27FC236}">
                <a16:creationId xmlns:a16="http://schemas.microsoft.com/office/drawing/2014/main" id="{B95FD67E-2930-4FDF-9C1D-E66E170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Wet-day count</a:t>
            </a:r>
          </a:p>
        </p:txBody>
      </p:sp>
      <p:sp>
        <p:nvSpPr>
          <p:cNvPr id="15" name="feat-2-box">
            <a:extLst xmlns:a="http://schemas.openxmlformats.org/drawingml/2006/main">
              <a:ext uri="{FF2B5EF4-FFF2-40B4-BE49-F238E27FC236}">
                <a16:creationId xmlns:a16="http://schemas.microsoft.com/office/drawing/2014/main" id="{BE16780B-37B3-40A9-A34D-A7901A3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-2">
            <a:extLst xmlns:a="http://schemas.openxmlformats.org/drawingml/2006/main">
              <a:ext uri="{FF2B5EF4-FFF2-40B4-BE49-F238E27FC236}">
                <a16:creationId xmlns:a16="http://schemas.microsoft.com/office/drawing/2014/main" id="{E8578114-9097-456D-BF03-3A133EF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Consecutive dry days</a:t>
            </a:r>
          </a:p>
        </p:txBody>
      </p:sp>
      <p:sp>
        <p:nvSpPr>
          <p:cNvPr id="17" name="feat-3-box">
            <a:extLst xmlns:a="http://schemas.openxmlformats.org/drawingml/2006/main">
              <a:ext uri="{FF2B5EF4-FFF2-40B4-BE49-F238E27FC236}">
                <a16:creationId xmlns:a16="http://schemas.microsoft.com/office/drawing/2014/main" id="{B850C633-6A7C-4E99-8389-096C3FC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eat-3">
            <a:extLst xmlns:a="http://schemas.openxmlformats.org/drawingml/2006/main">
              <a:ext uri="{FF2B5EF4-FFF2-40B4-BE49-F238E27FC236}">
                <a16:creationId xmlns:a16="http://schemas.microsoft.com/office/drawing/2014/main" id="{7BA87C70-8D40-4FDE-8759-F82B003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Rx1day / Rx5day</a:t>
            </a:r>
          </a:p>
        </p:txBody>
      </p:sp>
      <p:sp>
        <p:nvSpPr>
          <p:cNvPr id="19" name="feat-4-box">
            <a:extLst xmlns:a="http://schemas.openxmlformats.org/drawingml/2006/main">
              <a:ext uri="{FF2B5EF4-FFF2-40B4-BE49-F238E27FC236}">
                <a16:creationId xmlns:a16="http://schemas.microsoft.com/office/drawing/2014/main" id="{6A47FBEF-597C-47B6-B226-4100BAF6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eat-4">
            <a:extLst xmlns:a="http://schemas.openxmlformats.org/drawingml/2006/main">
              <a:ext uri="{FF2B5EF4-FFF2-40B4-BE49-F238E27FC236}">
                <a16:creationId xmlns:a16="http://schemas.microsoft.com/office/drawing/2014/main" id="{872AF053-0801-4A42-8D94-F55083C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Stage shares</a:t>
            </a:r>
          </a:p>
        </p:txBody>
      </p:sp>
      <p:sp>
        <p:nvSpPr>
          <p:cNvPr id="21" name="feat-5-box">
            <a:extLst xmlns:a="http://schemas.openxmlformats.org/drawingml/2006/main">
              <a:ext uri="{FF2B5EF4-FFF2-40B4-BE49-F238E27FC236}">
                <a16:creationId xmlns:a16="http://schemas.microsoft.com/office/drawing/2014/main" id="{C369612F-634D-49F2-B94A-59B3F4B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eat-5">
            <a:extLst xmlns:a="http://schemas.openxmlformats.org/drawingml/2006/main">
              <a:ext uri="{FF2B5EF4-FFF2-40B4-BE49-F238E27FC236}">
                <a16:creationId xmlns:a16="http://schemas.microsoft.com/office/drawing/2014/main" id="{9F4906E8-D1D4-45FF-BC14-76FE646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Temperature / heat</a:t>
            </a:r>
          </a:p>
        </p:txBody>
      </p:sp>
      <p:sp>
        <p:nvSpPr>
          <p:cNvPr id="23" name="feat-6-box">
            <a:extLst xmlns:a="http://schemas.openxmlformats.org/drawingml/2006/main">
              <a:ext uri="{FF2B5EF4-FFF2-40B4-BE49-F238E27FC236}">
                <a16:creationId xmlns:a16="http://schemas.microsoft.com/office/drawing/2014/main" id="{42DAA7C7-B1CD-40ED-8676-574B7FB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eat-6">
            <a:extLst xmlns:a="http://schemas.openxmlformats.org/drawingml/2006/main">
              <a:ext uri="{FF2B5EF4-FFF2-40B4-BE49-F238E27FC236}">
                <a16:creationId xmlns:a16="http://schemas.microsoft.com/office/drawing/2014/main" id="{2E40F555-A907-4D91-A808-D0AABD28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scPDSI benchmark</a:t>
            </a:r>
          </a:p>
        </p:txBody>
      </p:sp>
    </p:spTree>
    <p:extLst>
      <p:ext uri="{BB962C8B-B14F-4D97-AF65-F5344CB8AC3E}">
        <p14:creationId xmlns:p14="http://schemas.microsoft.com/office/powerpoint/2010/main" val="8868885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7">
            <a:extLst xmlns:a="http://schemas.openxmlformats.org/drawingml/2006/main">
              <a:ext uri="{FF2B5EF4-FFF2-40B4-BE49-F238E27FC236}">
                <a16:creationId xmlns:a16="http://schemas.microsoft.com/office/drawing/2014/main" id="{1E39E514-294D-4BD3-AE81-350D58A1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Six-crop rainfed panel: 368,022 observed crop-years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37BC5780-A7BE-4999-83DC-B4DD3AB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ad961129e44564"/>
          </a:graphicData>
        </a:graphic>
      </p:graphicFrame>
      <p:sp>
        <p:nvSpPr>
          <p:cNvPr id="4" name="coverage-box">
            <a:extLst xmlns:a="http://schemas.openxmlformats.org/drawingml/2006/main">
              <a:ext uri="{FF2B5EF4-FFF2-40B4-BE49-F238E27FC236}">
                <a16:creationId xmlns:a16="http://schemas.microsoft.com/office/drawing/2014/main" id="{AB99693F-268A-406D-B774-FCB56A4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age-accent">
            <a:extLst xmlns:a="http://schemas.openxmlformats.org/drawingml/2006/main">
              <a:ext uri="{FF2B5EF4-FFF2-40B4-BE49-F238E27FC236}">
                <a16:creationId xmlns:a16="http://schemas.microsoft.com/office/drawing/2014/main" id="{E0D08EE6-C561-47E6-A816-CE7E5B10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0E4A0977-2BAF-4461-80D7-2C1C62C5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2.94M</a:t>
            </a:r>
          </a:p>
        </p:txBody>
      </p:sp>
      <p:sp>
        <p:nvSpPr>
          <p:cNvPr id="7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17622FB3-FC94-43EF-8F7A-9CA5688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Potential crop-year rows before observed-yield filtering</a:t>
            </a:r>
          </a:p>
        </p:txBody>
      </p:sp>
      <p:sp>
        <p:nvSpPr>
          <p:cNvPr id="8" name="pairs-box">
            <a:extLst xmlns:a="http://schemas.openxmlformats.org/drawingml/2006/main">
              <a:ext uri="{FF2B5EF4-FFF2-40B4-BE49-F238E27FC236}">
                <a16:creationId xmlns:a16="http://schemas.microsoft.com/office/drawing/2014/main" id="{8A3EF317-545E-4B21-B8D4-2E2FBF23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rs-accent">
            <a:extLst xmlns:a="http://schemas.openxmlformats.org/drawingml/2006/main">
              <a:ext uri="{FF2B5EF4-FFF2-40B4-BE49-F238E27FC236}">
                <a16:creationId xmlns:a16="http://schemas.microsoft.com/office/drawing/2014/main" id="{90380161-4655-4EFB-B4DC-849DE7BE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rs-value">
            <a:extLst xmlns:a="http://schemas.openxmlformats.org/drawingml/2006/main">
              <a:ext uri="{FF2B5EF4-FFF2-40B4-BE49-F238E27FC236}">
                <a16:creationId xmlns:a16="http://schemas.microsoft.com/office/drawing/2014/main" id="{5F2B91BC-B986-4E8A-8A40-2DF524F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321,620</a:t>
            </a:r>
          </a:p>
        </p:txBody>
      </p:sp>
      <p:sp>
        <p:nvSpPr>
          <p:cNvPr id="11" name="pairs-label">
            <a:extLst xmlns:a="http://schemas.openxmlformats.org/drawingml/2006/main">
              <a:ext uri="{FF2B5EF4-FFF2-40B4-BE49-F238E27FC236}">
                <a16:creationId xmlns:a16="http://schemas.microsoft.com/office/drawing/2014/main" id="{AE12781B-8147-4706-8808-DB9E992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Consecutive observed-yield pairs in the held-out diagnostic</a:t>
            </a:r>
          </a:p>
        </p:txBody>
      </p:sp>
    </p:spTree>
    <p:extLst>
      <p:ext uri="{BB962C8B-B14F-4D97-AF65-F5344CB8AC3E}">
        <p14:creationId xmlns:p14="http://schemas.microsoft.com/office/powerpoint/2010/main" val="1950160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9780A77B-092B-4C73-88CB-34A3AD69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tests assess predictive stability—not causality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FE7B16C3-2E9F-4823-9BB3-6870A555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hold-0">
            <a:extLst xmlns:a="http://schemas.openxmlformats.org/drawingml/2006/main">
              <a:ext uri="{FF2B5EF4-FFF2-40B4-BE49-F238E27FC236}">
                <a16:creationId xmlns:a16="http://schemas.microsoft.com/office/drawing/2014/main" id="{BEC836D9-8F6F-416D-808B-CE30BA5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hold-head-0">
            <a:extLst xmlns:a="http://schemas.openxmlformats.org/drawingml/2006/main">
              <a:ext uri="{FF2B5EF4-FFF2-40B4-BE49-F238E27FC236}">
                <a16:creationId xmlns:a16="http://schemas.microsoft.com/office/drawing/2014/main" id="{189A3459-D0AA-42B9-853B-C1A1BCC2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Spatial holdout</a:t>
            </a:r>
          </a:p>
        </p:txBody>
      </p:sp>
      <p:sp>
        <p:nvSpPr>
          <p:cNvPr id="5" name="hold-body-0">
            <a:extLst xmlns:a="http://schemas.openxmlformats.org/drawingml/2006/main">
              <a:ext uri="{FF2B5EF4-FFF2-40B4-BE49-F238E27FC236}">
                <a16:creationId xmlns:a16="http://schemas.microsoft.com/office/drawing/2014/main" id="{C168034F-6E30-4E42-A87C-CBD6373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Leaves geographic blocks out of estimation</a:t>
            </a:r>
          </a:p>
        </p:txBody>
      </p:sp>
      <p:sp>
        <p:nvSpPr>
          <p:cNvPr id="6" name="hold-1">
            <a:extLst xmlns:a="http://schemas.openxmlformats.org/drawingml/2006/main">
              <a:ext uri="{FF2B5EF4-FFF2-40B4-BE49-F238E27FC236}">
                <a16:creationId xmlns:a16="http://schemas.microsoft.com/office/drawing/2014/main" id="{5B4AF69E-11B7-4AEE-B0B2-98CFBD9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hold-head-1">
            <a:extLst xmlns:a="http://schemas.openxmlformats.org/drawingml/2006/main">
              <a:ext uri="{FF2B5EF4-FFF2-40B4-BE49-F238E27FC236}">
                <a16:creationId xmlns:a16="http://schemas.microsoft.com/office/drawing/2014/main" id="{AC124263-3B22-48EE-B141-4BD4FF39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Temporal holdout</a:t>
            </a:r>
          </a:p>
        </p:txBody>
      </p:sp>
      <p:sp>
        <p:nvSpPr>
          <p:cNvPr id="8" name="hold-body-1">
            <a:extLst xmlns:a="http://schemas.openxmlformats.org/drawingml/2006/main">
              <a:ext uri="{FF2B5EF4-FFF2-40B4-BE49-F238E27FC236}">
                <a16:creationId xmlns:a16="http://schemas.microsoft.com/office/drawing/2014/main" id="{55BCC65A-3143-4922-9D5B-04AB2C8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Reserves the final two years</a:t>
            </a:r>
          </a:p>
        </p:txBody>
      </p:sp>
      <p:sp>
        <p:nvSpPr>
          <p:cNvPr id="9" name="hold-2">
            <a:extLst xmlns:a="http://schemas.openxmlformats.org/drawingml/2006/main">
              <a:ext uri="{FF2B5EF4-FFF2-40B4-BE49-F238E27FC236}">
                <a16:creationId xmlns:a16="http://schemas.microsoft.com/office/drawing/2014/main" id="{E332ACD4-F271-4F3D-BBC3-B1F4E7C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hold-head-2">
            <a:extLst xmlns:a="http://schemas.openxmlformats.org/drawingml/2006/main">
              <a:ext uri="{FF2B5EF4-FFF2-40B4-BE49-F238E27FC236}">
                <a16:creationId xmlns:a16="http://schemas.microsoft.com/office/drawing/2014/main" id="{10993AB1-7BB9-4B96-9930-918E22E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1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Climate-extreme holdout</a:t>
            </a:r>
          </a:p>
        </p:txBody>
      </p:sp>
      <p:sp>
        <p:nvSpPr>
          <p:cNvPr id="11" name="hold-body-2">
            <a:extLst xmlns:a="http://schemas.openxmlformats.org/drawingml/2006/main">
              <a:ext uri="{FF2B5EF4-FFF2-40B4-BE49-F238E27FC236}">
                <a16:creationId xmlns:a16="http://schemas.microsoft.com/office/drawing/2014/main" id="{EFB6566D-9074-4604-8E05-2E2A8B08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Tests pairs with dry-spell or heavy-rain endpoints</a:t>
            </a:r>
          </a:p>
        </p:txBody>
      </p:sp>
      <p:sp>
        <p:nvSpPr>
          <p:cNvPr id="12" name="bench-title">
            <a:extLst xmlns:a="http://schemas.openxmlformats.org/drawingml/2006/main">
              <a:ext uri="{FF2B5EF4-FFF2-40B4-BE49-F238E27FC236}">
                <a16:creationId xmlns:a16="http://schemas.microsoft.com/office/drawing/2014/main" id="{390C4B86-3653-40DC-9B9A-E31D8AF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All candidates are compared with a zero-change yield benchmark</a:t>
            </a:r>
          </a:p>
        </p:txBody>
      </p:sp>
      <p:sp>
        <p:nvSpPr>
          <p:cNvPr id="13" name="bench-bullets">
            <a:extLst xmlns:a="http://schemas.openxmlformats.org/drawingml/2006/main">
              <a:ext uri="{FF2B5EF4-FFF2-40B4-BE49-F238E27FC236}">
                <a16:creationId xmlns:a16="http://schemas.microsoft.com/office/drawing/2014/main" id="{9FC21EA7-E11A-48B1-9CBB-C74ABB8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5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Models use first differences and deliberately suppress coefficients in the audit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Holdout labels are outcome-blind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Model ranking is descriptive only; failure cases are retained</a:t>
            </a:r>
          </a:p>
        </p:txBody>
      </p:sp>
    </p:spTree>
    <p:extLst>
      <p:ext uri="{BB962C8B-B14F-4D97-AF65-F5344CB8AC3E}">
        <p14:creationId xmlns:p14="http://schemas.microsoft.com/office/powerpoint/2010/main" val="389497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9">
            <a:extLst xmlns:a="http://schemas.openxmlformats.org/drawingml/2006/main">
              <a:ext uri="{FF2B5EF4-FFF2-40B4-BE49-F238E27FC236}">
                <a16:creationId xmlns:a16="http://schemas.microsoft.com/office/drawing/2014/main" id="{7D758649-7E7A-4639-BC0E-A7BA562D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Within-season features lead most comparisons—but not all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D7886FF8-A329-4816-8E61-65925EC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33400" y="1762125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caa2a8da3b4fa3"/>
          </a:graphicData>
        </a:graphic>
      </p:graphicFrame>
      <p:sp>
        <p:nvSpPr>
          <p:cNvPr id="4" name="winner-big">
            <a:extLst xmlns:a="http://schemas.openxmlformats.org/drawingml/2006/main">
              <a:ext uri="{FF2B5EF4-FFF2-40B4-BE49-F238E27FC236}">
                <a16:creationId xmlns:a16="http://schemas.microsoft.com/office/drawing/2014/main" id="{2A796DE5-7420-4A09-8B9D-BBD0B6A9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 of 18</a:t>
            </a:r>
          </a:p>
        </p:txBody>
      </p:sp>
      <p:sp>
        <p:nvSpPr>
          <p:cNvPr id="5" name="winner-copy">
            <a:extLst xmlns:a="http://schemas.openxmlformats.org/drawingml/2006/main">
              <a:ext uri="{FF2B5EF4-FFF2-40B4-BE49-F238E27FC236}">
                <a16:creationId xmlns:a16="http://schemas.microsoft.com/office/drawing/2014/main" id="{A53F6582-BF00-4B6F-B2FF-DF58071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× holdout comparisons favored the richer within-season joint model</a:t>
            </a:r>
          </a:p>
        </p:txBody>
      </p:sp>
      <p:sp>
        <p:nvSpPr>
          <p:cNvPr id="6" name="winner-caution">
            <a:extLst xmlns:a="http://schemas.openxmlformats.org/drawingml/2006/main">
              <a:ext uri="{FF2B5EF4-FFF2-40B4-BE49-F238E27FC236}">
                <a16:creationId xmlns:a16="http://schemas.microsoft.com/office/drawing/2014/main" id="{4BE1CF41-2836-401B-916B-2C4D838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Interpretation: timing contains useful information. It does not establish a universal response function or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14349013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B3B49A23-197F-4CBA-870D-71F33F4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Predictive winners vary by crop and holdout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F7F0DD62-92B8-4B0D-89AD-E5375C8A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762125"/>
                <a:gridCol w="1762125"/>
                <a:gridCol w="180975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Spatial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Temporal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Extreme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first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joint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second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Precip total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joint*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joint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Soybean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joint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Spring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Precip total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joint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Winter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</a:tbl>
          </a:graphicData>
        </a:graphic>
      </p:graphicFrame>
      <p:sp>
        <p:nvSpPr>
          <p:cNvPr id="4" name="matrix-note">
            <a:extLst xmlns:a="http://schemas.openxmlformats.org/drawingml/2006/main">
              <a:ext uri="{FF2B5EF4-FFF2-40B4-BE49-F238E27FC236}">
                <a16:creationId xmlns:a16="http://schemas.microsoft.com/office/drawing/2014/main" id="{51311E80-07BF-44DC-ABE2-E80AD2CE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*Second-season rice temporal: no candidate beat the zero-change benchmark.</a:t>
            </a:r>
          </a:p>
        </p:txBody>
      </p:sp>
      <p:sp>
        <p:nvSpPr>
          <p:cNvPr id="5" name="matrix-meaning">
            <a:extLst xmlns:a="http://schemas.openxmlformats.org/drawingml/2006/main">
              <a:ext uri="{FF2B5EF4-FFF2-40B4-BE49-F238E27FC236}">
                <a16:creationId xmlns:a16="http://schemas.microsoft.com/office/drawing/2014/main" id="{D1C5FA59-F83F-454C-8943-032AD27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7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mixed pattern is retained as a model-selection failure. Period- or crop-specific choices require preregistered evidence—not retrospective selection.</a:t>
            </a:r>
          </a:p>
        </p:txBody>
      </p:sp>
    </p:spTree>
    <p:extLst>
      <p:ext uri="{BB962C8B-B14F-4D97-AF65-F5344CB8AC3E}">
        <p14:creationId xmlns:p14="http://schemas.microsoft.com/office/powerpoint/2010/main" val="1359122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1">
            <a:extLst xmlns:a="http://schemas.openxmlformats.org/drawingml/2006/main">
              <a:ext uri="{FF2B5EF4-FFF2-40B4-BE49-F238E27FC236}">
                <a16:creationId xmlns:a16="http://schemas.microsoft.com/office/drawing/2014/main" id="{1FB0B1B7-E5C5-42B8-897A-C0EF18B3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Maize timing results weaken in a later period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A00AE2D6-D86D-4F43-95F3-5C992304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a67a52bfd24e6f"/>
          </a:graphicData>
        </a:graphic>
      </p:graphicFrame>
      <p:sp>
        <p:nvSpPr>
          <p:cNvPr id="4" name="rep-callout">
            <a:extLst xmlns:a="http://schemas.openxmlformats.org/drawingml/2006/main">
              <a:ext uri="{FF2B5EF4-FFF2-40B4-BE49-F238E27FC236}">
                <a16:creationId xmlns:a16="http://schemas.microsoft.com/office/drawing/2014/main" id="{FD36686C-D078-41C7-A6AF-9FC1078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1982–89</a:t>
            </a:r>
          </a:p>
        </p:txBody>
      </p:sp>
      <p:sp>
        <p:nvSpPr>
          <p:cNvPr id="5" name="rep-one">
            <a:extLst xmlns:a="http://schemas.openxmlformats.org/drawingml/2006/main">
              <a:ext uri="{FF2B5EF4-FFF2-40B4-BE49-F238E27FC236}">
                <a16:creationId xmlns:a16="http://schemas.microsoft.com/office/drawing/2014/main" id="{454360C1-4BE4-46BC-ADCD-70D367A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Stage/timing model wins all three tests.</a:t>
            </a:r>
          </a:p>
        </p:txBody>
      </p:sp>
      <p:sp>
        <p:nvSpPr>
          <p:cNvPr id="6" name="rep-callout2">
            <a:extLst xmlns:a="http://schemas.openxmlformats.org/drawingml/2006/main">
              <a:ext uri="{FF2B5EF4-FFF2-40B4-BE49-F238E27FC236}">
                <a16:creationId xmlns:a16="http://schemas.microsoft.com/office/drawing/2014/main" id="{9DD3CA07-6E11-487C-B97F-1F6573B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1992–2000</a:t>
            </a:r>
          </a:p>
        </p:txBody>
      </p:sp>
      <p:sp>
        <p:nvSpPr>
          <p:cNvPr id="7" name="rep-two">
            <a:extLst xmlns:a="http://schemas.openxmlformats.org/drawingml/2006/main">
              <a:ext uri="{FF2B5EF4-FFF2-40B4-BE49-F238E27FC236}">
                <a16:creationId xmlns:a16="http://schemas.microsoft.com/office/drawing/2014/main" id="{1FEFE184-00B7-4B31-8F9D-BD11033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2907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4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Stage wins spatial and extreme tests; precipitation totals win the temporal block.</a:t>
            </a:r>
          </a:p>
        </p:txBody>
      </p:sp>
    </p:spTree>
    <p:extLst>
      <p:ext uri="{BB962C8B-B14F-4D97-AF65-F5344CB8AC3E}">
        <p14:creationId xmlns:p14="http://schemas.microsoft.com/office/powerpoint/2010/main" val="14150153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2">
            <a:extLst xmlns:a="http://schemas.openxmlformats.org/drawingml/2006/main">
              <a:ext uri="{FF2B5EF4-FFF2-40B4-BE49-F238E27FC236}">
                <a16:creationId xmlns:a16="http://schemas.microsoft.com/office/drawing/2014/main" id="{F53F2A57-8F32-4EBA-81A4-8A0850E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real drought benchmark now runs on crop windows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63F194B4-498A-4FCB-9B87-4076D39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d1-box">
            <a:extLst xmlns:a="http://schemas.openxmlformats.org/drawingml/2006/main">
              <a:ext uri="{FF2B5EF4-FFF2-40B4-BE49-F238E27FC236}">
                <a16:creationId xmlns:a16="http://schemas.microsoft.com/office/drawing/2014/main" id="{7D4C4F9C-332E-4E38-B149-A5D4462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1-accent">
            <a:extLst xmlns:a="http://schemas.openxmlformats.org/drawingml/2006/main">
              <a:ext uri="{FF2B5EF4-FFF2-40B4-BE49-F238E27FC236}">
                <a16:creationId xmlns:a16="http://schemas.microsoft.com/office/drawing/2014/main" id="{AEB91005-9908-4F8D-BCA0-1DF84AC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1-value">
            <a:extLst xmlns:a="http://schemas.openxmlformats.org/drawingml/2006/main">
              <a:ext uri="{FF2B5EF4-FFF2-40B4-BE49-F238E27FC236}">
                <a16:creationId xmlns:a16="http://schemas.microsoft.com/office/drawing/2014/main" id="{89FD946E-DCE0-4BFC-B13F-C6B3F53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355 MB</a:t>
            </a:r>
          </a:p>
        </p:txBody>
      </p:sp>
      <p:sp>
        <p:nvSpPr>
          <p:cNvPr id="6" name="d1-label">
            <a:extLst xmlns:a="http://schemas.openxmlformats.org/drawingml/2006/main">
              <a:ext uri="{FF2B5EF4-FFF2-40B4-BE49-F238E27FC236}">
                <a16:creationId xmlns:a16="http://schemas.microsoft.com/office/drawing/2014/main" id="{932C5AC5-7B5E-4515-9DDE-9563E252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Complete CRU global scPDSI file; SHA-512 and provenance verified</a:t>
            </a:r>
          </a:p>
        </p:txBody>
      </p:sp>
      <p:sp>
        <p:nvSpPr>
          <p:cNvPr id="7" name="d2-box">
            <a:extLst xmlns:a="http://schemas.openxmlformats.org/drawingml/2006/main">
              <a:ext uri="{FF2B5EF4-FFF2-40B4-BE49-F238E27FC236}">
                <a16:creationId xmlns:a16="http://schemas.microsoft.com/office/drawing/2014/main" id="{8837C7E3-5E1A-4654-9B81-F07D7A73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2-accent">
            <a:extLst xmlns:a="http://schemas.openxmlformats.org/drawingml/2006/main">
              <a:ext uri="{FF2B5EF4-FFF2-40B4-BE49-F238E27FC236}">
                <a16:creationId xmlns:a16="http://schemas.microsoft.com/office/drawing/2014/main" id="{327FDF81-CBB6-484E-8125-F918397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2-value">
            <a:extLst xmlns:a="http://schemas.openxmlformats.org/drawingml/2006/main">
              <a:ext uri="{FF2B5EF4-FFF2-40B4-BE49-F238E27FC236}">
                <a16:creationId xmlns:a16="http://schemas.microsoft.com/office/drawing/2014/main" id="{2402E079-9B14-4B9A-BAE2-6AE7AD2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36,183</a:t>
            </a:r>
          </a:p>
        </p:txBody>
      </p:sp>
      <p:sp>
        <p:nvSpPr>
          <p:cNvPr id="10" name="d2-label">
            <a:extLst xmlns:a="http://schemas.openxmlformats.org/drawingml/2006/main">
              <a:ext uri="{FF2B5EF4-FFF2-40B4-BE49-F238E27FC236}">
                <a16:creationId xmlns:a16="http://schemas.microsoft.com/office/drawing/2014/main" id="{4AFA33DD-711D-4BDB-A289-ACD8AFD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Real maize/rainfed crop-stage rows in the 1982–89 validation slice</a:t>
            </a:r>
          </a:p>
        </p:txBody>
      </p:sp>
      <p:sp>
        <p:nvSpPr>
          <p:cNvPr id="11" name="d3-box">
            <a:extLst xmlns:a="http://schemas.openxmlformats.org/drawingml/2006/main">
              <a:ext uri="{FF2B5EF4-FFF2-40B4-BE49-F238E27FC236}">
                <a16:creationId xmlns:a16="http://schemas.microsoft.com/office/drawing/2014/main" id="{4446971E-4CCE-4063-B768-F62FBB8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3-accent">
            <a:extLst xmlns:a="http://schemas.openxmlformats.org/drawingml/2006/main">
              <a:ext uri="{FF2B5EF4-FFF2-40B4-BE49-F238E27FC236}">
                <a16:creationId xmlns:a16="http://schemas.microsoft.com/office/drawing/2014/main" id="{12C136F9-9B38-4ABF-985A-FF860E7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3-value">
            <a:extLst xmlns:a="http://schemas.openxmlformats.org/drawingml/2006/main">
              <a:ext uri="{FF2B5EF4-FFF2-40B4-BE49-F238E27FC236}">
                <a16:creationId xmlns:a16="http://schemas.microsoft.com/office/drawing/2014/main" id="{AE921B86-C91A-47E0-8405-1857FC99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−2</a:t>
            </a:r>
          </a:p>
        </p:txBody>
      </p:sp>
      <p:sp>
        <p:nvSpPr>
          <p:cNvPr id="14" name="d3-label">
            <a:extLst xmlns:a="http://schemas.openxmlformats.org/drawingml/2006/main">
              <a:ext uri="{FF2B5EF4-FFF2-40B4-BE49-F238E27FC236}">
                <a16:creationId xmlns:a16="http://schemas.microsoft.com/office/drawing/2014/main" id="{4D5C663E-1B1C-498D-8041-6DD7623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Diagnostic scPDSI threshold used to test the pipeline—not selected for production</a:t>
            </a:r>
          </a:p>
        </p:txBody>
      </p:sp>
      <p:sp>
        <p:nvSpPr>
          <p:cNvPr id="15" name="drought-done">
            <a:extLst xmlns:a="http://schemas.openxmlformats.org/drawingml/2006/main">
              <a:ext uri="{FF2B5EF4-FFF2-40B4-BE49-F238E27FC236}">
                <a16:creationId xmlns:a16="http://schemas.microsoft.com/office/drawing/2014/main" id="{1CC57A5E-3F2F-48AE-BFA3-8470214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is proven</a:t>
            </a:r>
          </a:p>
        </p:txBody>
      </p:sp>
      <p:sp>
        <p:nvSpPr>
          <p:cNvPr id="16" name="drought-done-copy">
            <a:extLst xmlns:a="http://schemas.openxmlformats.org/drawingml/2006/main">
              <a:ext uri="{FF2B5EF4-FFF2-40B4-BE49-F238E27FC236}">
                <a16:creationId xmlns:a16="http://schemas.microsoft.com/office/drawing/2014/main" id="{D5DFBA39-9995-40E2-94B2-613DA8E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Monthly drought values align to cross-year crop windows and pass coverage, grid, and reconciliation checks.</a:t>
            </a:r>
          </a:p>
        </p:txBody>
      </p:sp>
      <p:sp>
        <p:nvSpPr>
          <p:cNvPr id="17" name="drought-open">
            <a:extLst xmlns:a="http://schemas.openxmlformats.org/drawingml/2006/main">
              <a:ext uri="{FF2B5EF4-FFF2-40B4-BE49-F238E27FC236}">
                <a16:creationId xmlns:a16="http://schemas.microsoft.com/office/drawing/2014/main" id="{345708F1-62F4-4F4C-9F9E-C53F520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What remains</a:t>
            </a:r>
          </a:p>
        </p:txBody>
      </p:sp>
      <p:sp>
        <p:nvSpPr>
          <p:cNvPr id="18" name="drought-open-copy">
            <a:extLst xmlns:a="http://schemas.openxmlformats.org/drawingml/2006/main">
              <a:ext uri="{FF2B5EF4-FFF2-40B4-BE49-F238E27FC236}">
                <a16:creationId xmlns:a16="http://schemas.microsoft.com/office/drawing/2014/main" id="{26025A7B-3ACB-4D24-8B7A-FE9CD85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Global response comparison, alternative drought families, and future drought paths recomputed from matched climate draws.</a:t>
            </a:r>
          </a:p>
        </p:txBody>
      </p:sp>
    </p:spTree>
    <p:extLst>
      <p:ext uri="{BB962C8B-B14F-4D97-AF65-F5344CB8AC3E}">
        <p14:creationId xmlns:p14="http://schemas.microsoft.com/office/powerpoint/2010/main" val="2029040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FFFCE7DC-B55B-4D55-8EDF-035496E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replacement executes inside archived GIVE</a:t>
            </a:r>
          </a:p>
        </p:txBody>
      </p:sp>
      <p:sp>
        <p:nvSpPr>
          <p:cNvPr id="2" name="page-13">
            <a:extLst xmlns:a="http://schemas.openxmlformats.org/drawingml/2006/main">
              <a:ext uri="{FF2B5EF4-FFF2-40B4-BE49-F238E27FC236}">
                <a16:creationId xmlns:a16="http://schemas.microsoft.com/office/drawing/2014/main" id="{B0B2EB79-3732-4220-AE93-A2DE569E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int-arrow-0">
            <a:extLst xmlns:a="http://schemas.openxmlformats.org/drawingml/2006/main">
              <a:ext uri="{FF2B5EF4-FFF2-40B4-BE49-F238E27FC236}">
                <a16:creationId xmlns:a16="http://schemas.microsoft.com/office/drawing/2014/main" id="{ABE8C420-E863-46FA-B798-562F34C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int-arrow-1">
            <a:extLst xmlns:a="http://schemas.openxmlformats.org/drawingml/2006/main">
              <a:ext uri="{FF2B5EF4-FFF2-40B4-BE49-F238E27FC236}">
                <a16:creationId xmlns:a16="http://schemas.microsoft.com/office/drawing/2014/main" id="{940D82E6-B65D-4922-AFBD-44D2139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int-arrow-2">
            <a:extLst xmlns:a="http://schemas.openxmlformats.org/drawingml/2006/main">
              <a:ext uri="{FF2B5EF4-FFF2-40B4-BE49-F238E27FC236}">
                <a16:creationId xmlns:a16="http://schemas.microsoft.com/office/drawing/2014/main" id="{57344022-DF59-475D-AD9C-6EC85F0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int-0">
            <a:extLst xmlns:a="http://schemas.openxmlformats.org/drawingml/2006/main">
              <a:ext uri="{FF2B5EF4-FFF2-40B4-BE49-F238E27FC236}">
                <a16:creationId xmlns:a16="http://schemas.microsoft.com/office/drawing/2014/main" id="{9486A9EE-89A6-4F31-94B4-C24E242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t-head-0">
            <a:extLst xmlns:a="http://schemas.openxmlformats.org/drawingml/2006/main">
              <a:ext uri="{FF2B5EF4-FFF2-40B4-BE49-F238E27FC236}">
                <a16:creationId xmlns:a16="http://schemas.microsoft.com/office/drawing/2014/main" id="{DFD04003-42E1-44FD-B572-E3BCAF1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Remove</a:t>
            </a:r>
          </a:p>
        </p:txBody>
      </p:sp>
      <p:sp>
        <p:nvSpPr>
          <p:cNvPr id="8" name="int-body-0">
            <a:extLst xmlns:a="http://schemas.openxmlformats.org/drawingml/2006/main">
              <a:ext uri="{FF2B5EF4-FFF2-40B4-BE49-F238E27FC236}">
                <a16:creationId xmlns:a16="http://schemas.microsoft.com/office/drawing/2014/main" id="{65941D01-54D1-46A3-8B0F-103C6F1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Legacy MooreAg agriculture</a:t>
            </a:r>
          </a:p>
        </p:txBody>
      </p:sp>
      <p:sp>
        <p:nvSpPr>
          <p:cNvPr id="9" name="int-1">
            <a:extLst xmlns:a="http://schemas.openxmlformats.org/drawingml/2006/main">
              <a:ext uri="{FF2B5EF4-FFF2-40B4-BE49-F238E27FC236}">
                <a16:creationId xmlns:a16="http://schemas.microsoft.com/office/drawing/2014/main" id="{BC6E1794-1757-4783-A84E-FDCC1EA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int-head-1">
            <a:extLst xmlns:a="http://schemas.openxmlformats.org/drawingml/2006/main">
              <a:ext uri="{FF2B5EF4-FFF2-40B4-BE49-F238E27FC236}">
                <a16:creationId xmlns:a16="http://schemas.microsoft.com/office/drawing/2014/main" id="{980D7782-C79A-4E94-9E5C-3646F5C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Install</a:t>
            </a:r>
          </a:p>
        </p:txBody>
      </p:sp>
      <p:sp>
        <p:nvSpPr>
          <p:cNvPr id="11" name="int-body-1">
            <a:extLst xmlns:a="http://schemas.openxmlformats.org/drawingml/2006/main">
              <a:ext uri="{FF2B5EF4-FFF2-40B4-BE49-F238E27FC236}">
                <a16:creationId xmlns:a16="http://schemas.microsoft.com/office/drawing/2014/main" id="{7F923639-5BFC-4E0D-9237-2084C96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Six-crop response + JointAgriculture</a:t>
            </a:r>
          </a:p>
        </p:txBody>
      </p:sp>
      <p:sp>
        <p:nvSpPr>
          <p:cNvPr id="12" name="int-2">
            <a:extLst xmlns:a="http://schemas.openxmlformats.org/drawingml/2006/main">
              <a:ext uri="{FF2B5EF4-FFF2-40B4-BE49-F238E27FC236}">
                <a16:creationId xmlns:a16="http://schemas.microsoft.com/office/drawing/2014/main" id="{2D4454A7-CEB8-46EE-9C5A-700F01A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nt-head-2">
            <a:extLst xmlns:a="http://schemas.openxmlformats.org/drawingml/2006/main">
              <a:ext uri="{FF2B5EF4-FFF2-40B4-BE49-F238E27FC236}">
                <a16:creationId xmlns:a16="http://schemas.microsoft.com/office/drawing/2014/main" id="{FDB1FCAE-5F6C-4A97-9B10-050494F4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14" name="int-body-2">
            <a:extLst xmlns:a="http://schemas.openxmlformats.org/drawingml/2006/main">
              <a:ext uri="{FF2B5EF4-FFF2-40B4-BE49-F238E27FC236}">
                <a16:creationId xmlns:a16="http://schemas.microsoft.com/office/drawing/2014/main" id="{8F06829B-7AC4-4E6F-830E-C1396F3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regional GDP and population</a:t>
            </a:r>
          </a:p>
        </p:txBody>
      </p:sp>
      <p:sp>
        <p:nvSpPr>
          <p:cNvPr id="15" name="int-3">
            <a:extLst xmlns:a="http://schemas.openxmlformats.org/drawingml/2006/main">
              <a:ext uri="{FF2B5EF4-FFF2-40B4-BE49-F238E27FC236}">
                <a16:creationId xmlns:a16="http://schemas.microsoft.com/office/drawing/2014/main" id="{1CF529AB-A854-4D90-B341-A452E19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int-head-3">
            <a:extLst xmlns:a="http://schemas.openxmlformats.org/drawingml/2006/main">
              <a:ext uri="{FF2B5EF4-FFF2-40B4-BE49-F238E27FC236}">
                <a16:creationId xmlns:a16="http://schemas.microsoft.com/office/drawing/2014/main" id="{DDCBFB7A-0312-4F88-ABF5-FCF1AA6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7" name="int-body-3">
            <a:extLst xmlns:a="http://schemas.openxmlformats.org/drawingml/2006/main">
              <a:ext uri="{FF2B5EF4-FFF2-40B4-BE49-F238E27FC236}">
                <a16:creationId xmlns:a16="http://schemas.microsoft.com/office/drawing/2014/main" id="{EE277970-A86C-4DB4-8D98-96D9B70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agriculture producer; zero-response identity</a:t>
            </a:r>
          </a:p>
        </p:txBody>
      </p:sp>
      <p:sp>
        <p:nvSpPr>
          <p:cNvPr id="18" name="int-pass">
            <a:extLst xmlns:a="http://schemas.openxmlformats.org/drawingml/2006/main">
              <a:ext uri="{FF2B5EF4-FFF2-40B4-BE49-F238E27FC236}">
                <a16:creationId xmlns:a16="http://schemas.microsoft.com/office/drawing/2014/main" id="{BF8D0EB5-D4AA-4059-9E37-9557C88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9" name="int-pass-copy">
            <a:extLst xmlns:a="http://schemas.openxmlformats.org/drawingml/2006/main">
              <a:ext uri="{FF2B5EF4-FFF2-40B4-BE49-F238E27FC236}">
                <a16:creationId xmlns:a16="http://schemas.microsoft.com/office/drawing/2014/main" id="{79CC55EA-AE28-4F63-AB7A-3219E4B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Full 1750–2300 arrays supplied; active-year crop and regional coverage = 1; component and aggregated agriculture damages = 0 under synthetic zero response.</a:t>
            </a:r>
          </a:p>
        </p:txBody>
      </p:sp>
      <p:sp>
        <p:nvSpPr>
          <p:cNvPr id="20" name="int-caveat">
            <a:extLst xmlns:a="http://schemas.openxmlformats.org/drawingml/2006/main">
              <a:ext uri="{FF2B5EF4-FFF2-40B4-BE49-F238E27FC236}">
                <a16:creationId xmlns:a16="http://schemas.microsoft.com/office/drawing/2014/main" id="{FEF0715E-4489-40C2-8E08-8383A0A3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Connectivity result only—no empirical response, paired marginal run, welfare estimate, discounting, or SCC.</a:t>
            </a:r>
          </a:p>
        </p:txBody>
      </p:sp>
    </p:spTree>
    <p:extLst>
      <p:ext uri="{BB962C8B-B14F-4D97-AF65-F5344CB8AC3E}">
        <p14:creationId xmlns:p14="http://schemas.microsoft.com/office/powerpoint/2010/main" val="1930843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9A330928-B91D-4FC6-9835-6D20379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Other damage sectors remain secondary</a:t>
            </a:r>
          </a:p>
        </p:txBody>
      </p:sp>
      <p:sp>
        <p:nvSpPr>
          <p:cNvPr id="2" name="page-14">
            <a:extLst xmlns:a="http://schemas.openxmlformats.org/drawingml/2006/main">
              <a:ext uri="{FF2B5EF4-FFF2-40B4-BE49-F238E27FC236}">
                <a16:creationId xmlns:a16="http://schemas.microsoft.com/office/drawing/2014/main" id="{4EC80062-26AD-4A3C-9353-DB33B98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11239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381125"/>
                <a:gridCol w="4619625"/>
                <a:gridCol w="2762250"/>
              </a:tblGrid>
              <a:tr h="781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Completed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 gate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Precipitation–agriculture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feature pipeline, held-out diagnostics, drought path, GIVE replacement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causal response or SCC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U.S. county validation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NASS parser, suppression handling, county-season drought bridge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Bulk data incomplete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Ocean fisheries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Welfare contract and overlap exclusions locked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licensed calibration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Biodiversity nonuse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Interface and local tests implemented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parameter scaling unresolved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portfolio-note">
            <a:extLst xmlns:a="http://schemas.openxmlformats.org/drawingml/2006/main">
              <a:ext uri="{FF2B5EF4-FFF2-40B4-BE49-F238E27FC236}">
                <a16:creationId xmlns:a16="http://schemas.microsoft.com/office/drawing/2014/main" id="{84E615B1-FA83-41C5-A140-D6F5A19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Strict isolation is maintained from the separate wildfire CO₂ project; raw data and derived outputs remain untracked.</a:t>
            </a:r>
          </a:p>
        </p:txBody>
      </p:sp>
    </p:spTree>
    <p:extLst>
      <p:ext uri="{BB962C8B-B14F-4D97-AF65-F5344CB8AC3E}">
        <p14:creationId xmlns:p14="http://schemas.microsoft.com/office/powerpoint/2010/main" val="14063018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E62E4C7A-D09A-4C9B-A2FC-0CF72F1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D99C5DD-3473-49AF-A0E5-83B468E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BOTTOM LINE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0204FF9-1E1D-4266-8242-813B9F2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Timing appears to matter—but the SCC evidence chain is not complete</a:t>
            </a:r>
          </a:p>
        </p:txBody>
      </p:sp>
      <p:sp>
        <p:nvSpPr>
          <p:cNvPr id="4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BB03C8CA-ADE1-4E03-8CB7-5B5EF84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so far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C8CCEFB9-A231-4FEE-8051-E156274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Within-season joint features lead 11 of 18 comparisons, with important crop and period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14A0-3C06-4FF9-A106-9D0972C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F720C326-B6C0-4E8C-A86E-13E54F4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empirical milestone</a:t>
            </a:r>
          </a:p>
        </p:txBody>
      </p:sp>
      <p:sp>
        <p:nvSpPr>
          <p:cNvPr id="8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72B2CA8B-FA86-4B70-8F87-74B6F1F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671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Complete longer-period, drought, irrigation, and U.S.-county validation; preregister the response family.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2BD1D-B03C-4840-B677-7E89FB2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852F735D-3954-4765-8E01-CE828C1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climate milestone</a:t>
            </a:r>
          </a:p>
        </p:txBody>
      </p:sp>
      <p:sp>
        <p:nvSpPr>
          <p:cNvPr id="11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51BD2D48-8EDF-4BA5-9A2D-19D1122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Generate matched baseline and marginal-CO₂ daily climate paths for totals, timing, extremes, and drought.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C65A8-C250-405A-BEFF-51636DA6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close-head-3">
            <a:extLst xmlns:a="http://schemas.openxmlformats.org/drawingml/2006/main">
              <a:ext uri="{FF2B5EF4-FFF2-40B4-BE49-F238E27FC236}">
                <a16:creationId xmlns:a16="http://schemas.microsoft.com/office/drawing/2014/main" id="{84BE8D3B-16C0-457F-BB44-7D119AF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Release condition</a:t>
            </a:r>
          </a:p>
        </p:txBody>
      </p:sp>
      <p:sp>
        <p:nvSpPr>
          <p:cNvPr id="14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83FAA283-F1B7-440E-9346-84D0AB6D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Only then estimate monetary damages under fixed, trend, and upper adaptation and calculate an SCC distribution.</a:t>
            </a:r>
          </a:p>
        </p:txBody>
      </p:sp>
    </p:spTree>
    <p:extLst>
      <p:ext uri="{BB962C8B-B14F-4D97-AF65-F5344CB8AC3E}">
        <p14:creationId xmlns:p14="http://schemas.microsoft.com/office/powerpoint/2010/main" val="60015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2026-08-25T14:17:21.1450000Z</dcterms:created>
  <dcterms:modified xsi:type="dcterms:W3CDTF">2026-08-25T14:17:21.1450000Z</dcterms:modified>
</coreProperties>
</file>