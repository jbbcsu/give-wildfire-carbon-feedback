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970797149748c4" /><Relationship Type="http://schemas.openxmlformats.org/officeDocument/2006/relationships/extended-properties" Target="/docProps/app.xml" Id="R024edf3e367c48fc" /><Relationship Type="http://schemas.openxmlformats.org/officeDocument/2006/relationships/officeDocument" Target="/ppt/presentation.xml" Id="Re6d812d3fa3345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a301e1abab49a9"/>
  </p:sldMasterIdLst>
  <p:notesMasterIdLst>
    <p:notesMasterId xmlns:r="http://schemas.openxmlformats.org/officeDocument/2006/relationships" r:id="Rc132487ccbb74fd6"/>
  </p:notesMasterIdLst>
  <p:sldIdLst>
    <p:sldId xmlns:r="http://schemas.openxmlformats.org/officeDocument/2006/relationships" id="256" r:id="Rf1c2df989fda4973"/>
    <p:sldId xmlns:r="http://schemas.openxmlformats.org/officeDocument/2006/relationships" id="257" r:id="R1130274ec6574851"/>
    <p:sldId xmlns:r="http://schemas.openxmlformats.org/officeDocument/2006/relationships" id="258" r:id="R08586b7961ca4f19"/>
    <p:sldId xmlns:r="http://schemas.openxmlformats.org/officeDocument/2006/relationships" id="259" r:id="Re8c57646033c4d35"/>
    <p:sldId xmlns:r="http://schemas.openxmlformats.org/officeDocument/2006/relationships" id="260" r:id="Rd0b8b3283c78481a"/>
    <p:sldId xmlns:r="http://schemas.openxmlformats.org/officeDocument/2006/relationships" id="261" r:id="Re397f1f8c5504be4"/>
    <p:sldId xmlns:r="http://schemas.openxmlformats.org/officeDocument/2006/relationships" id="262" r:id="Rdc312791247441b9"/>
    <p:sldId xmlns:r="http://schemas.openxmlformats.org/officeDocument/2006/relationships" id="263" r:id="Rf83f06f8658d4a17"/>
    <p:sldId xmlns:r="http://schemas.openxmlformats.org/officeDocument/2006/relationships" id="264" r:id="Rc06464018dbe48a5"/>
    <p:sldId xmlns:r="http://schemas.openxmlformats.org/officeDocument/2006/relationships" id="265" r:id="R5574b9a7e5294ef9"/>
    <p:sldId xmlns:r="http://schemas.openxmlformats.org/officeDocument/2006/relationships" id="266" r:id="R52d90b30f18443ed"/>
    <p:sldId xmlns:r="http://schemas.openxmlformats.org/officeDocument/2006/relationships" id="267" r:id="Rf88c81460db045c2"/>
    <p:sldId xmlns:r="http://schemas.openxmlformats.org/officeDocument/2006/relationships" id="268" r:id="Reb5fb9886d394456"/>
    <p:sldId xmlns:r="http://schemas.openxmlformats.org/officeDocument/2006/relationships" id="269" r:id="R823c329e9db443cc"/>
    <p:sldId xmlns:r="http://schemas.openxmlformats.org/officeDocument/2006/relationships" id="270" r:id="Rcec350c6edf8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64ee724074e10" /><Relationship Type="http://schemas.openxmlformats.org/officeDocument/2006/relationships/slideMaster" Target="/ppt/slideMasters/slideMaster1.xml" Id="R25a301e1abab49a9" /><Relationship Type="http://schemas.openxmlformats.org/officeDocument/2006/relationships/notesMaster" Target="/ppt/notesMasters/notesMaster1.xml" Id="Rc132487ccbb74fd6" /><Relationship Type="http://schemas.openxmlformats.org/officeDocument/2006/relationships/presProps" Target="/ppt/presProps.xml" Id="R4d2322ad7d434455" /><Relationship Type="http://schemas.openxmlformats.org/officeDocument/2006/relationships/tableStyles" Target="/ppt/tableStyles.xml" Id="Rf8e4b65f0f8e4fd6" /><Relationship Type="http://schemas.openxmlformats.org/officeDocument/2006/relationships/slide" Target="/ppt/slides/slide1.xml" Id="Rf1c2df989fda4973" /><Relationship Type="http://schemas.openxmlformats.org/officeDocument/2006/relationships/slide" Target="/ppt/slides/slide2.xml" Id="R1130274ec6574851" /><Relationship Type="http://schemas.openxmlformats.org/officeDocument/2006/relationships/slide" Target="/ppt/slides/slide3.xml" Id="R08586b7961ca4f19" /><Relationship Type="http://schemas.openxmlformats.org/officeDocument/2006/relationships/slide" Target="/ppt/slides/slide4.xml" Id="Re8c57646033c4d35" /><Relationship Type="http://schemas.openxmlformats.org/officeDocument/2006/relationships/slide" Target="/ppt/slides/slide5.xml" Id="Rd0b8b3283c78481a" /><Relationship Type="http://schemas.openxmlformats.org/officeDocument/2006/relationships/slide" Target="/ppt/slides/slide6.xml" Id="Re397f1f8c5504be4" /><Relationship Type="http://schemas.openxmlformats.org/officeDocument/2006/relationships/slide" Target="/ppt/slides/slide7.xml" Id="Rdc312791247441b9" /><Relationship Type="http://schemas.openxmlformats.org/officeDocument/2006/relationships/slide" Target="/ppt/slides/slide8.xml" Id="Rf83f06f8658d4a17" /><Relationship Type="http://schemas.openxmlformats.org/officeDocument/2006/relationships/slide" Target="/ppt/slides/slide9.xml" Id="Rc06464018dbe48a5" /><Relationship Type="http://schemas.openxmlformats.org/officeDocument/2006/relationships/slide" Target="/ppt/slides/slide10.xml" Id="R5574b9a7e5294ef9" /><Relationship Type="http://schemas.openxmlformats.org/officeDocument/2006/relationships/slide" Target="/ppt/slides/slide11.xml" Id="R52d90b30f18443ed" /><Relationship Type="http://schemas.openxmlformats.org/officeDocument/2006/relationships/slide" Target="/ppt/slides/slide12.xml" Id="Rf88c81460db045c2" /><Relationship Type="http://schemas.openxmlformats.org/officeDocument/2006/relationships/slide" Target="/ppt/slides/slide13.xml" Id="Reb5fb9886d394456" /><Relationship Type="http://schemas.openxmlformats.org/officeDocument/2006/relationships/slide" Target="/ppt/slides/slide14.xml" Id="R823c329e9db443cc" /><Relationship Type="http://schemas.openxmlformats.org/officeDocument/2006/relationships/slide" Target="/ppt/slides/slide15.xml" Id="Rcec350c6edf8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c428674bb4d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014dfd00444c7" /><Relationship Type="http://schemas.openxmlformats.org/officeDocument/2006/relationships/notesMaster" Target="/ppt/notesMasters/notesMaster1.xml" Id="Rdb1d83ebae32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9bb0ae222c42f1" /><Relationship Type="http://schemas.openxmlformats.org/officeDocument/2006/relationships/notesMaster" Target="/ppt/notesMasters/notesMaster1.xml" Id="R215361dda39c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4128b655f04379" /><Relationship Type="http://schemas.openxmlformats.org/officeDocument/2006/relationships/notesMaster" Target="/ppt/notesMasters/notesMaster1.xml" Id="Rd0f8960f0cc846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4af572daf4e7b" /><Relationship Type="http://schemas.openxmlformats.org/officeDocument/2006/relationships/notesMaster" Target="/ppt/notesMasters/notesMaster1.xml" Id="Rf679a88ef2ed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5e4b785a3e460c" /><Relationship Type="http://schemas.openxmlformats.org/officeDocument/2006/relationships/notesMaster" Target="/ppt/notesMasters/notesMaster1.xml" Id="R4662ff9f40114b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368800cbe94d24" /><Relationship Type="http://schemas.openxmlformats.org/officeDocument/2006/relationships/notesMaster" Target="/ppt/notesMasters/notesMaster1.xml" Id="R1172f46fd5194a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3e806ba0044a1" /><Relationship Type="http://schemas.openxmlformats.org/officeDocument/2006/relationships/notesMaster" Target="/ppt/notesMasters/notesMaster1.xml" Id="R3ce9aaf9a1254b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85b2f93ac4db5" /><Relationship Type="http://schemas.openxmlformats.org/officeDocument/2006/relationships/notesMaster" Target="/ppt/notesMasters/notesMaster1.xml" Id="R2fe368c5fb244d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e5c91d92a04066" /><Relationship Type="http://schemas.openxmlformats.org/officeDocument/2006/relationships/notesMaster" Target="/ppt/notesMasters/notesMaster1.xml" Id="Ra9d59aa2ea57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30204732854c9e" /><Relationship Type="http://schemas.openxmlformats.org/officeDocument/2006/relationships/notesMaster" Target="/ppt/notesMasters/notesMaster1.xml" Id="R740f9d2cc0c746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277cd210946b4" /><Relationship Type="http://schemas.openxmlformats.org/officeDocument/2006/relationships/notesMaster" Target="/ppt/notesMasters/notesMaster1.xml" Id="Ra22565db64a84a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bfaad833c84f45" /><Relationship Type="http://schemas.openxmlformats.org/officeDocument/2006/relationships/notesMaster" Target="/ppt/notesMasters/notesMaster1.xml" Id="R05939a9306154d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c242c6989548c9" /><Relationship Type="http://schemas.openxmlformats.org/officeDocument/2006/relationships/notesMaster" Target="/ppt/notesMasters/notesMaster1.xml" Id="Ree9fb3fd4f954b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d0bd731bf84136" /><Relationship Type="http://schemas.openxmlformats.org/officeDocument/2006/relationships/notesMaster" Target="/ppt/notesMasters/notesMaster1.xml" Id="R6c83b6815d6244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cb5cf5a3ca4220" /><Relationship Type="http://schemas.openxmlformats.org/officeDocument/2006/relationships/notesMaster" Target="/ppt/notesMasters/notesMaster1.xml" Id="R000bc6a16cb1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an evidence-bounded progress report, not a results-release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evidence: RESULTS_STATUS.md; MAIN_MANUSCRIPT.md; METHODS_SUPPORTING_INFORMATION.md.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annual precipitation totals are included, but are not assumed to be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framing: manuscript/MAIN_MANUSCRIPT.md, Sections 1–2.</a:t>
            </a:r>
          </a:p>
          <a:p xmlns:a="http://schemas.openxmlformats.org/drawingml/2006/main">
            <a:r>
              <a:t>- User-approved scope recorded in project design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design is the central double-counting safeguard.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 and tests: src/AgricultureReplacementHarness.jl; test/runtests.jl.</a:t>
            </a:r>
          </a:p>
          <a:p xmlns:a="http://schemas.openxmlformats.org/drawingml/2006/main">
            <a:r>
              <a:t>- Local Methods SI: Section S7, Model integration and SCC.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arrow is structurally implemented but not empirically populated.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code: scripts/, src/, test/.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GDHY data: https://doi.org/10.1038/s41597-020-0433-7</a:t>
            </a:r>
          </a:p>
          <a:p xmlns:a="http://schemas.openxmlformats.org/drawingml/2006/main">
            <a:r>
              <a:t>- GGCMI Phase 3: https://doi.org/10.5194/gmd-16-6745-2023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quantities reflect the local project state as of 24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CRU drought data: https://crudata.uea.ac.uk/cru/data/drought/</a:t>
            </a:r>
          </a:p>
          <a:p xmlns:a="http://schemas.openxmlformats.org/drawingml/2006/main">
            <a:r>
              <a:t>- USDA NASS bulk datasets: https://www.nass.usda.gov/datasets/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production specification will use licensed crop-specific phenology if a globally consistent source passes the data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Methods SI: Sections S3–S4.</a:t>
            </a:r>
          </a:p>
          <a:p xmlns:a="http://schemas.openxmlformats.org/drawingml/2006/main">
            <a:r>
              <a:t>- Local executable feature builders and reconciliation tests under scripts/.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workflow and support diagnostics, not a statement of global production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six-crop rainfed panel rows.</a:t>
            </a:r>
          </a:p>
          <a:p xmlns:a="http://schemas.openxmlformats.org/drawingml/2006/main">
            <a:r>
              <a:t>- Local artifact: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causal or SCC interpretation is permitted from these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evaluation specification: config/response_evaluation_spec.toml.</a:t>
            </a:r>
          </a:p>
          <a:p xmlns:a="http://schemas.openxmlformats.org/drawingml/2006/main">
            <a:r>
              <a:t>- Local validation code: scripts/evaluate_crop_response_models.py and scripts/validate_response_evaluation_audit.py.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18 comparisons equal six crop-season labels × three holdout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- Local claim ledger: RESULTS_STATUS.md, completed empirical checks.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‘Stage’ denotes the three-window timing proxy plus temperature; ‘Season joint’ uses seasonal precipitation plus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RMSE is better. The y-axis is deliberately truncated to show the small differences; the values are predictive, not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summaries: outputs/multicrop_noirr_1982_1989_response_summary.json and outputs/mai_noirr_1992_2000_response_summary.json.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CRU scPDSI is a historical benchmark only and will not be substituted for future climate-driven drought.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historical crop-stage scPDSI path.</a:t>
            </a:r>
          </a:p>
          <a:p xmlns:a="http://schemas.openxmlformats.org/drawingml/2006/main">
            <a:r>
              <a:t>- CRU source: https://crudata.uea.ac.uk/cru/data/drought/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archived control passes under Julia 1.6.4 x86_64/Rosetta; native Apple-silicon execution is blocked before the harness by an archived Electron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integration harness: scripts/test_give_replacement_harness.jl.</a:t>
            </a:r>
          </a:p>
          <a:p xmlns:a="http://schemas.openxmlformats.org/drawingml/2006/main">
            <a:r>
              <a:t>- Local claim ledger: RESULTS_STATUS.md, full-GIVE replacement execution gate.</a:t>
            </a:r>
          </a:p>
          <a:p xmlns:a="http://schemas.openxmlformats.org/drawingml/2006/main">
            <a:r>
              <a:t>- Runtime documentation: REPOSITORY.md.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precipitation track remains the priority; secondary tracks should not delay its empirical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repositories: precipitation_scc, ocean_fisheries_scc, biodiversity_scc.</a:t>
            </a:r>
          </a:p>
          <a:p xmlns:a="http://schemas.openxmlformats.org/drawingml/2006/main">
            <a:r>
              <a:t>- Local repository status and model contracts as of 25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reinforcing that the project is progressing through explicit scientific gates rather than producing an early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local evidence in RESULTS_STATUS.md and manuscript/MAIN_MANUSCRIPT.md.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72d062b3848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6aac5bee914ce4" /><Relationship Type="http://schemas.openxmlformats.org/officeDocument/2006/relationships/slideLayout" Target="/ppt/slideLayouts/slideLayout1.xml" Id="Rc83b49f327d3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b49f327d3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35fb10cc14389" /><Relationship Type="http://schemas.openxmlformats.org/officeDocument/2006/relationships/notesSlide" Target="/ppt/notesSlides/notesSlide1.xml" Id="R9aff7dca09e34a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50c20598f45ef" /><Relationship Type="http://schemas.openxmlformats.org/officeDocument/2006/relationships/notesSlide" Target="/ppt/notesSlides/notesSlide2.xml" Id="R303c4c22616a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817bd878e4c5f" /><Relationship Type="http://schemas.openxmlformats.org/officeDocument/2006/relationships/notesSlide" Target="/ppt/notesSlides/notesSlide3.xml" Id="R73acbfbb8449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cad70e810463d" /><Relationship Type="http://schemas.openxmlformats.org/officeDocument/2006/relationships/notesSlide" Target="/ppt/notesSlides/notesSlide4.xml" Id="R1406ad62944746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0c6b23fc64d4e" /><Relationship Type="http://schemas.openxmlformats.org/officeDocument/2006/relationships/notesSlide" Target="/ppt/notesSlides/notesSlide5.xml" Id="Ra56c52a6d85248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78675a40443dd" /><Relationship Type="http://schemas.openxmlformats.org/officeDocument/2006/relationships/notesSlide" Target="/ppt/notesSlides/notesSlide6.xml" Id="R776b37f9b8d34d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5e276e2b946f8" /><Relationship Type="http://schemas.openxmlformats.org/officeDocument/2006/relationships/chart" Target="/ppt/slides/charts/chart1.xml" Id="Rc58b099041a44a42" /><Relationship Type="http://schemas.openxmlformats.org/officeDocument/2006/relationships/notesSlide" Target="/ppt/notesSlides/notesSlide7.xml" Id="Ra99ddd32576249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81e3a4a1c4d52" /><Relationship Type="http://schemas.openxmlformats.org/officeDocument/2006/relationships/notesSlide" Target="/ppt/notesSlides/notesSlide8.xml" Id="Rd5a2e289aa0e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0e436440444a" /><Relationship Type="http://schemas.openxmlformats.org/officeDocument/2006/relationships/chart" Target="/ppt/slides/charts/chart2.xml" Id="R43f42c9e67b04828" /><Relationship Type="http://schemas.openxmlformats.org/officeDocument/2006/relationships/notesSlide" Target="/ppt/notesSlides/notesSlide9.xml" Id="R9b024039160340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6713c0ae54231" /><Relationship Type="http://schemas.openxmlformats.org/officeDocument/2006/relationships/notesSlide" Target="/ppt/notesSlides/notesSlide10.xml" Id="Ra6fe9566b0cb44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23f7bca05453a" /><Relationship Type="http://schemas.openxmlformats.org/officeDocument/2006/relationships/chart" Target="/ppt/slides/charts/chart3.xml" Id="R7988be23ada24391" /><Relationship Type="http://schemas.openxmlformats.org/officeDocument/2006/relationships/notesSlide" Target="/ppt/notesSlides/notesSlide11.xml" Id="R3fd62494fc8b44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5e430cf694918" /><Relationship Type="http://schemas.openxmlformats.org/officeDocument/2006/relationships/notesSlide" Target="/ppt/notesSlides/notesSlide12.xml" Id="R1515c15b17624d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7b1fd6d204f41" /><Relationship Type="http://schemas.openxmlformats.org/officeDocument/2006/relationships/notesSlide" Target="/ppt/notesSlides/notesSlide13.xml" Id="Rd629630224634d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de3f8913d4638" /><Relationship Type="http://schemas.openxmlformats.org/officeDocument/2006/relationships/notesSlide" Target="/ppt/notesSlides/notesSlide14.xml" Id="R141ecabceb1349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c3d84e7c14c20" /><Relationship Type="http://schemas.openxmlformats.org/officeDocument/2006/relationships/notesSlide" Target="/ppt/notesSlides/notesSlide15.xml" Id="R635482c8995e4b0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Crop-years in sample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Maize</c:v>
              </c:pt>
              <c:pt idx="1">
                <c:v>Rice 1</c:v>
              </c:pt>
              <c:pt idx="2">
                <c:v>Winter wheat</c:v>
              </c:pt>
              <c:pt idx="3">
                <c:v>Soybean</c:v>
              </c:pt>
              <c:pt idx="4">
                <c:v>Spring wheat</c:v>
              </c:pt>
              <c:pt idx="5">
                <c:v>Rice 2</c:v>
              </c:pt>
            </c:strLit>
          </c:cat>
          <c:val>
            <c:numLit>
              <c:formatCode>General</c:formatCode>
              <c:ptCount val="6"/>
              <c:pt idx="0">
                <c:v>120325</c:v>
              </c:pt>
              <c:pt idx="1">
                <c:v>76348</c:v>
              </c:pt>
              <c:pt idx="2">
                <c:v>68778</c:v>
              </c:pt>
              <c:pt idx="3">
                <c:v>48900</c:v>
              </c:pt>
              <c:pt idx="4">
                <c:v>40977</c:v>
              </c:pt>
              <c:pt idx="5">
                <c:v>12694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Tests with lowest prediction error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9C5E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3"/>
              <c:pt idx="0">
                <c:v>Rainfall timing + temperature</c:v>
              </c:pt>
              <c:pt idx="1">
                <c:v>Whole-season rain + temperature</c:v>
              </c:pt>
              <c:pt idx="2">
                <c:v>Whole-season rain only</c:v>
              </c:pt>
            </c:strLit>
          </c:cat>
          <c:val>
            <c:numLit>
              <c:formatCode>General</c:formatCode>
              <c:ptCount val="3"/>
              <c:pt idx="0">
                <c:v>11</c:v>
              </c:pt>
              <c:pt idx="1">
                <c:v>5</c:v>
              </c:pt>
              <c:pt idx="2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Rainfall timing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0.29449</c:v>
              </c:pt>
              <c:pt idx="1">
                <c:v>0.30817</c:v>
              </c:pt>
              <c:pt idx="2">
                <c:v>0.29922</c:v>
              </c:pt>
              <c:pt idx="3">
                <c:v>0.32727</c:v>
              </c:pt>
              <c:pt idx="4">
                <c:v>0.28817</c:v>
              </c:pt>
              <c:pt idx="5">
                <c:v>0.32279</c:v>
              </c:pt>
            </c:numLit>
          </c:val>
        </c:ser>
        <c:ser>
          <c:idx val="1"/>
          <c:order val="1"/>
          <c:tx>
            <c:v>Whole-season rain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0.30367</c:v>
              </c:pt>
              <c:pt idx="1">
                <c:v>0.31699</c:v>
              </c:pt>
              <c:pt idx="2">
                <c:v>0.31136</c:v>
              </c:pt>
              <c:pt idx="3">
                <c:v>0.32956</c:v>
              </c:pt>
              <c:pt idx="4">
                <c:v>0.28364</c:v>
              </c:pt>
              <c:pt idx="5">
                <c:v>0.32669</c:v>
              </c:pt>
            </c:numLit>
          </c:val>
        </c:ser>
        <c:ser>
          <c:idx val="2"/>
          <c:order val="2"/>
          <c:tx>
            <c:v>No-change guess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0.31029</c:v>
              </c:pt>
              <c:pt idx="1">
                <c:v>0.32769</c:v>
              </c:pt>
              <c:pt idx="2">
                <c:v>0.31634</c:v>
              </c:pt>
              <c:pt idx="3">
                <c:v>0.33483</c:v>
              </c:pt>
              <c:pt idx="4">
                <c:v>0.28826</c:v>
              </c:pt>
              <c:pt idx="5">
                <c:v>0.32656</c:v>
              </c:pt>
            </c:numLit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.2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670"/>
                    </a:solidFill>
                  </a:rPr>
                  <a:t>Prediction error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670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670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D8BD72C-48C2-4607-AC45-2F27326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0AC8DD-91AE-4D66-BD9A-98C9557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GIVE AGRICULTURE EXTENSION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87C2A4-802B-4731-BB5F-5754F4E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Adding rainfall-related crop damages to GIVE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45A970-9E35-4A34-9F2D-36EB651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Goal: update the social cost of carbon by including climate-driven changes in rainfall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BB86-DB3F-40C8-8E09-5ABEA2A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5809A493-3F7A-49AD-A63A-3B76CB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progress • 25 August 2026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2C486D1-6ED9-4C0E-9D77-65704DF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Work in progress—no final damage or SCC estimate yet</a:t>
            </a:r>
          </a:p>
        </p:txBody>
      </p:sp>
    </p:spTree>
    <p:extLst>
      <p:ext uri="{BB962C8B-B14F-4D97-AF65-F5344CB8AC3E}">
        <p14:creationId xmlns:p14="http://schemas.microsoft.com/office/powerpoint/2010/main" val="1017450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3C0F0CDB-A912-4CEE-B507-D719754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Project goal: trace rainfall changes to the SCC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34EA574D-3E0B-4509-8242-A9E783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q-lead">
            <a:extLst xmlns:a="http://schemas.openxmlformats.org/drawingml/2006/main">
              <a:ext uri="{FF2B5EF4-FFF2-40B4-BE49-F238E27FC236}">
                <a16:creationId xmlns:a16="http://schemas.microsoft.com/office/drawing/2014/main" id="{84E30137-8D07-4D83-A78F-41530C30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Overall goal</a:t>
            </a:r>
          </a:p>
        </p:txBody>
      </p:sp>
      <p:sp>
        <p:nvSpPr>
          <p:cNvPr id="4" name="q-main">
            <a:extLst xmlns:a="http://schemas.openxmlformats.org/drawingml/2006/main">
              <a:ext uri="{FF2B5EF4-FFF2-40B4-BE49-F238E27FC236}">
                <a16:creationId xmlns:a16="http://schemas.microsoft.com/office/drawing/2014/main" id="{AD629A52-49E1-46EB-9AA8-F4286C9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95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Link climate-driven rainfall changes to crop-yield losses and then to the social cost of carbon.</a:t>
            </a:r>
          </a:p>
        </p:txBody>
      </p:sp>
      <p:sp>
        <p:nvSpPr>
          <p:cNvPr id="5" name="q-panel">
            <a:extLst xmlns:a="http://schemas.openxmlformats.org/drawingml/2006/main">
              <a:ext uri="{FF2B5EF4-FFF2-40B4-BE49-F238E27FC236}">
                <a16:creationId xmlns:a16="http://schemas.microsoft.com/office/drawing/2014/main" id="{2089F1B0-0A3B-4198-AF28-1C9710F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714750" cy="4000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-panel-title">
            <a:extLst xmlns:a="http://schemas.openxmlformats.org/drawingml/2006/main">
              <a:ext uri="{FF2B5EF4-FFF2-40B4-BE49-F238E27FC236}">
                <a16:creationId xmlns:a16="http://schemas.microsoft.com/office/drawing/2014/main" id="{9F7B3F59-B3BD-46BC-A46F-79C97CB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linked questions</a:t>
            </a:r>
          </a:p>
        </p:txBody>
      </p:sp>
      <p:sp>
        <p:nvSpPr>
          <p:cNvPr id="7" name="q-bullets">
            <a:extLst xmlns:a="http://schemas.openxmlformats.org/drawingml/2006/main">
              <a:ext uri="{FF2B5EF4-FFF2-40B4-BE49-F238E27FC236}">
                <a16:creationId xmlns:a16="http://schemas.microsoft.com/office/drawing/2014/main" id="{E161777C-4A15-4733-A395-39FA4C4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00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does climate change alter total rainfall?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does it alter timing, dry spells, and heavy rain?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 those changes affect crop yields?</a:t>
            </a:r>
          </a:p>
        </p:txBody>
      </p:sp>
      <p:sp>
        <p:nvSpPr>
          <p:cNvPr id="8" name="q-scope">
            <a:extLst xmlns:a="http://schemas.openxmlformats.org/drawingml/2006/main">
              <a:ext uri="{FF2B5EF4-FFF2-40B4-BE49-F238E27FC236}">
                <a16:creationId xmlns:a16="http://schemas.microsoft.com/office/drawing/2014/main" id="{5F6710FD-1041-4FC0-8D58-45A792A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Primary study: global agriculture. Detailed check: rainfed U.S. county crops.</a:t>
            </a:r>
          </a:p>
        </p:txBody>
      </p:sp>
    </p:spTree>
    <p:extLst>
      <p:ext uri="{BB962C8B-B14F-4D97-AF65-F5344CB8AC3E}">
        <p14:creationId xmlns:p14="http://schemas.microsoft.com/office/powerpoint/2010/main" val="84741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F46D9C75-7B2C-497C-991E-26DB669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Accounting goal: replace GIVE agriculture damages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4C86A0A-8996-4ACC-99CE-6B2B040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boundary-left-title">
            <a:extLst xmlns:a="http://schemas.openxmlformats.org/drawingml/2006/main">
              <a:ext uri="{FF2B5EF4-FFF2-40B4-BE49-F238E27FC236}">
                <a16:creationId xmlns:a16="http://schemas.microsoft.com/office/drawing/2014/main" id="{F4FD5D71-3103-4EE8-817C-29DE1E0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Current GIVE</a:t>
            </a:r>
          </a:p>
        </p:txBody>
      </p:sp>
      <p:sp>
        <p:nvSpPr>
          <p:cNvPr id="4" name="legacy">
            <a:extLst xmlns:a="http://schemas.openxmlformats.org/drawingml/2006/main">
              <a:ext uri="{FF2B5EF4-FFF2-40B4-BE49-F238E27FC236}">
                <a16:creationId xmlns:a16="http://schemas.microsoft.com/office/drawing/2014/main" id="{59B4DA6D-4CDC-4E25-BC94-3EAE2F9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gacy-text">
            <a:extLst xmlns:a="http://schemas.openxmlformats.org/drawingml/2006/main">
              <a:ext uri="{FF2B5EF4-FFF2-40B4-BE49-F238E27FC236}">
                <a16:creationId xmlns:a16="http://schemas.microsoft.com/office/drawing/2014/main" id="{E4CE9A68-F2A3-4041-9F1F-9073A1A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agriculture damages</a:t>
            </a:r>
          </a:p>
        </p:txBody>
      </p:sp>
      <p:sp>
        <p:nvSpPr>
          <p:cNvPr id="6" name="replace-symbol">
            <a:extLst xmlns:a="http://schemas.openxmlformats.org/drawingml/2006/main">
              <a:ext uri="{FF2B5EF4-FFF2-40B4-BE49-F238E27FC236}">
                <a16:creationId xmlns:a16="http://schemas.microsoft.com/office/drawing/2014/main" id="{C5CF333B-1343-4F5F-B4CA-802B440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joint">
            <a:extLst xmlns:a="http://schemas.openxmlformats.org/drawingml/2006/main">
              <a:ext uri="{FF2B5EF4-FFF2-40B4-BE49-F238E27FC236}">
                <a16:creationId xmlns:a16="http://schemas.microsoft.com/office/drawing/2014/main" id="{53A7C85D-1B3A-44E9-BD24-50CB07B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5276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joint-text">
            <a:extLst xmlns:a="http://schemas.openxmlformats.org/drawingml/2006/main">
              <a:ext uri="{FF2B5EF4-FFF2-40B4-BE49-F238E27FC236}">
                <a16:creationId xmlns:a16="http://schemas.microsoft.com/office/drawing/2014/main" id="{5AB64FC6-03A7-4E9B-969E-A7B2ACF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2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+ temperature crop damages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crops, one combined estimate</a:t>
            </a:r>
          </a:p>
        </p:txBody>
      </p:sp>
      <p:sp>
        <p:nvSpPr>
          <p:cNvPr id="9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F21BFEED-3949-4AE7-BD88-98BDB1B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8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Rules that prevent double counting</a:t>
            </a:r>
          </a:p>
        </p:txBody>
      </p:sp>
      <p:sp>
        <p:nvSpPr>
          <p:cNvPr id="10" name="boundary-bullets">
            <a:extLst xmlns:a="http://schemas.openxmlformats.org/drawingml/2006/main">
              <a:ext uri="{FF2B5EF4-FFF2-40B4-BE49-F238E27FC236}">
                <a16:creationId xmlns:a16="http://schemas.microsoft.com/office/drawing/2014/main" id="{53DC2B07-02D5-4D68-B090-61FF08D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Replace—not stack—agriculture damage functions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Count each crop loss once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Leave coastal flooding in GIVE’s coastal sector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Add inland infrastructure only in a future module</a:t>
            </a:r>
          </a:p>
        </p:txBody>
      </p:sp>
    </p:spTree>
    <p:extLst>
      <p:ext uri="{BB962C8B-B14F-4D97-AF65-F5344CB8AC3E}">
        <p14:creationId xmlns:p14="http://schemas.microsoft.com/office/powerpoint/2010/main" val="1957173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4">
            <a:extLst xmlns:a="http://schemas.openxmlformats.org/drawingml/2006/main">
              <a:ext uri="{FF2B5EF4-FFF2-40B4-BE49-F238E27FC236}">
                <a16:creationId xmlns:a16="http://schemas.microsoft.com/office/drawing/2014/main" id="{39E047BF-8FC6-423B-89D1-F64851E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Methods: five steps from climate change to the SCC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5F581EF-4E62-4F47-940D-2A6033A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pipe-arrow-0">
            <a:extLst xmlns:a="http://schemas.openxmlformats.org/drawingml/2006/main">
              <a:ext uri="{FF2B5EF4-FFF2-40B4-BE49-F238E27FC236}">
                <a16:creationId xmlns:a16="http://schemas.microsoft.com/office/drawing/2014/main" id="{7428D7D8-FB55-4815-85FE-C790571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pipe-arrow-1">
            <a:extLst xmlns:a="http://schemas.openxmlformats.org/drawingml/2006/main">
              <a:ext uri="{FF2B5EF4-FFF2-40B4-BE49-F238E27FC236}">
                <a16:creationId xmlns:a16="http://schemas.microsoft.com/office/drawing/2014/main" id="{23E15FCD-961B-4FD5-8018-CE5621A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pipe-arrow-2">
            <a:extLst xmlns:a="http://schemas.openxmlformats.org/drawingml/2006/main">
              <a:ext uri="{FF2B5EF4-FFF2-40B4-BE49-F238E27FC236}">
                <a16:creationId xmlns:a16="http://schemas.microsoft.com/office/drawing/2014/main" id="{F52C4501-6B7D-4A67-84CD-0BF1BE7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pipe-arrow-3">
            <a:extLst xmlns:a="http://schemas.openxmlformats.org/drawingml/2006/main">
              <a:ext uri="{FF2B5EF4-FFF2-40B4-BE49-F238E27FC236}">
                <a16:creationId xmlns:a16="http://schemas.microsoft.com/office/drawing/2014/main" id="{C6B0F443-E27B-4978-915B-B8AEAA0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pipe-0">
            <a:extLst xmlns:a="http://schemas.openxmlformats.org/drawingml/2006/main">
              <a:ext uri="{FF2B5EF4-FFF2-40B4-BE49-F238E27FC236}">
                <a16:creationId xmlns:a16="http://schemas.microsoft.com/office/drawing/2014/main" id="{FCB48B7F-AF79-4698-8FE3-9822FEF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-num-0">
            <a:extLst xmlns:a="http://schemas.openxmlformats.org/drawingml/2006/main">
              <a:ext uri="{FF2B5EF4-FFF2-40B4-BE49-F238E27FC236}">
                <a16:creationId xmlns:a16="http://schemas.microsoft.com/office/drawing/2014/main" id="{6954B149-B8F9-4E37-B8BB-80121A4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ipe-title-0">
            <a:extLst xmlns:a="http://schemas.openxmlformats.org/drawingml/2006/main">
              <a:ext uri="{FF2B5EF4-FFF2-40B4-BE49-F238E27FC236}">
                <a16:creationId xmlns:a16="http://schemas.microsoft.com/office/drawing/2014/main" id="{8763AE18-8259-4568-B436-621BB44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Climate change</a:t>
            </a:r>
          </a:p>
        </p:txBody>
      </p:sp>
      <p:sp>
        <p:nvSpPr>
          <p:cNvPr id="10" name="pipe-body-0">
            <a:extLst xmlns:a="http://schemas.openxmlformats.org/drawingml/2006/main">
              <a:ext uri="{FF2B5EF4-FFF2-40B4-BE49-F238E27FC236}">
                <a16:creationId xmlns:a16="http://schemas.microsoft.com/office/drawing/2014/main" id="{1D27AB52-6949-475B-B2E4-65F8FF0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Compare daily weather with and without a CO₂ pulse</a:t>
            </a:r>
          </a:p>
        </p:txBody>
      </p:sp>
      <p:sp>
        <p:nvSpPr>
          <p:cNvPr id="11" name="pipe-1">
            <a:extLst xmlns:a="http://schemas.openxmlformats.org/drawingml/2006/main">
              <a:ext uri="{FF2B5EF4-FFF2-40B4-BE49-F238E27FC236}">
                <a16:creationId xmlns:a16="http://schemas.microsoft.com/office/drawing/2014/main" id="{1B068DB5-7B75-48B7-B4A7-E783304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-num-1">
            <a:extLst xmlns:a="http://schemas.openxmlformats.org/drawingml/2006/main">
              <a:ext uri="{FF2B5EF4-FFF2-40B4-BE49-F238E27FC236}">
                <a16:creationId xmlns:a16="http://schemas.microsoft.com/office/drawing/2014/main" id="{A82763EF-9F76-45B3-A011-6A8596F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pipe-title-1">
            <a:extLst xmlns:a="http://schemas.openxmlformats.org/drawingml/2006/main">
              <a:ext uri="{FF2B5EF4-FFF2-40B4-BE49-F238E27FC236}">
                <a16:creationId xmlns:a16="http://schemas.microsoft.com/office/drawing/2014/main" id="{75F04980-2674-4A85-801C-C7FD092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weather</a:t>
            </a:r>
          </a:p>
        </p:txBody>
      </p:sp>
      <p:sp>
        <p:nvSpPr>
          <p:cNvPr id="14" name="pipe-body-1">
            <a:extLst xmlns:a="http://schemas.openxmlformats.org/drawingml/2006/main">
              <a:ext uri="{FF2B5EF4-FFF2-40B4-BE49-F238E27FC236}">
                <a16:creationId xmlns:a16="http://schemas.microsoft.com/office/drawing/2014/main" id="{8EB5A600-CA8C-4BB2-8665-66C7AD4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Measure rain and heat during each crop season</a:t>
            </a:r>
          </a:p>
        </p:txBody>
      </p:sp>
      <p:sp>
        <p:nvSpPr>
          <p:cNvPr id="15" name="pipe-2">
            <a:extLst xmlns:a="http://schemas.openxmlformats.org/drawingml/2006/main">
              <a:ext uri="{FF2B5EF4-FFF2-40B4-BE49-F238E27FC236}">
                <a16:creationId xmlns:a16="http://schemas.microsoft.com/office/drawing/2014/main" id="{C1DA162A-74A3-45DA-9A1F-886D18B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pe-num-2">
            <a:extLst xmlns:a="http://schemas.openxmlformats.org/drawingml/2006/main">
              <a:ext uri="{FF2B5EF4-FFF2-40B4-BE49-F238E27FC236}">
                <a16:creationId xmlns:a16="http://schemas.microsoft.com/office/drawing/2014/main" id="{5FF02E5E-3283-4BCF-A062-216AA3F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ipe-title-2">
            <a:extLst xmlns:a="http://schemas.openxmlformats.org/drawingml/2006/main">
              <a:ext uri="{FF2B5EF4-FFF2-40B4-BE49-F238E27FC236}">
                <a16:creationId xmlns:a16="http://schemas.microsoft.com/office/drawing/2014/main" id="{4465B8BD-45D9-4B2B-8934-3A4AA40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Yield response</a:t>
            </a:r>
          </a:p>
        </p:txBody>
      </p:sp>
      <p:sp>
        <p:nvSpPr>
          <p:cNvPr id="18" name="pipe-body-2">
            <a:extLst xmlns:a="http://schemas.openxmlformats.org/drawingml/2006/main">
              <a:ext uri="{FF2B5EF4-FFF2-40B4-BE49-F238E27FC236}">
                <a16:creationId xmlns:a16="http://schemas.microsoft.com/office/drawing/2014/main" id="{DAEFF9B6-5EF2-45A5-B0C7-AA2F778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Estimate how weather changes crop yields</a:t>
            </a:r>
          </a:p>
        </p:txBody>
      </p:sp>
      <p:sp>
        <p:nvSpPr>
          <p:cNvPr id="19" name="pipe-3">
            <a:extLst xmlns:a="http://schemas.openxmlformats.org/drawingml/2006/main">
              <a:ext uri="{FF2B5EF4-FFF2-40B4-BE49-F238E27FC236}">
                <a16:creationId xmlns:a16="http://schemas.microsoft.com/office/drawing/2014/main" id="{23BDE130-2101-4B24-B51E-E89BA17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pipe-num-3">
            <a:extLst xmlns:a="http://schemas.openxmlformats.org/drawingml/2006/main">
              <a:ext uri="{FF2B5EF4-FFF2-40B4-BE49-F238E27FC236}">
                <a16:creationId xmlns:a16="http://schemas.microsoft.com/office/drawing/2014/main" id="{CE1B98C7-0610-4BC0-9C9B-79D8950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ipe-title-3">
            <a:extLst xmlns:a="http://schemas.openxmlformats.org/drawingml/2006/main">
              <a:ext uri="{FF2B5EF4-FFF2-40B4-BE49-F238E27FC236}">
                <a16:creationId xmlns:a16="http://schemas.microsoft.com/office/drawing/2014/main" id="{BA661B7D-4A95-4D22-8B9A-4A62459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Economic loss</a:t>
            </a:r>
          </a:p>
        </p:txBody>
      </p:sp>
      <p:sp>
        <p:nvSpPr>
          <p:cNvPr id="22" name="pipe-body-3">
            <a:extLst xmlns:a="http://schemas.openxmlformats.org/drawingml/2006/main">
              <a:ext uri="{FF2B5EF4-FFF2-40B4-BE49-F238E27FC236}">
                <a16:creationId xmlns:a16="http://schemas.microsoft.com/office/drawing/2014/main" id="{DDAB00EE-2137-4CA1-9702-7D38926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Convert yield changes to regional dollar losses</a:t>
            </a:r>
          </a:p>
        </p:txBody>
      </p:sp>
      <p:sp>
        <p:nvSpPr>
          <p:cNvPr id="23" name="pipe-4">
            <a:extLst xmlns:a="http://schemas.openxmlformats.org/drawingml/2006/main">
              <a:ext uri="{FF2B5EF4-FFF2-40B4-BE49-F238E27FC236}">
                <a16:creationId xmlns:a16="http://schemas.microsoft.com/office/drawing/2014/main" id="{6F9E2363-D583-42E9-824F-D98F290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pipe-num-4">
            <a:extLst xmlns:a="http://schemas.openxmlformats.org/drawingml/2006/main">
              <a:ext uri="{FF2B5EF4-FFF2-40B4-BE49-F238E27FC236}">
                <a16:creationId xmlns:a16="http://schemas.microsoft.com/office/drawing/2014/main" id="{885A6E68-DD51-4927-A0A1-9741C80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pipe-title-4">
            <a:extLst xmlns:a="http://schemas.openxmlformats.org/drawingml/2006/main">
              <a:ext uri="{FF2B5EF4-FFF2-40B4-BE49-F238E27FC236}">
                <a16:creationId xmlns:a16="http://schemas.microsoft.com/office/drawing/2014/main" id="{9C8594F8-8052-4F30-9E64-4680DE6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Update SCC</a:t>
            </a:r>
          </a:p>
        </p:txBody>
      </p:sp>
      <p:sp>
        <p:nvSpPr>
          <p:cNvPr id="26" name="pipe-body-4">
            <a:extLst xmlns:a="http://schemas.openxmlformats.org/drawingml/2006/main">
              <a:ext uri="{FF2B5EF4-FFF2-40B4-BE49-F238E27FC236}">
                <a16:creationId xmlns:a16="http://schemas.microsoft.com/office/drawing/2014/main" id="{3FACB598-F2F7-4004-BBED-5B12946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Run GIVE and calculate the SCC change</a:t>
            </a:r>
          </a:p>
        </p:txBody>
      </p:sp>
      <p:sp>
        <p:nvSpPr>
          <p:cNvPr id="27" name="pipeline-status">
            <a:extLst xmlns:a="http://schemas.openxmlformats.org/drawingml/2006/main">
              <a:ext uri="{FF2B5EF4-FFF2-40B4-BE49-F238E27FC236}">
                <a16:creationId xmlns:a16="http://schemas.microsoft.com/office/drawing/2014/main" id="{50529993-A44B-4D31-8D20-B4F6F7D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status: historical data and early yield tests exist. Future rainfall changes, final crop effects, monetary losses, and the SCC remain unfinished.</a:t>
            </a:r>
          </a:p>
        </p:txBody>
      </p:sp>
    </p:spTree>
    <p:extLst>
      <p:ext uri="{BB962C8B-B14F-4D97-AF65-F5344CB8AC3E}">
        <p14:creationId xmlns:p14="http://schemas.microsoft.com/office/powerpoint/2010/main" val="4878913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C5083E61-7916-46A3-96CA-B2A7759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1: assemble climate, crop, yield, and drought data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AD5A0B6-72E8-4746-AF05-26C9EAD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m1-box">
            <a:extLst xmlns:a="http://schemas.openxmlformats.org/drawingml/2006/main">
              <a:ext uri="{FF2B5EF4-FFF2-40B4-BE49-F238E27FC236}">
                <a16:creationId xmlns:a16="http://schemas.microsoft.com/office/drawing/2014/main" id="{C59F6BB3-B64D-48EB-8E40-CF4A741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1-accent">
            <a:extLst xmlns:a="http://schemas.openxmlformats.org/drawingml/2006/main">
              <a:ext uri="{FF2B5EF4-FFF2-40B4-BE49-F238E27FC236}">
                <a16:creationId xmlns:a16="http://schemas.microsoft.com/office/drawing/2014/main" id="{9E67A4F3-7909-4CDF-84A4-77BF06D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1-value">
            <a:extLst xmlns:a="http://schemas.openxmlformats.org/drawingml/2006/main">
              <a:ext uri="{FF2B5EF4-FFF2-40B4-BE49-F238E27FC236}">
                <a16:creationId xmlns:a16="http://schemas.microsoft.com/office/drawing/2014/main" id="{3A3B6A85-380E-4363-9B4E-843B9A5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 GB</a:t>
            </a:r>
          </a:p>
        </p:txBody>
      </p:sp>
      <p:sp>
        <p:nvSpPr>
          <p:cNvPr id="6" name="m1-label">
            <a:extLst xmlns:a="http://schemas.openxmlformats.org/drawingml/2006/main">
              <a:ext uri="{FF2B5EF4-FFF2-40B4-BE49-F238E27FC236}">
                <a16:creationId xmlns:a16="http://schemas.microsoft.com/office/drawing/2014/main" id="{C5D25479-08C3-4186-A955-7113B14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Historical weather, crops, yields, and drought</a:t>
            </a:r>
          </a:p>
        </p:txBody>
      </p:sp>
      <p:sp>
        <p:nvSpPr>
          <p:cNvPr id="7" name="m2-box">
            <a:extLst xmlns:a="http://schemas.openxmlformats.org/drawingml/2006/main">
              <a:ext uri="{FF2B5EF4-FFF2-40B4-BE49-F238E27FC236}">
                <a16:creationId xmlns:a16="http://schemas.microsoft.com/office/drawing/2014/main" id="{CAB1F542-56ED-48F5-B2A4-8437926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2-accent">
            <a:extLst xmlns:a="http://schemas.openxmlformats.org/drawingml/2006/main">
              <a:ext uri="{FF2B5EF4-FFF2-40B4-BE49-F238E27FC236}">
                <a16:creationId xmlns:a16="http://schemas.microsoft.com/office/drawing/2014/main" id="{AE6F1BA6-7B58-440A-AA74-1D51C94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2-value">
            <a:extLst xmlns:a="http://schemas.openxmlformats.org/drawingml/2006/main">
              <a:ext uri="{FF2B5EF4-FFF2-40B4-BE49-F238E27FC236}">
                <a16:creationId xmlns:a16="http://schemas.microsoft.com/office/drawing/2014/main" id="{998B7EB9-D0FF-45DA-BB79-C574B9A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1981–2019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7325FEC8-466B-4502-B4C9-052C27D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Daily historical climate now available locally</a:t>
            </a:r>
          </a:p>
        </p:txBody>
      </p:sp>
      <p:sp>
        <p:nvSpPr>
          <p:cNvPr id="11" name="m3-box">
            <a:extLst xmlns:a="http://schemas.openxmlformats.org/drawingml/2006/main">
              <a:ext uri="{FF2B5EF4-FFF2-40B4-BE49-F238E27FC236}">
                <a16:creationId xmlns:a16="http://schemas.microsoft.com/office/drawing/2014/main" id="{DC6EDEC7-1225-43E1-AFEF-52CFAA0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3-accent">
            <a:extLst xmlns:a="http://schemas.openxmlformats.org/drawingml/2006/main">
              <a:ext uri="{FF2B5EF4-FFF2-40B4-BE49-F238E27FC236}">
                <a16:creationId xmlns:a16="http://schemas.microsoft.com/office/drawing/2014/main" id="{44997782-B60A-47AD-9963-7ACA61C4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3-value">
            <a:extLst xmlns:a="http://schemas.openxmlformats.org/drawingml/2006/main">
              <a:ext uri="{FF2B5EF4-FFF2-40B4-BE49-F238E27FC236}">
                <a16:creationId xmlns:a16="http://schemas.microsoft.com/office/drawing/2014/main" id="{5FD9F436-673D-4BEA-B2F5-9B15CF1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4" name="m3-label">
            <a:extLst xmlns:a="http://schemas.openxmlformats.org/drawingml/2006/main">
              <a:ext uri="{FF2B5EF4-FFF2-40B4-BE49-F238E27FC236}">
                <a16:creationId xmlns:a16="http://schemas.microsoft.com/office/drawing/2014/main" id="{455F22CE-9B84-4A75-AC6F-C6A8EB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 calendars: six crops × rainfed and irrigated</a:t>
            </a:r>
          </a:p>
        </p:txBody>
      </p:sp>
      <p:sp>
        <p:nvSpPr>
          <p:cNvPr id="15" name="m4-box">
            <a:extLst xmlns:a="http://schemas.openxmlformats.org/drawingml/2006/main">
              <a:ext uri="{FF2B5EF4-FFF2-40B4-BE49-F238E27FC236}">
                <a16:creationId xmlns:a16="http://schemas.microsoft.com/office/drawing/2014/main" id="{689CF0C2-B2A1-482A-8B45-629C2A2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2800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4-accent">
            <a:extLst xmlns:a="http://schemas.openxmlformats.org/drawingml/2006/main">
              <a:ext uri="{FF2B5EF4-FFF2-40B4-BE49-F238E27FC236}">
                <a16:creationId xmlns:a16="http://schemas.microsoft.com/office/drawing/2014/main" id="{B817A983-DDF5-4E84-B836-09634B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4-value">
            <a:extLst xmlns:a="http://schemas.openxmlformats.org/drawingml/2006/main">
              <a:ext uri="{FF2B5EF4-FFF2-40B4-BE49-F238E27FC236}">
                <a16:creationId xmlns:a16="http://schemas.microsoft.com/office/drawing/2014/main" id="{77894EF5-6FD9-4833-91BE-05902FC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 crops</a:t>
            </a:r>
          </a:p>
        </p:txBody>
      </p:sp>
      <p:sp>
        <p:nvSpPr>
          <p:cNvPr id="18" name="m4-label">
            <a:extLst xmlns:a="http://schemas.openxmlformats.org/drawingml/2006/main">
              <a:ext uri="{FF2B5EF4-FFF2-40B4-BE49-F238E27FC236}">
                <a16:creationId xmlns:a16="http://schemas.microsoft.com/office/drawing/2014/main" id="{22E24EC8-1FE9-47AD-8E0C-1CCCCFC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Maize, soybean, rice, and wheat</a:t>
            </a:r>
          </a:p>
        </p:txBody>
      </p:sp>
      <p:sp>
        <p:nvSpPr>
          <p:cNvPr id="19" name="data-secondary-title">
            <a:extLst xmlns:a="http://schemas.openxmlformats.org/drawingml/2006/main">
              <a:ext uri="{FF2B5EF4-FFF2-40B4-BE49-F238E27FC236}">
                <a16:creationId xmlns:a16="http://schemas.microsoft.com/office/drawing/2014/main" id="{2CDD6605-FCAA-4AF1-95E5-213A01E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Purpose and remaining inputs</a:t>
            </a:r>
          </a:p>
        </p:txBody>
      </p:sp>
      <p:sp>
        <p:nvSpPr>
          <p:cNvPr id="20" name="data-secondary">
            <a:extLst xmlns:a="http://schemas.openxmlformats.org/drawingml/2006/main">
              <a:ext uri="{FF2B5EF4-FFF2-40B4-BE49-F238E27FC236}">
                <a16:creationId xmlns:a16="http://schemas.microsoft.com/office/drawing/2014/main" id="{F61700DA-C37D-4F6D-B864-0EEF5AB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Ready: historical weather, crop calendars, yields, and global drought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Still needed: daily future climate-model projections for the baseline/pulse 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U.S. validation: the county crop archive remains incomplete</a:t>
            </a:r>
          </a:p>
        </p:txBody>
      </p:sp>
    </p:spTree>
    <p:extLst>
      <p:ext uri="{BB962C8B-B14F-4D97-AF65-F5344CB8AC3E}">
        <p14:creationId xmlns:p14="http://schemas.microsoft.com/office/powerpoint/2010/main" val="1782293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B8A24E09-BAF7-4332-94EE-06B8C77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2: measure rainfall quantity and timing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7CE71440-895E-44D7-A5B5-6B64F92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feature-season">
            <a:extLst xmlns:a="http://schemas.openxmlformats.org/drawingml/2006/main">
              <a:ext uri="{FF2B5EF4-FFF2-40B4-BE49-F238E27FC236}">
                <a16:creationId xmlns:a16="http://schemas.microsoft.com/office/drawing/2014/main" id="{B168CF7C-5907-4846-B85C-0009AEF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8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Weather measures for one crop season</a:t>
            </a:r>
          </a:p>
        </p:txBody>
      </p:sp>
      <p:sp>
        <p:nvSpPr>
          <p:cNvPr id="4" name="early">
            <a:extLst xmlns:a="http://schemas.openxmlformats.org/drawingml/2006/main">
              <a:ext uri="{FF2B5EF4-FFF2-40B4-BE49-F238E27FC236}">
                <a16:creationId xmlns:a16="http://schemas.microsoft.com/office/drawing/2014/main" id="{AA79D9CE-961E-403D-8A94-705FC54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dle">
            <a:extLst xmlns:a="http://schemas.openxmlformats.org/drawingml/2006/main">
              <a:ext uri="{FF2B5EF4-FFF2-40B4-BE49-F238E27FC236}">
                <a16:creationId xmlns:a16="http://schemas.microsoft.com/office/drawing/2014/main" id="{CE15D1FD-C311-4825-9C48-1895EF3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te">
            <a:extLst xmlns:a="http://schemas.openxmlformats.org/drawingml/2006/main">
              <a:ext uri="{FF2B5EF4-FFF2-40B4-BE49-F238E27FC236}">
                <a16:creationId xmlns:a16="http://schemas.microsoft.com/office/drawing/2014/main" id="{4E69AA48-266A-46C2-9164-3889CA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arly-label">
            <a:extLst xmlns:a="http://schemas.openxmlformats.org/drawingml/2006/main">
              <a:ext uri="{FF2B5EF4-FFF2-40B4-BE49-F238E27FC236}">
                <a16:creationId xmlns:a16="http://schemas.microsoft.com/office/drawing/2014/main" id="{C3F4B84E-5B73-42F2-87C8-21C59E6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Early part</a:t>
            </a:r>
          </a:p>
        </p:txBody>
      </p:sp>
      <p:sp>
        <p:nvSpPr>
          <p:cNvPr id="8" name="middle-label">
            <a:extLst xmlns:a="http://schemas.openxmlformats.org/drawingml/2006/main">
              <a:ext uri="{FF2B5EF4-FFF2-40B4-BE49-F238E27FC236}">
                <a16:creationId xmlns:a16="http://schemas.microsoft.com/office/drawing/2014/main" id="{46F7E4D7-182F-4D06-8E7C-C6EEA52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Middle part</a:t>
            </a:r>
          </a:p>
        </p:txBody>
      </p:sp>
      <p:sp>
        <p:nvSpPr>
          <p:cNvPr id="9" name="late-label">
            <a:extLst xmlns:a="http://schemas.openxmlformats.org/drawingml/2006/main">
              <a:ext uri="{FF2B5EF4-FFF2-40B4-BE49-F238E27FC236}">
                <a16:creationId xmlns:a16="http://schemas.microsoft.com/office/drawing/2014/main" id="{F22FC034-FDC9-4A94-8C82-E766ECB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 part</a:t>
            </a:r>
          </a:p>
        </p:txBody>
      </p:sp>
      <p:sp>
        <p:nvSpPr>
          <p:cNvPr id="10" name="feature-warning">
            <a:extLst xmlns:a="http://schemas.openxmlformats.org/drawingml/2006/main">
              <a:ext uri="{FF2B5EF4-FFF2-40B4-BE49-F238E27FC236}">
                <a16:creationId xmlns:a16="http://schemas.microsoft.com/office/drawing/2014/main" id="{9FF61988-087F-4735-9B3B-9DEDC0D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Goal: distinguish when rain falls—not only how much falls.</a:t>
            </a:r>
          </a:p>
        </p:txBody>
      </p:sp>
      <p:sp>
        <p:nvSpPr>
          <p:cNvPr id="11" name="feat-0-box">
            <a:extLst xmlns:a="http://schemas.openxmlformats.org/drawingml/2006/main">
              <a:ext uri="{FF2B5EF4-FFF2-40B4-BE49-F238E27FC236}">
                <a16:creationId xmlns:a16="http://schemas.microsoft.com/office/drawing/2014/main" id="{D112B9D8-ADA8-4C70-9F29-EAB2691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-0">
            <a:extLst xmlns:a="http://schemas.openxmlformats.org/drawingml/2006/main">
              <a:ext uri="{FF2B5EF4-FFF2-40B4-BE49-F238E27FC236}">
                <a16:creationId xmlns:a16="http://schemas.microsoft.com/office/drawing/2014/main" id="{B694A146-F75C-4DB5-A774-7527447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Total rainfall</a:t>
            </a:r>
          </a:p>
        </p:txBody>
      </p:sp>
      <p:sp>
        <p:nvSpPr>
          <p:cNvPr id="13" name="feat-1-box">
            <a:extLst xmlns:a="http://schemas.openxmlformats.org/drawingml/2006/main">
              <a:ext uri="{FF2B5EF4-FFF2-40B4-BE49-F238E27FC236}">
                <a16:creationId xmlns:a16="http://schemas.microsoft.com/office/drawing/2014/main" id="{59B9B84E-2A76-4923-BEDF-F288D6A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-1">
            <a:extLst xmlns:a="http://schemas.openxmlformats.org/drawingml/2006/main">
              <a:ext uri="{FF2B5EF4-FFF2-40B4-BE49-F238E27FC236}">
                <a16:creationId xmlns:a16="http://schemas.microsoft.com/office/drawing/2014/main" id="{B95FD67E-2930-4FDF-9C1D-E66E170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Rainy days</a:t>
            </a:r>
          </a:p>
        </p:txBody>
      </p:sp>
      <p:sp>
        <p:nvSpPr>
          <p:cNvPr id="15" name="feat-2-box">
            <a:extLst xmlns:a="http://schemas.openxmlformats.org/drawingml/2006/main">
              <a:ext uri="{FF2B5EF4-FFF2-40B4-BE49-F238E27FC236}">
                <a16:creationId xmlns:a16="http://schemas.microsoft.com/office/drawing/2014/main" id="{BE16780B-37B3-40A9-A34D-A7901A3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-2">
            <a:extLst xmlns:a="http://schemas.openxmlformats.org/drawingml/2006/main">
              <a:ext uri="{FF2B5EF4-FFF2-40B4-BE49-F238E27FC236}">
                <a16:creationId xmlns:a16="http://schemas.microsoft.com/office/drawing/2014/main" id="{E8578114-9097-456D-BF03-3A133EF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Longest dry spell</a:t>
            </a:r>
          </a:p>
        </p:txBody>
      </p:sp>
      <p:sp>
        <p:nvSpPr>
          <p:cNvPr id="17" name="feat-3-box">
            <a:extLst xmlns:a="http://schemas.openxmlformats.org/drawingml/2006/main">
              <a:ext uri="{FF2B5EF4-FFF2-40B4-BE49-F238E27FC236}">
                <a16:creationId xmlns:a16="http://schemas.microsoft.com/office/drawing/2014/main" id="{B850C633-6A7C-4E99-8389-096C3FC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-3">
            <a:extLst xmlns:a="http://schemas.openxmlformats.org/drawingml/2006/main">
              <a:ext uri="{FF2B5EF4-FFF2-40B4-BE49-F238E27FC236}">
                <a16:creationId xmlns:a16="http://schemas.microsoft.com/office/drawing/2014/main" id="{7BA87C70-8D40-4FDE-8759-F82B003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Heaviest rain</a:t>
            </a:r>
          </a:p>
        </p:txBody>
      </p:sp>
      <p:sp>
        <p:nvSpPr>
          <p:cNvPr id="19" name="feat-4-box">
            <a:extLst xmlns:a="http://schemas.openxmlformats.org/drawingml/2006/main">
              <a:ext uri="{FF2B5EF4-FFF2-40B4-BE49-F238E27FC236}">
                <a16:creationId xmlns:a16="http://schemas.microsoft.com/office/drawing/2014/main" id="{6A47FBEF-597C-47B6-B226-4100BAF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eat-4">
            <a:extLst xmlns:a="http://schemas.openxmlformats.org/drawingml/2006/main">
              <a:ext uri="{FF2B5EF4-FFF2-40B4-BE49-F238E27FC236}">
                <a16:creationId xmlns:a16="http://schemas.microsoft.com/office/drawing/2014/main" id="{872AF053-0801-4A42-8D94-F55083C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 by time block</a:t>
            </a:r>
          </a:p>
        </p:txBody>
      </p:sp>
      <p:sp>
        <p:nvSpPr>
          <p:cNvPr id="21" name="feat-5-box">
            <a:extLst xmlns:a="http://schemas.openxmlformats.org/drawingml/2006/main">
              <a:ext uri="{FF2B5EF4-FFF2-40B4-BE49-F238E27FC236}">
                <a16:creationId xmlns:a16="http://schemas.microsoft.com/office/drawing/2014/main" id="{C369612F-634D-49F2-B94A-59B3F4B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t-5">
            <a:extLst xmlns:a="http://schemas.openxmlformats.org/drawingml/2006/main">
              <a:ext uri="{FF2B5EF4-FFF2-40B4-BE49-F238E27FC236}">
                <a16:creationId xmlns:a16="http://schemas.microsoft.com/office/drawing/2014/main" id="{9F4906E8-D1D4-45FF-BC14-76FE646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Heat</a:t>
            </a:r>
          </a:p>
        </p:txBody>
      </p:sp>
      <p:sp>
        <p:nvSpPr>
          <p:cNvPr id="23" name="feat-6-box">
            <a:extLst xmlns:a="http://schemas.openxmlformats.org/drawingml/2006/main">
              <a:ext uri="{FF2B5EF4-FFF2-40B4-BE49-F238E27FC236}">
                <a16:creationId xmlns:a16="http://schemas.microsoft.com/office/drawing/2014/main" id="{42DAA7C7-B1CD-40ED-8676-574B7FB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eat-6">
            <a:extLst xmlns:a="http://schemas.openxmlformats.org/drawingml/2006/main">
              <a:ext uri="{FF2B5EF4-FFF2-40B4-BE49-F238E27FC236}">
                <a16:creationId xmlns:a16="http://schemas.microsoft.com/office/drawing/2014/main" id="{2E40F555-A907-4D91-A808-D0AABD2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Drought index</a:t>
            </a:r>
          </a:p>
        </p:txBody>
      </p:sp>
    </p:spTree>
    <p:extLst>
      <p:ext uri="{BB962C8B-B14F-4D97-AF65-F5344CB8AC3E}">
        <p14:creationId xmlns:p14="http://schemas.microsoft.com/office/powerpoint/2010/main" val="886888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1E39E514-294D-4BD3-AE81-350D58A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2 output: a global dataset covering six crops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7BC5780-A7BE-4999-83DC-B4DD3AB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8b099041a44a42"/>
          </a:graphicData>
        </a:graphic>
      </p:graphicFrame>
      <p:sp>
        <p:nvSpPr>
          <p:cNvPr id="4" name="coverage-box">
            <a:extLst xmlns:a="http://schemas.openxmlformats.org/drawingml/2006/main">
              <a:ext uri="{FF2B5EF4-FFF2-40B4-BE49-F238E27FC236}">
                <a16:creationId xmlns:a16="http://schemas.microsoft.com/office/drawing/2014/main" id="{AB99693F-268A-406D-B774-FCB56A4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age-accent">
            <a:extLst xmlns:a="http://schemas.openxmlformats.org/drawingml/2006/main">
              <a:ext uri="{FF2B5EF4-FFF2-40B4-BE49-F238E27FC236}">
                <a16:creationId xmlns:a16="http://schemas.microsoft.com/office/drawing/2014/main" id="{E0D08EE6-C561-47E6-A816-CE7E5B1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0E4A0977-2BAF-4461-80D7-2C1C62C5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368,022</a:t>
            </a:r>
          </a:p>
        </p:txBody>
      </p:sp>
      <p:sp>
        <p:nvSpPr>
          <p:cNvPr id="7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17622FB3-FC94-43EF-8F7A-9CA568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Crop-year observations across six crops</a:t>
            </a:r>
          </a:p>
        </p:txBody>
      </p:sp>
      <p:sp>
        <p:nvSpPr>
          <p:cNvPr id="8" name="pairs-box">
            <a:extLst xmlns:a="http://schemas.openxmlformats.org/drawingml/2006/main">
              <a:ext uri="{FF2B5EF4-FFF2-40B4-BE49-F238E27FC236}">
                <a16:creationId xmlns:a16="http://schemas.microsoft.com/office/drawing/2014/main" id="{8A3EF317-545E-4B21-B8D4-2E2FBF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rs-accent">
            <a:extLst xmlns:a="http://schemas.openxmlformats.org/drawingml/2006/main">
              <a:ext uri="{FF2B5EF4-FFF2-40B4-BE49-F238E27FC236}">
                <a16:creationId xmlns:a16="http://schemas.microsoft.com/office/drawing/2014/main" id="{90380161-4655-4EFB-B4DC-849DE7B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rs-value">
            <a:extLst xmlns:a="http://schemas.openxmlformats.org/drawingml/2006/main">
              <a:ext uri="{FF2B5EF4-FFF2-40B4-BE49-F238E27FC236}">
                <a16:creationId xmlns:a16="http://schemas.microsoft.com/office/drawing/2014/main" id="{5F2B91BC-B986-4E8A-8A40-2DF524F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321,620</a:t>
            </a:r>
          </a:p>
        </p:txBody>
      </p:sp>
      <p:sp>
        <p:nvSpPr>
          <p:cNvPr id="11" name="pairs-label">
            <a:extLst xmlns:a="http://schemas.openxmlformats.org/drawingml/2006/main">
              <a:ext uri="{FF2B5EF4-FFF2-40B4-BE49-F238E27FC236}">
                <a16:creationId xmlns:a16="http://schemas.microsoft.com/office/drawing/2014/main" id="{AE12781B-8147-4706-8808-DB9E992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Year-to-year changes used in initial tests</a:t>
            </a:r>
          </a:p>
        </p:txBody>
      </p:sp>
    </p:spTree>
    <p:extLst>
      <p:ext uri="{BB962C8B-B14F-4D97-AF65-F5344CB8AC3E}">
        <p14:creationId xmlns:p14="http://schemas.microsoft.com/office/powerpoint/2010/main" val="1950160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9780A77B-092B-4C73-88CB-34A3AD6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3: test crop responses beyond the sample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FE7B16C3-2E9F-4823-9BB3-6870A55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hold-0">
            <a:extLst xmlns:a="http://schemas.openxmlformats.org/drawingml/2006/main">
              <a:ext uri="{FF2B5EF4-FFF2-40B4-BE49-F238E27FC236}">
                <a16:creationId xmlns:a16="http://schemas.microsoft.com/office/drawing/2014/main" id="{BEC836D9-8F6F-416D-808B-CE30BA5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ld-head-0">
            <a:extLst xmlns:a="http://schemas.openxmlformats.org/drawingml/2006/main">
              <a:ext uri="{FF2B5EF4-FFF2-40B4-BE49-F238E27FC236}">
                <a16:creationId xmlns:a16="http://schemas.microsoft.com/office/drawing/2014/main" id="{189A3459-D0AA-42B9-853B-C1A1BCC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places</a:t>
            </a:r>
          </a:p>
        </p:txBody>
      </p:sp>
      <p:sp>
        <p:nvSpPr>
          <p:cNvPr id="5" name="hold-body-0">
            <a:extLst xmlns:a="http://schemas.openxmlformats.org/drawingml/2006/main">
              <a:ext uri="{FF2B5EF4-FFF2-40B4-BE49-F238E27FC236}">
                <a16:creationId xmlns:a16="http://schemas.microsoft.com/office/drawing/2014/main" id="{C168034F-6E30-4E42-A87C-CBD6373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regions not used to estimate the model</a:t>
            </a:r>
          </a:p>
        </p:txBody>
      </p:sp>
      <p:sp>
        <p:nvSpPr>
          <p:cNvPr id="6" name="hold-1">
            <a:extLst xmlns:a="http://schemas.openxmlformats.org/drawingml/2006/main">
              <a:ext uri="{FF2B5EF4-FFF2-40B4-BE49-F238E27FC236}">
                <a16:creationId xmlns:a16="http://schemas.microsoft.com/office/drawing/2014/main" id="{5B4AF69E-11B7-4AEE-B0B2-98CFBD9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hold-head-1">
            <a:extLst xmlns:a="http://schemas.openxmlformats.org/drawingml/2006/main">
              <a:ext uri="{FF2B5EF4-FFF2-40B4-BE49-F238E27FC236}">
                <a16:creationId xmlns:a16="http://schemas.microsoft.com/office/drawing/2014/main" id="{AC124263-3B22-48EE-B141-4BD4FF3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Later years</a:t>
            </a:r>
          </a:p>
        </p:txBody>
      </p:sp>
      <p:sp>
        <p:nvSpPr>
          <p:cNvPr id="8" name="hold-body-1">
            <a:extLst xmlns:a="http://schemas.openxmlformats.org/drawingml/2006/main">
              <a:ext uri="{FF2B5EF4-FFF2-40B4-BE49-F238E27FC236}">
                <a16:creationId xmlns:a16="http://schemas.microsoft.com/office/drawing/2014/main" id="{55BCC65A-3143-4922-9D5B-04AB2C8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years not used to estimate the model</a:t>
            </a:r>
          </a:p>
        </p:txBody>
      </p:sp>
      <p:sp>
        <p:nvSpPr>
          <p:cNvPr id="9" name="hold-2">
            <a:extLst xmlns:a="http://schemas.openxmlformats.org/drawingml/2006/main">
              <a:ext uri="{FF2B5EF4-FFF2-40B4-BE49-F238E27FC236}">
                <a16:creationId xmlns:a16="http://schemas.microsoft.com/office/drawing/2014/main" id="{E332ACD4-F271-4F3D-BBC3-B1F4E7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hold-head-2">
            <a:extLst xmlns:a="http://schemas.openxmlformats.org/drawingml/2006/main">
              <a:ext uri="{FF2B5EF4-FFF2-40B4-BE49-F238E27FC236}">
                <a16:creationId xmlns:a16="http://schemas.microsoft.com/office/drawing/2014/main" id="{10993AB1-7BB9-4B96-9930-918E22E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Weather extremes</a:t>
            </a:r>
          </a:p>
        </p:txBody>
      </p:sp>
      <p:sp>
        <p:nvSpPr>
          <p:cNvPr id="11" name="hold-body-2">
            <a:extLst xmlns:a="http://schemas.openxmlformats.org/drawingml/2006/main">
              <a:ext uri="{FF2B5EF4-FFF2-40B4-BE49-F238E27FC236}">
                <a16:creationId xmlns:a16="http://schemas.microsoft.com/office/drawing/2014/main" id="{EFB6566D-9074-4604-8E05-2E2A8B0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unusually dry or wet years</a:t>
            </a:r>
          </a:p>
        </p:txBody>
      </p:sp>
      <p:sp>
        <p:nvSpPr>
          <p:cNvPr id="12" name="bench-title">
            <a:extLst xmlns:a="http://schemas.openxmlformats.org/drawingml/2006/main">
              <a:ext uri="{FF2B5EF4-FFF2-40B4-BE49-F238E27FC236}">
                <a16:creationId xmlns:a16="http://schemas.microsoft.com/office/drawing/2014/main" id="{390C4B86-3653-40DC-9B9A-E31D8AF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Goal: find a stable response—not one that only fits the original data</a:t>
            </a:r>
          </a:p>
        </p:txBody>
      </p:sp>
      <p:sp>
        <p:nvSpPr>
          <p:cNvPr id="13" name="bench-bullets">
            <a:extLst xmlns:a="http://schemas.openxmlformats.org/drawingml/2006/main">
              <a:ext uri="{FF2B5EF4-FFF2-40B4-BE49-F238E27FC236}">
                <a16:creationId xmlns:a16="http://schemas.microsoft.com/office/drawing/2014/main" id="{9FC21EA7-E11A-48B1-9CBB-C74ABB8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Compare rainfall-total and within-season models</a:t>
            </a:r>
          </a:p>
          <a:p xmlns:a="http://schemas.openxmlformats.org/drawingml/2006/main">
            <a:pPr algn="l"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Require lower error than a no-change prediction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Validation is not proof of causation</a:t>
            </a:r>
          </a:p>
        </p:txBody>
      </p:sp>
    </p:spTree>
    <p:extLst>
      <p:ext uri="{BB962C8B-B14F-4D97-AF65-F5344CB8AC3E}">
        <p14:creationId xmlns:p14="http://schemas.microsoft.com/office/powerpoint/2010/main" val="389497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7D758649-7E7A-4639-BC0E-A7BA562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Preliminary result: timing helped in 11 of 18 tests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D7886FF8-A329-4816-8E61-65925EC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33400" y="1762125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f42c9e67b04828"/>
          </a:graphicData>
        </a:graphic>
      </p:graphicFrame>
      <p:sp>
        <p:nvSpPr>
          <p:cNvPr id="4" name="winner-big">
            <a:extLst xmlns:a="http://schemas.openxmlformats.org/drawingml/2006/main">
              <a:ext uri="{FF2B5EF4-FFF2-40B4-BE49-F238E27FC236}">
                <a16:creationId xmlns:a16="http://schemas.microsoft.com/office/drawing/2014/main" id="{2A796DE5-7420-4A09-8B9D-BBD0B6A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 of 18</a:t>
            </a:r>
          </a:p>
        </p:txBody>
      </p:sp>
      <p:sp>
        <p:nvSpPr>
          <p:cNvPr id="5" name="winner-copy">
            <a:extLst xmlns:a="http://schemas.openxmlformats.org/drawingml/2006/main">
              <a:ext uri="{FF2B5EF4-FFF2-40B4-BE49-F238E27FC236}">
                <a16:creationId xmlns:a16="http://schemas.microsoft.com/office/drawing/2014/main" id="{A53F6582-BF00-4B6F-B2FF-DF58071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crop-by-test comparisons favored timing plus temperature</a:t>
            </a:r>
          </a:p>
        </p:txBody>
      </p:sp>
      <p:sp>
        <p:nvSpPr>
          <p:cNvPr id="6" name="winner-caution">
            <a:extLst xmlns:a="http://schemas.openxmlformats.org/drawingml/2006/main">
              <a:ext uri="{FF2B5EF4-FFF2-40B4-BE49-F238E27FC236}">
                <a16:creationId xmlns:a16="http://schemas.microsoft.com/office/drawing/2014/main" id="{4BE1CF41-2836-401B-916B-2C4D838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Predictive evidence only—not yet a causal crop-damage estimate.</a:t>
            </a:r>
          </a:p>
        </p:txBody>
      </p:sp>
    </p:spTree>
    <p:extLst>
      <p:ext uri="{BB962C8B-B14F-4D97-AF65-F5344CB8AC3E}">
        <p14:creationId xmlns:p14="http://schemas.microsoft.com/office/powerpoint/2010/main" val="1434901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B3B49A23-197F-4CBA-870D-71F33F4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 challenge: rainfall measures differ by crop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F7F0DD62-92B8-4B0D-89AD-E5375C8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762125"/>
                <a:gridCol w="1762125"/>
                <a:gridCol w="180975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places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years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Unusual weather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first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second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clear winner*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Soybean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Spring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Winter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</a:tbl>
          </a:graphicData>
        </a:graphic>
      </p:graphicFrame>
      <p:sp>
        <p:nvSpPr>
          <p:cNvPr id="4" name="matrix-note">
            <a:extLst xmlns:a="http://schemas.openxmlformats.org/drawingml/2006/main">
              <a:ext uri="{FF2B5EF4-FFF2-40B4-BE49-F238E27FC236}">
                <a16:creationId xmlns:a16="http://schemas.microsoft.com/office/drawing/2014/main" id="{51311E80-07BF-44DC-ABE2-E80AD2C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*For second-season rice, no model beat the simple guess in later years.</a:t>
            </a:r>
          </a:p>
        </p:txBody>
      </p:sp>
      <p:sp>
        <p:nvSpPr>
          <p:cNvPr id="5" name="matrix-meaning">
            <a:extLst xmlns:a="http://schemas.openxmlformats.org/drawingml/2006/main">
              <a:ext uri="{FF2B5EF4-FFF2-40B4-BE49-F238E27FC236}">
                <a16:creationId xmlns:a16="http://schemas.microsoft.com/office/drawing/2014/main" id="{D1C5FA59-F83F-454C-8943-032AD27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Goal: choose a crop-specific response family using rules set before the full analysis—not whichever model looks best afterward.</a:t>
            </a:r>
          </a:p>
        </p:txBody>
      </p:sp>
    </p:spTree>
    <p:extLst>
      <p:ext uri="{BB962C8B-B14F-4D97-AF65-F5344CB8AC3E}">
        <p14:creationId xmlns:p14="http://schemas.microsoft.com/office/powerpoint/2010/main" val="135912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1FB0B1B7-E5C5-42B8-897A-C0EF18B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3: check whether maize results persist over time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A00AE2D6-D86D-4F43-95F3-5C99230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88be23ada24391"/>
          </a:graphicData>
        </a:graphic>
      </p:graphicFrame>
      <p:sp>
        <p:nvSpPr>
          <p:cNvPr id="4" name="rep-callout">
            <a:extLst xmlns:a="http://schemas.openxmlformats.org/drawingml/2006/main">
              <a:ext uri="{FF2B5EF4-FFF2-40B4-BE49-F238E27FC236}">
                <a16:creationId xmlns:a16="http://schemas.microsoft.com/office/drawing/2014/main" id="{FD36686C-D078-41C7-A6AF-9FC1078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1982–89</a:t>
            </a:r>
          </a:p>
        </p:txBody>
      </p:sp>
      <p:sp>
        <p:nvSpPr>
          <p:cNvPr id="5" name="rep-one">
            <a:extLst xmlns:a="http://schemas.openxmlformats.org/drawingml/2006/main">
              <a:ext uri="{FF2B5EF4-FFF2-40B4-BE49-F238E27FC236}">
                <a16:creationId xmlns:a16="http://schemas.microsoft.com/office/drawing/2014/main" id="{454360C1-4BE4-46BC-ADCD-70D367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timing won all three validation tests.</a:t>
            </a:r>
          </a:p>
        </p:txBody>
      </p:sp>
      <p:sp>
        <p:nvSpPr>
          <p:cNvPr id="6" name="rep-callout2">
            <a:extLst xmlns:a="http://schemas.openxmlformats.org/drawingml/2006/main">
              <a:ext uri="{FF2B5EF4-FFF2-40B4-BE49-F238E27FC236}">
                <a16:creationId xmlns:a16="http://schemas.microsoft.com/office/drawing/2014/main" id="{9DD3CA07-6E11-487C-B97F-1F6573B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1992–2000</a:t>
            </a:r>
          </a:p>
        </p:txBody>
      </p:sp>
      <p:sp>
        <p:nvSpPr>
          <p:cNvPr id="7" name="rep-two">
            <a:extLst xmlns:a="http://schemas.openxmlformats.org/drawingml/2006/main">
              <a:ext uri="{FF2B5EF4-FFF2-40B4-BE49-F238E27FC236}">
                <a16:creationId xmlns:a16="http://schemas.microsoft.com/office/drawing/2014/main" id="{1FEFE184-00B7-4B31-8F9D-BD1103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2907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Timing won two tests; whole-season rain won the later-years test.</a:t>
            </a:r>
          </a:p>
        </p:txBody>
      </p:sp>
    </p:spTree>
    <p:extLst>
      <p:ext uri="{BB962C8B-B14F-4D97-AF65-F5344CB8AC3E}">
        <p14:creationId xmlns:p14="http://schemas.microsoft.com/office/powerpoint/2010/main" val="14150153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2">
            <a:extLst xmlns:a="http://schemas.openxmlformats.org/drawingml/2006/main">
              <a:ext uri="{FF2B5EF4-FFF2-40B4-BE49-F238E27FC236}">
                <a16:creationId xmlns:a16="http://schemas.microsoft.com/office/drawing/2014/main" id="{F53F2A57-8F32-4EBA-81A4-8A0850E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 extension: add drought to the crop-response model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63F194B4-498A-4FCB-9B87-4076D39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d1-box">
            <a:extLst xmlns:a="http://schemas.openxmlformats.org/drawingml/2006/main">
              <a:ext uri="{FF2B5EF4-FFF2-40B4-BE49-F238E27FC236}">
                <a16:creationId xmlns:a16="http://schemas.microsoft.com/office/drawing/2014/main" id="{7D4C4F9C-332E-4E38-B149-A5D4462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-accent">
            <a:extLst xmlns:a="http://schemas.openxmlformats.org/drawingml/2006/main">
              <a:ext uri="{FF2B5EF4-FFF2-40B4-BE49-F238E27FC236}">
                <a16:creationId xmlns:a16="http://schemas.microsoft.com/office/drawing/2014/main" id="{AEB91005-9908-4F8D-BCA0-1DF84AC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-value">
            <a:extLst xmlns:a="http://schemas.openxmlformats.org/drawingml/2006/main">
              <a:ext uri="{FF2B5EF4-FFF2-40B4-BE49-F238E27FC236}">
                <a16:creationId xmlns:a16="http://schemas.microsoft.com/office/drawing/2014/main" id="{89FD946E-DCE0-4BFC-B13F-C6B3F53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1903–2025</a:t>
            </a:r>
          </a:p>
        </p:txBody>
      </p:sp>
      <p:sp>
        <p:nvSpPr>
          <p:cNvPr id="6" name="d1-label">
            <a:extLst xmlns:a="http://schemas.openxmlformats.org/drawingml/2006/main">
              <a:ext uri="{FF2B5EF4-FFF2-40B4-BE49-F238E27FC236}">
                <a16:creationId xmlns:a16="http://schemas.microsoft.com/office/drawing/2014/main" id="{932C5AC5-7B5E-4515-9DDE-9563E25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Global drought history available for matching</a:t>
            </a:r>
          </a:p>
        </p:txBody>
      </p:sp>
      <p:sp>
        <p:nvSpPr>
          <p:cNvPr id="7" name="d2-box">
            <a:extLst xmlns:a="http://schemas.openxmlformats.org/drawingml/2006/main">
              <a:ext uri="{FF2B5EF4-FFF2-40B4-BE49-F238E27FC236}">
                <a16:creationId xmlns:a16="http://schemas.microsoft.com/office/drawing/2014/main" id="{8837C7E3-5E1A-4654-9B81-F07D7A73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2-accent">
            <a:extLst xmlns:a="http://schemas.openxmlformats.org/drawingml/2006/main">
              <a:ext uri="{FF2B5EF4-FFF2-40B4-BE49-F238E27FC236}">
                <a16:creationId xmlns:a16="http://schemas.microsoft.com/office/drawing/2014/main" id="{327FDF81-CBB6-484E-8125-F91839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2-value">
            <a:extLst xmlns:a="http://schemas.openxmlformats.org/drawingml/2006/main">
              <a:ext uri="{FF2B5EF4-FFF2-40B4-BE49-F238E27FC236}">
                <a16:creationId xmlns:a16="http://schemas.microsoft.com/office/drawing/2014/main" id="{2402E079-9B14-4B9A-BAE2-6AE7AD2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36,183</a:t>
            </a:r>
          </a:p>
        </p:txBody>
      </p:sp>
      <p:sp>
        <p:nvSpPr>
          <p:cNvPr id="10" name="d2-label">
            <a:extLst xmlns:a="http://schemas.openxmlformats.org/drawingml/2006/main">
              <a:ext uri="{FF2B5EF4-FFF2-40B4-BE49-F238E27FC236}">
                <a16:creationId xmlns:a16="http://schemas.microsoft.com/office/drawing/2014/main" id="{4AFA33DD-711D-4BDB-A289-ACD8AFD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Real maize crop-season rows in the first test</a:t>
            </a:r>
          </a:p>
        </p:txBody>
      </p:sp>
      <p:sp>
        <p:nvSpPr>
          <p:cNvPr id="11" name="d3-box">
            <a:extLst xmlns:a="http://schemas.openxmlformats.org/drawingml/2006/main">
              <a:ext uri="{FF2B5EF4-FFF2-40B4-BE49-F238E27FC236}">
                <a16:creationId xmlns:a16="http://schemas.microsoft.com/office/drawing/2014/main" id="{4446971E-4CCE-4063-B768-F62FBB8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3-accent">
            <a:extLst xmlns:a="http://schemas.openxmlformats.org/drawingml/2006/main">
              <a:ext uri="{FF2B5EF4-FFF2-40B4-BE49-F238E27FC236}">
                <a16:creationId xmlns:a16="http://schemas.microsoft.com/office/drawing/2014/main" id="{12C136F9-9B38-4ABF-985A-FF860E7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3-value">
            <a:extLst xmlns:a="http://schemas.openxmlformats.org/drawingml/2006/main">
              <a:ext uri="{FF2B5EF4-FFF2-40B4-BE49-F238E27FC236}">
                <a16:creationId xmlns:a16="http://schemas.microsoft.com/office/drawing/2014/main" id="{AE921B86-C91A-47E0-8405-1857FC9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 parts</a:t>
            </a:r>
          </a:p>
        </p:txBody>
      </p:sp>
      <p:sp>
        <p:nvSpPr>
          <p:cNvPr id="14" name="d3-label">
            <a:extLst xmlns:a="http://schemas.openxmlformats.org/drawingml/2006/main">
              <a:ext uri="{FF2B5EF4-FFF2-40B4-BE49-F238E27FC236}">
                <a16:creationId xmlns:a16="http://schemas.microsoft.com/office/drawing/2014/main" id="{4D5C663E-1B1C-498D-8041-6DD7623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Drought measured in three crop-season time blocks</a:t>
            </a:r>
          </a:p>
        </p:txBody>
      </p:sp>
      <p:sp>
        <p:nvSpPr>
          <p:cNvPr id="15" name="drought-done">
            <a:extLst xmlns:a="http://schemas.openxmlformats.org/drawingml/2006/main">
              <a:ext uri="{FF2B5EF4-FFF2-40B4-BE49-F238E27FC236}">
                <a16:creationId xmlns:a16="http://schemas.microsoft.com/office/drawing/2014/main" id="{1CC57A5E-3F2F-48AE-BFA3-8470214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works now</a:t>
            </a:r>
          </a:p>
        </p:txBody>
      </p:sp>
      <p:sp>
        <p:nvSpPr>
          <p:cNvPr id="16" name="drought-done-copy">
            <a:extLst xmlns:a="http://schemas.openxmlformats.org/drawingml/2006/main">
              <a:ext uri="{FF2B5EF4-FFF2-40B4-BE49-F238E27FC236}">
                <a16:creationId xmlns:a16="http://schemas.microsoft.com/office/drawing/2014/main" id="{D5DFBA39-9995-40E2-94B2-613DA8E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Drought can be matched to each crop’s growing season.</a:t>
            </a:r>
          </a:p>
        </p:txBody>
      </p:sp>
      <p:sp>
        <p:nvSpPr>
          <p:cNvPr id="17" name="drought-open">
            <a:extLst xmlns:a="http://schemas.openxmlformats.org/drawingml/2006/main">
              <a:ext uri="{FF2B5EF4-FFF2-40B4-BE49-F238E27FC236}">
                <a16:creationId xmlns:a16="http://schemas.microsoft.com/office/drawing/2014/main" id="{345708F1-62F4-4F4C-9F9E-C53F520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Goal of this extension</a:t>
            </a:r>
          </a:p>
        </p:txBody>
      </p:sp>
      <p:sp>
        <p:nvSpPr>
          <p:cNvPr id="18" name="drought-open-copy">
            <a:extLst xmlns:a="http://schemas.openxmlformats.org/drawingml/2006/main">
              <a:ext uri="{FF2B5EF4-FFF2-40B4-BE49-F238E27FC236}">
                <a16:creationId xmlns:a16="http://schemas.microsoft.com/office/drawing/2014/main" id="{26025A7B-3ACB-4D24-8B7A-FE9CD85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Test whether drought improves global yield estimates and recompute future drought from climate-model weather.</a:t>
            </a:r>
          </a:p>
        </p:txBody>
      </p:sp>
    </p:spTree>
    <p:extLst>
      <p:ext uri="{BB962C8B-B14F-4D97-AF65-F5344CB8AC3E}">
        <p14:creationId xmlns:p14="http://schemas.microsoft.com/office/powerpoint/2010/main" val="2029040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FFFCE7DC-B55B-4D55-8EDF-035496E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Steps 4–5: convert crop losses to the SCC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B0B2EB79-3732-4220-AE93-A2DE569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int-arrow-0">
            <a:extLst xmlns:a="http://schemas.openxmlformats.org/drawingml/2006/main">
              <a:ext uri="{FF2B5EF4-FFF2-40B4-BE49-F238E27FC236}">
                <a16:creationId xmlns:a16="http://schemas.microsoft.com/office/drawing/2014/main" id="{ABE8C420-E863-46FA-B798-562F34C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int-arrow-1">
            <a:extLst xmlns:a="http://schemas.openxmlformats.org/drawingml/2006/main">
              <a:ext uri="{FF2B5EF4-FFF2-40B4-BE49-F238E27FC236}">
                <a16:creationId xmlns:a16="http://schemas.microsoft.com/office/drawing/2014/main" id="{940D82E6-B65D-4922-AFBD-44D2139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int-arrow-2">
            <a:extLst xmlns:a="http://schemas.openxmlformats.org/drawingml/2006/main">
              <a:ext uri="{FF2B5EF4-FFF2-40B4-BE49-F238E27FC236}">
                <a16:creationId xmlns:a16="http://schemas.microsoft.com/office/drawing/2014/main" id="{57344022-DF59-475D-AD9C-6EC85F0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int-0">
            <a:extLst xmlns:a="http://schemas.openxmlformats.org/drawingml/2006/main">
              <a:ext uri="{FF2B5EF4-FFF2-40B4-BE49-F238E27FC236}">
                <a16:creationId xmlns:a16="http://schemas.microsoft.com/office/drawing/2014/main" id="{9486A9EE-89A6-4F31-94B4-C24E242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t-head-0">
            <a:extLst xmlns:a="http://schemas.openxmlformats.org/drawingml/2006/main">
              <a:ext uri="{FF2B5EF4-FFF2-40B4-BE49-F238E27FC236}">
                <a16:creationId xmlns:a16="http://schemas.microsoft.com/office/drawing/2014/main" id="{DFD04003-42E1-44FD-B572-E3BCAF1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Yield response</a:t>
            </a:r>
          </a:p>
        </p:txBody>
      </p:sp>
      <p:sp>
        <p:nvSpPr>
          <p:cNvPr id="8" name="int-body-0">
            <a:extLst xmlns:a="http://schemas.openxmlformats.org/drawingml/2006/main">
              <a:ext uri="{FF2B5EF4-FFF2-40B4-BE49-F238E27FC236}">
                <a16:creationId xmlns:a16="http://schemas.microsoft.com/office/drawing/2014/main" id="{65941D01-54D1-46A3-8B0F-103C6F1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validated weather effects</a:t>
            </a:r>
          </a:p>
        </p:txBody>
      </p:sp>
      <p:sp>
        <p:nvSpPr>
          <p:cNvPr id="9" name="int-1">
            <a:extLst xmlns:a="http://schemas.openxmlformats.org/drawingml/2006/main">
              <a:ext uri="{FF2B5EF4-FFF2-40B4-BE49-F238E27FC236}">
                <a16:creationId xmlns:a16="http://schemas.microsoft.com/office/drawing/2014/main" id="{BC6E1794-1757-4783-A84E-FDCC1EA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int-head-1">
            <a:extLst xmlns:a="http://schemas.openxmlformats.org/drawingml/2006/main">
              <a:ext uri="{FF2B5EF4-FFF2-40B4-BE49-F238E27FC236}">
                <a16:creationId xmlns:a16="http://schemas.microsoft.com/office/drawing/2014/main" id="{980D7782-C79A-4E94-9E5C-3646F5C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Crop value</a:t>
            </a:r>
          </a:p>
        </p:txBody>
      </p:sp>
      <p:sp>
        <p:nvSpPr>
          <p:cNvPr id="11" name="int-body-1">
            <a:extLst xmlns:a="http://schemas.openxmlformats.org/drawingml/2006/main">
              <a:ext uri="{FF2B5EF4-FFF2-40B4-BE49-F238E27FC236}">
                <a16:creationId xmlns:a16="http://schemas.microsoft.com/office/drawing/2014/main" id="{7F923639-5BFC-4E0D-9237-2084C96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Convert yield change to value loss</a:t>
            </a:r>
          </a:p>
        </p:txBody>
      </p:sp>
      <p:sp>
        <p:nvSpPr>
          <p:cNvPr id="12" name="int-2">
            <a:extLst xmlns:a="http://schemas.openxmlformats.org/drawingml/2006/main">
              <a:ext uri="{FF2B5EF4-FFF2-40B4-BE49-F238E27FC236}">
                <a16:creationId xmlns:a16="http://schemas.microsoft.com/office/drawing/2014/main" id="{2D4454A7-CEB8-46EE-9C5A-700F01A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nt-head-2">
            <a:extLst xmlns:a="http://schemas.openxmlformats.org/drawingml/2006/main">
              <a:ext uri="{FF2B5EF4-FFF2-40B4-BE49-F238E27FC236}">
                <a16:creationId xmlns:a16="http://schemas.microsoft.com/office/drawing/2014/main" id="{FDB1FCAE-5F6C-4A97-9B10-050494F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Regional damage</a:t>
            </a:r>
          </a:p>
        </p:txBody>
      </p:sp>
      <p:sp>
        <p:nvSpPr>
          <p:cNvPr id="14" name="int-body-2">
            <a:extLst xmlns:a="http://schemas.openxmlformats.org/drawingml/2006/main">
              <a:ext uri="{FF2B5EF4-FFF2-40B4-BE49-F238E27FC236}">
                <a16:creationId xmlns:a16="http://schemas.microsoft.com/office/drawing/2014/main" id="{8F06829B-7AC4-4E6F-830E-C1396F3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Aggregate with fixed weights</a:t>
            </a:r>
          </a:p>
        </p:txBody>
      </p:sp>
      <p:sp>
        <p:nvSpPr>
          <p:cNvPr id="15" name="int-3">
            <a:extLst xmlns:a="http://schemas.openxmlformats.org/drawingml/2006/main">
              <a:ext uri="{FF2B5EF4-FFF2-40B4-BE49-F238E27FC236}">
                <a16:creationId xmlns:a16="http://schemas.microsoft.com/office/drawing/2014/main" id="{1CF529AB-A854-4D90-B341-A452E19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int-head-3">
            <a:extLst xmlns:a="http://schemas.openxmlformats.org/drawingml/2006/main">
              <a:ext uri="{FF2B5EF4-FFF2-40B4-BE49-F238E27FC236}">
                <a16:creationId xmlns:a16="http://schemas.microsoft.com/office/drawing/2014/main" id="{DDCBFB7A-0312-4F88-ABF5-FCF1AA6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Update SCC</a:t>
            </a:r>
          </a:p>
        </p:txBody>
      </p:sp>
      <p:sp>
        <p:nvSpPr>
          <p:cNvPr id="17" name="int-body-3">
            <a:extLst xmlns:a="http://schemas.openxmlformats.org/drawingml/2006/main">
              <a:ext uri="{FF2B5EF4-FFF2-40B4-BE49-F238E27FC236}">
                <a16:creationId xmlns:a16="http://schemas.microsoft.com/office/drawing/2014/main" id="{EE277970-A86C-4DB4-8D98-96D9B70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baseline and CO₂-pulse damages</a:t>
            </a:r>
          </a:p>
        </p:txBody>
      </p:sp>
      <p:sp>
        <p:nvSpPr>
          <p:cNvPr id="18" name="int-pass">
            <a:extLst xmlns:a="http://schemas.openxmlformats.org/drawingml/2006/main">
              <a:ext uri="{FF2B5EF4-FFF2-40B4-BE49-F238E27FC236}">
                <a16:creationId xmlns:a16="http://schemas.microsoft.com/office/drawing/2014/main" id="{BF8D0EB5-D4AA-4059-9E37-9557C88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" name="int-pass-copy">
            <a:extLst xmlns:a="http://schemas.openxmlformats.org/drawingml/2006/main">
              <a:ext uri="{FF2B5EF4-FFF2-40B4-BE49-F238E27FC236}">
                <a16:creationId xmlns:a16="http://schemas.microsoft.com/office/drawing/2014/main" id="{79CC55EA-AE28-4F63-AB7A-3219E4B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Technical connection passes: zero crop effects produce zero agriculture damages.</a:t>
            </a:r>
          </a:p>
        </p:txBody>
      </p:sp>
      <p:sp>
        <p:nvSpPr>
          <p:cNvPr id="20" name="int-caveat">
            <a:extLst xmlns:a="http://schemas.openxmlformats.org/drawingml/2006/main">
              <a:ext uri="{FF2B5EF4-FFF2-40B4-BE49-F238E27FC236}">
                <a16:creationId xmlns:a16="http://schemas.microsoft.com/office/drawing/2014/main" id="{FEF0715E-4489-40C2-8E08-8383A0A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Still missing: empirical crop effects, value weights, future rainfall changes, and the SCC run.</a:t>
            </a:r>
          </a:p>
        </p:txBody>
      </p:sp>
    </p:spTree>
    <p:extLst>
      <p:ext uri="{BB962C8B-B14F-4D97-AF65-F5344CB8AC3E}">
        <p14:creationId xmlns:p14="http://schemas.microsoft.com/office/powerpoint/2010/main" val="193084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9A330928-B91D-4FC6-9835-6D20379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Scope: finish precipitation agriculture before other sectors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4EC80062-26AD-4A3C-9353-DB33B98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39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81125"/>
                <a:gridCol w="4619625"/>
                <a:gridCol w="27622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 area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Goal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status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Needed for results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Rainfall and crops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Update the SCC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pipeline + early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Crop effect, future climate, value, SCC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U.S. counties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global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Parser and panel 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NASS + weather and irrigation data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Fisheries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Next damage sector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Accounting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Calibrated global damages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Biodiversity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damage sector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Defensible parameters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portfolio-note">
            <a:extLst xmlns:a="http://schemas.openxmlformats.org/drawingml/2006/main">
              <a:ext uri="{FF2B5EF4-FFF2-40B4-BE49-F238E27FC236}">
                <a16:creationId xmlns:a16="http://schemas.microsoft.com/office/drawing/2014/main" id="{84E615B1-FA83-41C5-A140-D6F5A19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Primary objective: complete the rainfall-to-crop-to-SCC evidence chain before expanding the damage portfolio.</a:t>
            </a:r>
          </a:p>
        </p:txBody>
      </p:sp>
    </p:spTree>
    <p:extLst>
      <p:ext uri="{BB962C8B-B14F-4D97-AF65-F5344CB8AC3E}">
        <p14:creationId xmlns:p14="http://schemas.microsoft.com/office/powerpoint/2010/main" val="14063018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E62E4C7A-D09A-4C9B-A2FC-0CF72F1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D99C5DD-3473-49AF-A0E5-83B468E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PROJECT ROADMAP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0204FF9-1E1D-4266-8242-813B9F2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Goal, current stage, and final deliverable</a:t>
            </a:r>
          </a:p>
        </p:txBody>
      </p:sp>
      <p:sp>
        <p:nvSpPr>
          <p:cNvPr id="4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BB03C8CA-ADE1-4E03-8CB7-5B5EF84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C8CCEFB9-A231-4FEE-8051-E156274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 precipitation-driven agricultural damages to GIVE and update the SCC.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4A0-3C06-4FF9-A106-9D0972C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F720C326-B6C0-4E8C-A86E-13E54F4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72B2CA8B-FA86-4B70-8F87-74B6F1F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Historical data pipeline, initial validation tests, and the GIVE technical connection.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2BD1D-B03C-4840-B677-7E89FB2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852F735D-3954-4765-8E01-CE828C1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11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51BD2D48-8EDF-4BA5-9A2D-19D1122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Longer-period crop responses, drought and heat tests, U.S. validation, and future climate inputs.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65A8-C250-405A-BEFF-51636DA6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close-head-3">
            <a:extLst xmlns:a="http://schemas.openxmlformats.org/drawingml/2006/main">
              <a:ext uri="{FF2B5EF4-FFF2-40B4-BE49-F238E27FC236}">
                <a16:creationId xmlns:a16="http://schemas.microsoft.com/office/drawing/2014/main" id="{84BE8D3B-16C0-457F-BB44-7D119AF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Final deliverable</a:t>
            </a:r>
          </a:p>
        </p:txBody>
      </p:sp>
      <p:sp>
        <p:nvSpPr>
          <p:cNvPr id="14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83FAA283-F1B7-440E-9346-84D0AB6D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Global crop damages and SCC changes under fixed, trend, and upper adaptation.</a:t>
            </a:r>
          </a:p>
        </p:txBody>
      </p:sp>
    </p:spTree>
    <p:extLst>
      <p:ext uri="{BB962C8B-B14F-4D97-AF65-F5344CB8AC3E}">
        <p14:creationId xmlns:p14="http://schemas.microsoft.com/office/powerpoint/2010/main" val="60015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2026-08-25T17:55:01.7840000Z</dcterms:created>
  <dcterms:modified xsi:type="dcterms:W3CDTF">2026-08-25T17:55:01.7840000Z</dcterms:modified>
</coreProperties>
</file>