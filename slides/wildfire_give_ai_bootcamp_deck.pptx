
<file path=[Content_Types].xml><?xml version="1.0" encoding="utf-8"?>
<ns0:Types xmlns:ns0="http://schemas.openxmlformats.org/package/2006/content-types">
  <ns0:Default Extension="xml" ContentType="application/vnd.openxmlformats-package.core-properties+xml"/>
  <ns0:Default Extension="png" ContentType="image/png"/>
  <ns0:Default Extension="rels" ContentType="application/vnd.openxmlformats-package.relationships+xml"/>
  <ns0:Override PartName="/docProps/app.xml" ContentType="application/vnd.openxmlformats-officedocument.extended-properties+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theme/theme1.xml" ContentType="application/vnd.openxmlformats-officedocument.theme+xml"/>
  <ns0:Override PartName="/ppt/notesMasters/notesMaster1.xml" ContentType="application/vnd.openxmlformats-officedocument.presentationml.notesMaster+xml"/>
  <ns0:Override PartName="/ppt/notesMasters/theme/theme2.xml" ContentType="application/vnd.openxmlformats-officedocument.them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ableStyles.xml" ContentType="application/vnd.openxmlformats-officedocument.presentationml.tableStyles+xml"/>
  <ns0:Override PartName="/ppt/slideLayouts/slideLayout2.xml" ContentType="application/vnd.openxmlformats-officedocument.presentationml.slideLayout+xml"/>
  <ns0:Override PartName="/ppt/slides/slide1.xml" ContentType="application/vnd.openxmlformats-officedocument.presentationml.slide+xml"/>
  <ns0:Override PartName="/ppt/notesSlides/notesSlide1.xml" ContentType="application/vnd.openxmlformats-officedocument.presentationml.notesSlide+xml"/>
  <ns0:Override PartName="/ppt/slides/slide2.xml" ContentType="application/vnd.openxmlformats-officedocument.presentationml.slide+xml"/>
  <ns0:Override PartName="/ppt/notesSlides/notesSlide2.xml" ContentType="application/vnd.openxmlformats-officedocument.presentationml.notesSlide+xml"/>
  <ns0:Override PartName="/ppt/slides/slide3.xml" ContentType="application/vnd.openxmlformats-officedocument.presentationml.slide+xml"/>
  <ns0:Override PartName="/ppt/notesSlides/notesSlide3.xml" ContentType="application/vnd.openxmlformats-officedocument.presentationml.notesSlide+xml"/>
  <ns0:Override PartName="/ppt/slides/slide4.xml" ContentType="application/vnd.openxmlformats-officedocument.presentationml.slide+xml"/>
  <ns0:Override PartName="/ppt/notesSlides/notesSlide4.xml" ContentType="application/vnd.openxmlformats-officedocument.presentationml.notesSlide+xml"/>
  <ns0:Override PartName="/ppt/slides/slide5.xml" ContentType="application/vnd.openxmlformats-officedocument.presentationml.slide+xml"/>
  <ns0:Override PartName="/ppt/notesSlides/notesSlide5.xml" ContentType="application/vnd.openxmlformats-officedocument.presentationml.notesSlide+xml"/>
  <ns0:Override PartName="/ppt/slides/slide6.xml" ContentType="application/vnd.openxmlformats-officedocument.presentationml.slide+xml"/>
  <ns0:Override PartName="/ppt/notesSlides/notesSlide6.xml" ContentType="application/vnd.openxmlformats-officedocument.presentationml.notesSlide+xml"/>
  <ns0:Override PartName="/ppt/slides/slide7.xml" ContentType="application/vnd.openxmlformats-officedocument.presentationml.slide+xml"/>
  <ns0:Override PartName="/ppt/notesSlides/notesSlide7.xml" ContentType="application/vnd.openxmlformats-officedocument.presentationml.notesSlide+xml"/>
  <ns0:Override PartName="/ppt/slides/slide8.xml" ContentType="application/vnd.openxmlformats-officedocument.presentationml.slide+xml"/>
  <ns0:Override PartName="/ppt/notesSlides/notesSlide8.xml" ContentType="application/vnd.openxmlformats-officedocument.presentationml.notesSlide+xml"/>
  <ns0:Override PartName="/ppt/slides/slide9.xml" ContentType="application/vnd.openxmlformats-officedocument.presentationml.slide+xml"/>
  <ns0:Override PartName="/ppt/notesSlides/notesSlide9.xml" ContentType="application/vnd.openxmlformats-officedocument.presentationml.notesSlide+xml"/>
  <ns0:Override PartName="/ppt/slides/slide10.xml" ContentType="application/vnd.openxmlformats-officedocument.presentationml.slide+xml"/>
  <ns0:Override PartName="/ppt/notesSlides/notesSlide10.xml" ContentType="application/vnd.openxmlformats-officedocument.presentationml.notesSlide+xml"/>
  <ns0:Override PartName="/ppt/slides/slide11.xml" ContentType="application/vnd.openxmlformats-officedocument.presentationml.slide+xml"/>
  <ns0:Override PartName="/ppt/notesSlides/notesSlide11.xml" ContentType="application/vnd.openxmlformats-officedocument.presentationml.notesSlide+xml"/>
  <ns0:Override PartName="/ppt/slides/slide12.xml" ContentType="application/vnd.openxmlformats-officedocument.presentationml.slide+xml"/>
  <ns0:Override PartName="/ppt/notesSlides/notesSlide12.xml" ContentType="application/vnd.openxmlformats-officedocument.presentationml.notesSlide+xml"/>
  <ns0:Override PartName="/ppt/slides/slide13.xml" ContentType="application/vnd.openxmlformats-officedocument.presentationml.slide+xml"/>
  <ns0:Override PartName="/ppt/notesSlides/notesSlide13.xml" ContentType="application/vnd.openxmlformats-officedocument.presentationml.notesSlide+xml"/>
  <ns0:Override PartName="/ppt/slides/slide14.xml" ContentType="application/vnd.openxmlformats-officedocument.presentationml.slide+xml"/>
  <ns0:Override PartName="/ppt/notesSlides/notesSlide14.xml" ContentType="application/vnd.openxmlformats-officedocument.presentationml.notesSlide+xml"/>
  <ns0:Override PartName="/ppt/slides/slide15.xml" ContentType="application/vnd.openxmlformats-officedocument.presentationml.slide+xml"/>
  <ns0:Override PartName="/ppt/notesSlides/notesSlide15.xml" ContentType="application/vnd.openxmlformats-officedocument.presentationml.notesSlide+xml"/>
  <ns0:Override PartName="/ppt/slides/slide16.xml" ContentType="application/vnd.openxmlformats-officedocument.presentationml.slide+xml"/>
  <ns0:Override PartName="/ppt/notesSlides/notesSlide16.xml" ContentType="application/vnd.openxmlformats-officedocument.presentationml.notesSlide+xml"/>
  <ns0:Override PartName="/ppt/slides/slide17.xml" ContentType="application/vnd.openxmlformats-officedocument.presentationml.slide+xml"/>
  <ns0:Override PartName="/ppt/notesSlides/notesSlide17.xml" ContentType="application/vnd.openxmlformats-officedocument.presentationml.notesSlide+xml"/>
  <ns0:Override PartName="/ppt/slides/slide18.xml" ContentType="application/vnd.openxmlformats-officedocument.presentationml.slide+xml"/>
  <ns0:Override PartName="/ppt/notesSlides/notesSlide18.xml" ContentType="application/vnd.openxmlformats-officedocument.presentationml.notesSlide+xml"/>
  <ns0:Override PartName="/ppt/slides/slide19.xml" ContentType="application/vnd.openxmlformats-officedocument.presentationml.slide+xml"/>
  <ns0:Override PartName="/ppt/notesSlides/notesSlide19.xml" ContentType="application/vnd.openxmlformats-officedocument.presentationml.notesSlide+xml"/>
  <ns0:Override PartName="/ppt/slides/slide20.xml" ContentType="application/vnd.openxmlformats-officedocument.presentationml.slide+xml"/>
  <ns0:Override PartName="/ppt/notesSlides/notesSlide20.xml" ContentType="application/vnd.openxmlformats-officedocument.presentationml.notesSlide+xml"/>
  <ns0:Override PartName="/ppt/slides/slide21.xml" ContentType="application/vnd.openxmlformats-officedocument.presentationml.slide+xml"/>
  <ns0:Override PartName="/ppt/notesSlides/notesSlide21.xml" ContentType="application/vnd.openxmlformats-officedocument.presentationml.notesSlide+xml"/>
  <ns0:Override PartName="/ppt/slides/slide22.xml" ContentType="application/vnd.openxmlformats-officedocument.presentationml.slide+xml"/>
  <ns0:Override PartName="/ppt/notesSlides/notesSlide22.xml" ContentType="application/vnd.openxmlformats-officedocument.presentationml.notes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</ns0: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6a6111635742c6" /><Relationship Type="http://schemas.openxmlformats.org/officeDocument/2006/relationships/extended-properties" Target="/docProps/app.xml" Id="R96f43f0de0cc4167" /><Relationship Type="http://schemas.openxmlformats.org/officeDocument/2006/relationships/officeDocument" Target="/ppt/presentation.xml" Id="Rf8bb5a1d7f8649aa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9964965d539943bf"/>
  </p:sldMasterIdLst>
  <p:notesMasterIdLst>
    <p:notesMasterId r:id="R37c9bcc81b594784"/>
  </p:notesMasterIdLst>
  <p:sldIdLst>
    <p:sldId id="256" r:id="R2b1769a077454a27"/>
    <p:sldId id="257" r:id="R107bbb9e40234445"/>
    <p:sldId id="258" r:id="R31a3d93d2c314da1"/>
    <p:sldId id="259" r:id="R61d6b5ebb45348fa"/>
    <p:sldId id="260" r:id="Rbe8c63e4acad41e8"/>
    <p:sldId id="261" r:id="Rf3d4a9e2297241ae"/>
    <p:sldId id="262" r:id="Reb6f35ebcd6c4108"/>
    <p:sldId id="263" r:id="Re00bf15f71644483"/>
    <p:sldId id="264" r:id="Rbc6780ce745643a9"/>
    <p:sldId id="265" r:id="R080ddeedaf21407d"/>
    <p:sldId id="266" r:id="Re63d28c5eb984d2d"/>
    <p:sldId id="267" r:id="R1f3225a9e3264e93"/>
    <p:sldId id="268" r:id="Rec322a19406e442b"/>
    <p:sldId id="269" r:id="Rcc5b51782ba54661"/>
    <p:sldId id="270" r:id="Refa05b9148ac4834"/>
    <p:sldId id="271" r:id="R8b8acb6996354934"/>
    <p:sldId id="272" r:id="Rc832a293ded4488c"/>
    <p:sldId id="273" r:id="Rfcf76cd7734c4595"/>
    <p:sldId id="274" r:id="Ra9cb4cca08d74dc2"/>
    <p:sldId id="275" r:id="Rc1ed1bc58a1e47ad"/>
    <p:sldId id="276" r:id="Rc89e6f18bd514d1d"/>
    <p:sldId id="277" r:id="R9e5ab4fc3d174a6d"/>
    <p:sldId id="278" r:id="Rreflective23"/>
    <p:sldId id="279" r:id="Rreflective24"/>
    <p:sldId id="280" r:id="Rreflective2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9964965d539943bf" /><ns0:Relationship Type="http://schemas.openxmlformats.org/officeDocument/2006/relationships/theme" Target="/ppt/theme/theme1.xml" Id="R6208bc590ef741ab" /><ns0:Relationship Type="http://schemas.openxmlformats.org/officeDocument/2006/relationships/notesMaster" Target="/ppt/notesMasters/notesMaster1.xml" Id="R37c9bcc81b594784" /><ns0:Relationship Type="http://schemas.openxmlformats.org/officeDocument/2006/relationships/presProps" Target="/ppt/presProps.xml" Id="R12b21ed3c8774229" /><ns0:Relationship Type="http://schemas.openxmlformats.org/officeDocument/2006/relationships/viewProps" Target="/ppt/viewProps.xml" Id="R493f5847f3d84ead" /><ns0:Relationship Type="http://schemas.openxmlformats.org/officeDocument/2006/relationships/tableStyles" Target="/ppt/tableStyles.xml" Id="R157b58bbef7e4b09" /><ns0:Relationship Type="http://schemas.openxmlformats.org/officeDocument/2006/relationships/slide" Target="/ppt/slides/slide1.xml" Id="R2b1769a077454a27" /><ns0:Relationship Type="http://schemas.openxmlformats.org/officeDocument/2006/relationships/slide" Target="/ppt/slides/slide2.xml" Id="R107bbb9e40234445" /><ns0:Relationship Type="http://schemas.openxmlformats.org/officeDocument/2006/relationships/slide" Target="/ppt/slides/slide3.xml" Id="R31a3d93d2c314da1" /><ns0:Relationship Type="http://schemas.openxmlformats.org/officeDocument/2006/relationships/slide" Target="/ppt/slides/slide4.xml" Id="R61d6b5ebb45348fa" /><ns0:Relationship Type="http://schemas.openxmlformats.org/officeDocument/2006/relationships/slide" Target="/ppt/slides/slide5.xml" Id="Rbe8c63e4acad41e8" /><ns0:Relationship Type="http://schemas.openxmlformats.org/officeDocument/2006/relationships/slide" Target="/ppt/slides/slide6.xml" Id="Rf3d4a9e2297241ae" /><ns0:Relationship Type="http://schemas.openxmlformats.org/officeDocument/2006/relationships/slide" Target="/ppt/slides/slide7.xml" Id="Reb6f35ebcd6c4108" /><ns0:Relationship Type="http://schemas.openxmlformats.org/officeDocument/2006/relationships/slide" Target="/ppt/slides/slide8.xml" Id="Re00bf15f71644483" /><ns0:Relationship Type="http://schemas.openxmlformats.org/officeDocument/2006/relationships/slide" Target="/ppt/slides/slide9.xml" Id="Rbc6780ce745643a9" /><ns0:Relationship Type="http://schemas.openxmlformats.org/officeDocument/2006/relationships/slide" Target="/ppt/slides/slide10.xml" Id="R080ddeedaf21407d" /><ns0:Relationship Type="http://schemas.openxmlformats.org/officeDocument/2006/relationships/slide" Target="/ppt/slides/slide11.xml" Id="Re63d28c5eb984d2d" /><ns0:Relationship Type="http://schemas.openxmlformats.org/officeDocument/2006/relationships/slide" Target="/ppt/slides/slide12.xml" Id="R1f3225a9e3264e93" /><ns0:Relationship Type="http://schemas.openxmlformats.org/officeDocument/2006/relationships/slide" Target="/ppt/slides/slide13.xml" Id="Rec322a19406e442b" /><ns0:Relationship Type="http://schemas.openxmlformats.org/officeDocument/2006/relationships/slide" Target="/ppt/slides/slide14.xml" Id="Rcc5b51782ba54661" /><ns0:Relationship Type="http://schemas.openxmlformats.org/officeDocument/2006/relationships/slide" Target="/ppt/slides/slide15.xml" Id="Refa05b9148ac4834" /><ns0:Relationship Type="http://schemas.openxmlformats.org/officeDocument/2006/relationships/slide" Target="/ppt/slides/slide16.xml" Id="R8b8acb6996354934" /><ns0:Relationship Type="http://schemas.openxmlformats.org/officeDocument/2006/relationships/slide" Target="/ppt/slides/slide17.xml" Id="Rc832a293ded4488c" /><ns0:Relationship Type="http://schemas.openxmlformats.org/officeDocument/2006/relationships/slide" Target="/ppt/slides/slide18.xml" Id="Rfcf76cd7734c4595" /><ns0:Relationship Type="http://schemas.openxmlformats.org/officeDocument/2006/relationships/slide" Target="/ppt/slides/slide19.xml" Id="Ra9cb4cca08d74dc2" /><ns0:Relationship Type="http://schemas.openxmlformats.org/officeDocument/2006/relationships/slide" Target="/ppt/slides/slide20.xml" Id="Rc1ed1bc58a1e47ad" /><ns0:Relationship Type="http://schemas.openxmlformats.org/officeDocument/2006/relationships/slide" Target="/ppt/slides/slide21.xml" Id="Rc89e6f18bd514d1d" /><ns0:Relationship Type="http://schemas.openxmlformats.org/officeDocument/2006/relationships/slide" Target="/ppt/slides/slide22.xml" Id="R9e5ab4fc3d174a6d" /><ns0:Relationship Type="http://schemas.openxmlformats.org/officeDocument/2006/relationships/slide" Target="/ppt/slides/slide23.xml" Id="Rreflective23" /><ns0:Relationship Type="http://schemas.openxmlformats.org/officeDocument/2006/relationships/slide" Target="/ppt/slides/slide24.xml" Id="Rreflective24" /><ns0:Relationship Type="http://schemas.openxmlformats.org/officeDocument/2006/relationships/slide" Target="/ppt/slides/slide25.xml" Id="Rreflective25" /></ns0: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bf376cb7d8848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d7554ab48e4241" /><Relationship Type="http://schemas.openxmlformats.org/officeDocument/2006/relationships/notesMaster" Target="/ppt/notesMasters/notesMaster1.xml" Id="R6aabacc7db0242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4d9817667b4444" /><Relationship Type="http://schemas.openxmlformats.org/officeDocument/2006/relationships/notesMaster" Target="/ppt/notesMasters/notesMaster1.xml" Id="R34301a1853874d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42cf43986a44f2" /><Relationship Type="http://schemas.openxmlformats.org/officeDocument/2006/relationships/notesMaster" Target="/ppt/notesMasters/notesMaster1.xml" Id="R73c6992a6f3246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a49a85a53d492c" /><Relationship Type="http://schemas.openxmlformats.org/officeDocument/2006/relationships/notesMaster" Target="/ppt/notesMasters/notesMaster1.xml" Id="R61612d7f15304e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d50a289eae4641" /><Relationship Type="http://schemas.openxmlformats.org/officeDocument/2006/relationships/notesMaster" Target="/ppt/notesMasters/notesMaster1.xml" Id="R53e18f7e6cf344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945082094548ae" /><Relationship Type="http://schemas.openxmlformats.org/officeDocument/2006/relationships/notesMaster" Target="/ppt/notesMasters/notesMaster1.xml" Id="Ra2fb57410d0d46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54b47e695d4050" /><Relationship Type="http://schemas.openxmlformats.org/officeDocument/2006/relationships/notesMaster" Target="/ppt/notesMasters/notesMaster1.xml" Id="Rf7a61930d66f4b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e1d094bcdd4809" /><Relationship Type="http://schemas.openxmlformats.org/officeDocument/2006/relationships/notesMaster" Target="/ppt/notesMasters/notesMaster1.xml" Id="R3ad4bfa83b494a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75059049534c0f" /><Relationship Type="http://schemas.openxmlformats.org/officeDocument/2006/relationships/notesMaster" Target="/ppt/notesMasters/notesMaster1.xml" Id="R0ecc079213974b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604e0818d14e8a" /><Relationship Type="http://schemas.openxmlformats.org/officeDocument/2006/relationships/notesMaster" Target="/ppt/notesMasters/notesMaster1.xml" Id="Rd31f0dff74944c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31a32df7f54f1c" /><Relationship Type="http://schemas.openxmlformats.org/officeDocument/2006/relationships/notesMaster" Target="/ppt/notesMasters/notesMaster1.xml" Id="R982222b1f71e47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01759b1c5746e4" /><Relationship Type="http://schemas.openxmlformats.org/officeDocument/2006/relationships/notesMaster" Target="/ppt/notesMasters/notesMaster1.xml" Id="Red55a3fe190b46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a18b9ab4514ac6" /><Relationship Type="http://schemas.openxmlformats.org/officeDocument/2006/relationships/notesMaster" Target="/ppt/notesMasters/notesMaster1.xml" Id="Re7b03f5339424fd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c5e431aa834e82" /><Relationship Type="http://schemas.openxmlformats.org/officeDocument/2006/relationships/notesMaster" Target="/ppt/notesMasters/notesMaster1.xml" Id="R34dde5262b844d9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0fcda7eacf343ac" /><Relationship Type="http://schemas.openxmlformats.org/officeDocument/2006/relationships/notesMaster" Target="/ppt/notesMasters/notesMaster1.xml" Id="Rbc5001006a844d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8bcb3f2239417d" /><Relationship Type="http://schemas.openxmlformats.org/officeDocument/2006/relationships/notesMaster" Target="/ppt/notesMasters/notesMaster1.xml" Id="R3f2340613f8e42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55535a620140db" /><Relationship Type="http://schemas.openxmlformats.org/officeDocument/2006/relationships/notesMaster" Target="/ppt/notesMasters/notesMaster1.xml" Id="Rbc0555245b8347b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52800151c34480" /><Relationship Type="http://schemas.openxmlformats.org/officeDocument/2006/relationships/notesMaster" Target="/ppt/notesMasters/notesMaster1.xml" Id="R0cfb725d8eef4c3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9619946bd924d52" /><Relationship Type="http://schemas.openxmlformats.org/officeDocument/2006/relationships/notesMaster" Target="/ppt/notesMasters/notesMaster1.xml" Id="Ra7b1efc3601d424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6eaa3742d544824" /><Relationship Type="http://schemas.openxmlformats.org/officeDocument/2006/relationships/notesMaster" Target="/ppt/notesMasters/notesMaster1.xml" Id="R99c29296707e494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41dd96e8d654cc2" /><Relationship Type="http://schemas.openxmlformats.org/officeDocument/2006/relationships/notesMaster" Target="/ppt/notesMasters/notesMaster1.xml" Id="R981e52f95623450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6b594aadfc44383" /><Relationship Type="http://schemas.openxmlformats.org/officeDocument/2006/relationships/notesMaster" Target="/ppt/notesMasters/notesMaster1.xml" Id="Rfde95023f11e4b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839906fb4a48e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a013d2f65384131" /><Relationship Type="http://schemas.openxmlformats.org/officeDocument/2006/relationships/slideLayout" Target="/ppt/slideLayouts/slideLayout2.xml" Id="R0682f3d412ee4c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82f3d412ee4c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247c607ce54132" /><Relationship Type="http://schemas.openxmlformats.org/officeDocument/2006/relationships/notesSlide" Target="/ppt/notesSlides/notesSlide1.xml" Id="R65dc6322cc5042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33c3201b064355" /><Relationship Type="http://schemas.openxmlformats.org/officeDocument/2006/relationships/notesSlide" Target="/ppt/notesSlides/notesSlide2.xml" Id="Re5f9ad6a58df4d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df91b5be314d11" /><Relationship Type="http://schemas.openxmlformats.org/officeDocument/2006/relationships/notesSlide" Target="/ppt/notesSlides/notesSlide3.xml" Id="R725c16bfe1084a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575e599d1c4054" /><Relationship Type="http://schemas.openxmlformats.org/officeDocument/2006/relationships/notesSlide" Target="/ppt/notesSlides/notesSlide4.xml" Id="R242930842e6b44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8d1d04b9794d3b" /><Relationship Type="http://schemas.openxmlformats.org/officeDocument/2006/relationships/notesSlide" Target="/ppt/notesSlides/notesSlide5.xml" Id="R9e9384275c3146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e829a36bf84b35" /><Relationship Type="http://schemas.openxmlformats.org/officeDocument/2006/relationships/notesSlide" Target="/ppt/notesSlides/notesSlide6.xml" Id="R9f8ee2a1645f46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9c5bfff5f7469c" /><Relationship Type="http://schemas.openxmlformats.org/officeDocument/2006/relationships/notesSlide" Target="/ppt/notesSlides/notesSlide7.xml" Id="R54bb116a09c34d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2adb8e18c74df8" /><Relationship Type="http://schemas.openxmlformats.org/officeDocument/2006/relationships/image" Target="/ppt/media/image.png" Id="R261447b5a5414aa7" /><Relationship Type="http://schemas.openxmlformats.org/officeDocument/2006/relationships/notesSlide" Target="/ppt/notesSlides/notesSlide8.xml" Id="Rb1c591873fc742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7bed9e2989493e" /><Relationship Type="http://schemas.openxmlformats.org/officeDocument/2006/relationships/image" Target="/ppt/media/image2.png" Id="R02aec95ff082495f" /><Relationship Type="http://schemas.openxmlformats.org/officeDocument/2006/relationships/notesSlide" Target="/ppt/notesSlides/notesSlide9.xml" Id="R322ddbb2259d41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7cf067becc4214" /><Relationship Type="http://schemas.openxmlformats.org/officeDocument/2006/relationships/notesSlide" Target="/ppt/notesSlides/notesSlide10.xml" Id="R5453ef25127e44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767ba7991f41ea" /><Relationship Type="http://schemas.openxmlformats.org/officeDocument/2006/relationships/image" Target="/ppt/media/image3.png" Id="Rae4eb21fe0e045d9" /><Relationship Type="http://schemas.openxmlformats.org/officeDocument/2006/relationships/notesSlide" Target="/ppt/notesSlides/notesSlide11.xml" Id="Rffc2a9c3a9c54b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82320e072d4d5c" /><Relationship Type="http://schemas.openxmlformats.org/officeDocument/2006/relationships/image" Target="/ppt/media/image4.png" Id="Rb52422dbdd234396" /><Relationship Type="http://schemas.openxmlformats.org/officeDocument/2006/relationships/notesSlide" Target="/ppt/notesSlides/notesSlide12.xml" Id="R90dedaceb52c4c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341f878d064e53" /><Relationship Type="http://schemas.openxmlformats.org/officeDocument/2006/relationships/image" Target="/ppt/media/image5.png" Id="R12bde5c13ee245dc" /><Relationship Type="http://schemas.openxmlformats.org/officeDocument/2006/relationships/image" Target="/ppt/media/image6.png" Id="Rcbfbb9d5f16a4531" /><Relationship Type="http://schemas.openxmlformats.org/officeDocument/2006/relationships/notesSlide" Target="/ppt/notesSlides/notesSlide13.xml" Id="R0ad01612597942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2fa46ce4704c51" /><Relationship Type="http://schemas.openxmlformats.org/officeDocument/2006/relationships/notesSlide" Target="/ppt/notesSlides/notesSlide14.xml" Id="R85819879ae354d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c7aef330124d27" /><Relationship Type="http://schemas.openxmlformats.org/officeDocument/2006/relationships/notesSlide" Target="/ppt/notesSlides/notesSlide15.xml" Id="R3c0ff2ca9d894d9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5b533bfca84b5e" /><Relationship Type="http://schemas.openxmlformats.org/officeDocument/2006/relationships/notesSlide" Target="/ppt/notesSlides/notesSlide16.xml" Id="R07fcad804786470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3c66925451458b" /><Relationship Type="http://schemas.openxmlformats.org/officeDocument/2006/relationships/notesSlide" Target="/ppt/notesSlides/notesSlide17.xml" Id="R7b7315875565476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1e6b533e5144a1" /><Relationship Type="http://schemas.openxmlformats.org/officeDocument/2006/relationships/notesSlide" Target="/ppt/notesSlides/notesSlide18.xml" Id="Rec66ee76e46745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4deb0a25a941a3" /><Relationship Type="http://schemas.openxmlformats.org/officeDocument/2006/relationships/notesSlide" Target="/ppt/notesSlides/notesSlide19.xml" Id="R9f7e66e489954ac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4e6ba49ae9417c" /><Relationship Type="http://schemas.openxmlformats.org/officeDocument/2006/relationships/notesSlide" Target="/ppt/notesSlides/notesSlide20.xml" Id="Rb482e93445764a4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759eb12238417b" /><Relationship Type="http://schemas.openxmlformats.org/officeDocument/2006/relationships/notesSlide" Target="/ppt/notesSlides/notesSlide21.xml" Id="Rd71b66bd10034d2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725f4336c74b50" /><Relationship Type="http://schemas.openxmlformats.org/officeDocument/2006/relationships/notesSlide" Target="/ppt/notesSlides/notesSlide22.xml" Id="Rb7245040ff36480e" /></Relationships>
</file>

<file path=ppt/slides/_rels/slide23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/Relationships>
</file>

<file path=ppt/slides/_rels/slide24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/Relationships>
</file>

<file path=ppt/slides/_rels/slide25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BEE358-BEA7-44FB-B1BA-2452C779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887C9E2-AB60-4576-9F03-8079EA2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FF048C6-2A97-4BD8-858D-2AB90BCE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MODEL AUDIT + AI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65E50-E6DA-427C-924B-D1A2C3F8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572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DFC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FFFDFC"/>
                </a:solidFill>
                <a:latin typeface="Aptos Display"/>
                <a:ea typeface="Aptos Display"/>
                <a:cs typeface="Aptos Display"/>
              </a:rPr>
              <a:t>Wildfire carbon feedbacks in the social cost of carbon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FE762-7C1D-47E3-8D9F-AEADE73F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752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DE7E1"/>
                </a:solidFill>
                <a:latin typeface="Aptos"/>
                <a:ea typeface="Aptos"/>
                <a:cs typeface="Aptos"/>
              </a:rPr>
              <a:t>A GIVE model extension, a climate-economics audit, and a case study in AI-assisted academic research programming.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ED70A-344D-4579-8880-F1A82CFD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565A7-D4C6-4641-A470-7B7D1771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6A1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6A13C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16CD7-ED5D-4B81-B886-32E1DAF5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paired validation draws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3E221-314D-455A-9DE2-1E0B3A55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71875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28B36-97DE-4301-9128-CEBB0DAA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05225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+5.65%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1CFD9-A10E-4E25-B047-7F19B2C6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48125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mean SCC change, high residual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B4732-9AE5-47C7-83BC-28C72988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71875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AFD8B-AACF-4BB4-AB57-B96CE740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05225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+74.62%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5DE8D-9A76-44C0-BFCD-BFDA6C41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48125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mean SCC change, largest gross stress case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4C6B0-391D-4C8F-8207-C9504202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14400"/>
            <a:ext cx="2571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330"/>
          </a:solidFill>
          <a:ln xmlns:a="http://schemas.openxmlformats.org/drawingml/2006/main" w="9525">
            <a:solidFill>
              <a:srgbClr val="41524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471DF-95FC-49ED-BEEA-4E5ED9E8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001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Two purposes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B0AC26-151D-4782-8D99-1F4A7516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76400"/>
            <a:ext cx="1952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1. Present the model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2. Show how an AI collaborator helped audit code, search literature, implement a transparent extension, run diagnostics, and produce research artifacts.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CF673B-7D6B-48E8-9DDE-CE904CFC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Preliminary research deck. Results are validation-scale unless noted.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42D5A9-6D83-4F08-BFAF-4E2F699E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021967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0F42F4-5311-4BC2-A703-30D6FE41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ECCE907-256C-4687-A1A9-B696F4F2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2B16B00-1628-4370-8E72-25334DA9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HYPOTHESIS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801E2-229D-4540-8A12-E6E66C10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90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question is whether the marginal tonne can trigger additional fire CO2.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753CA-7AAD-44B4-9E14-FA5DCF44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A4568-A257-42FB-BB61-BF4849A6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Marginal CO2 pulse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C4766-79C0-408C-A109-203CF594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1352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One extra tonne in 2020.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DA4F6-6134-4E57-8818-209ED9C1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575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3F93B-87CA-49F3-9557-F812F052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7650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3E168-2E11-42A5-B6C8-DBBDCC8D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289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Higher CO2 stock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E700F-470A-43BE-8F91-7128ADB4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33700"/>
            <a:ext cx="1352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Atmospheric concentration and forcing change.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12868-95C6-475D-B5C7-EDE4C647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64253-EA68-4540-ADFC-EE9DBB4F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B6565-20CF-45B8-81BA-C4439547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289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More warming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9B8A3-81C4-4CE4-A8B6-147720C0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33700"/>
            <a:ext cx="1352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Temperature path rises slightly.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F888D-0F52-486D-855E-214CC03E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1D1D41-DA2E-420F-AEE0-9DCA0517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7650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515731-DFC6-4145-B83F-F9891ED2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289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More wildfire CO2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293B7-93F5-487D-A2F3-59E2848D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33700"/>
            <a:ext cx="1352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Climate-sensitive fire carbon adds to emissions.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97B9B-06C9-4D84-887F-E4BB1E95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575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D5FDA9-362C-4246-A6C4-E5C778B5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ED828E-A687-49B8-84FF-B8F15D77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2890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A13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A13C"/>
                </a:solidFill>
                <a:latin typeface="Aptos"/>
                <a:ea typeface="Aptos"/>
                <a:cs typeface="Aptos"/>
              </a:rPr>
              <a:t>Damages and SCC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1A3909-BC13-4505-88AF-5604215D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33700"/>
            <a:ext cx="1657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Marginal damages are monetized and discounted.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1596C9-99D8-4172-89A2-21BB7FB8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052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D31C0B-06F3-42AF-A3E3-F9CBA765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767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feedback loop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6A04B0-1825-4CAE-B920-6A3B9ACE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05375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Key distinction: total added wildfire emissions are not the SCC. The SCC changes only if the extra tonne changes future emissions, climate response, damages, or discounting.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9DC68D-BD7D-4A07-B1DF-F58045D7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Conceptual framing for the wildfire-carbon feedback experiment.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07FC19-DDAE-489C-AC8C-787A701D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24808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63B577-E1ED-4333-9404-4C50E2CB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72B3EAF-C3AC-4F57-A894-A3E621E5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D3D1B86-C0DD-4912-A57B-1A0F105B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MODEL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52C85-DE0F-4FAB-B7F8-F6EB697B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09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GIVE samples exogenous pathways; it does not generate the fire feedback internally.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1FD85-1CC6-4C79-9B5F-2600C26B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9FF08-4B99-4956-9FE0-2D53B289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Exogenous scenarios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65024-7B47-4421-9A35-D121EB0A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0325"/>
            <a:ext cx="1657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Emissions, GDP and population are sampled from external pathways.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F1546-A0F5-4316-B30C-6191E31F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1AA1C-B24C-4404-B827-5B66ABC0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43125"/>
            <a:ext cx="1619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1805D-5C86-4DFF-A219-F2E9BD76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95525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FaIR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A83ED-11B5-45D0-9D13-6E72B0AC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00325"/>
            <a:ext cx="1276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CO2 cycle, forcing and temperature.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9435F-F250-4558-9FE6-06DFC4C9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765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8CD03-1D52-478C-AC92-7D42AB80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43125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05794D-4DFA-442F-96E4-11F97669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95525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Damage modules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76997-ADB8-474F-9688-D7148ABE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00325"/>
            <a:ext cx="14668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Mortality, energy, agriculture and sea level.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EAB63-75EE-44DE-9376-8127F9D1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765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653AC4-DF69-49FF-9B73-3CCEE702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43125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CC1167-8CE5-4008-9A1C-D364ED28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95525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Discounting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BA9CB2-1DCF-4747-ADA9-29C22076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00325"/>
            <a:ext cx="14668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Present value of marginal damages.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6A4A56-3B82-4A36-BB1D-2677C1C3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765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9671EC-321D-41AF-946E-182682EF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43125"/>
            <a:ext cx="1428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2487E7-8636-47F6-8D15-71818718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295525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SCC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FCEB2-AF30-4AA3-ABB2-56EA7C6C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00325"/>
            <a:ext cx="10858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Dollars per tonne CO2.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02FD9F-EB81-4962-BEF1-627C99DC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4762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6"/>
          </a:solidFill>
          <a:ln xmlns:a="http://schemas.openxmlformats.org/drawingml/2006/main" w="9525">
            <a:solidFill>
              <a:srgbClr val="D6A13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A6A385-FCD3-49CC-9C90-648BCBDA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428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Kaya-style, in one 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6A00FE-5668-4046-874C-32F3DC24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0"/>
            <a:ext cx="4143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CO2 = Population x GDP/person x Energy/GDP x CO2/Energy.</a:t>
            </a:r>
          </a:p>
          <a:p xmlns:a="http://schemas.openxmlformats.org/drawingml/2006/main">
            <a:pPr algn="l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GIVE does not solve an endogenous economy around that identity; it takes pathways as inputs.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E32407-51F4-4BEA-868A-C23F8EB6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86200"/>
            <a:ext cx="4572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C84E2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515CA7-8CF2-42D8-B4A6-0E9F9D38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29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Missing endogenous loop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F3FFCF-474C-41BF-B150-D463D55A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72000"/>
            <a:ext cx="385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warming -&gt; more wildfire -&gt; more CO2 -&gt; more warming is not generated unless it is embedded exogenously or added as an extension.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9D7DB1-07F0-4E0E-8BD0-1C675DBB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Code audit: MimiGIVE + MimiFAIR wiring; no attributed correspondence included.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C1F618-EB58-4E03-9A4F-83356743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600497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14F9EE-8D98-482A-A231-0157D9DB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A8D5EB7-9740-44A7-BC2F-EDA69978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B899C36-4AC2-4C21-B4B4-B8BDA223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DOUBLE COUNTING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8E34B-AF8D-4177-89D7-12A6244C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09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hard problem is not adding fire carbon; it is deciding what is not already counted.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F535F-CD9B-442D-8284-8EE6A50D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Atmospheric persistence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75444-CA8F-447C-8408-4CC6B213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85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Already in baseline?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F653E-3DA0-45FB-A36C-A9D62143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098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Likely embedded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7DE92-86DC-4052-BF6F-790F0E34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098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Likely missing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01063-19F6-4F75-BF4C-EC7E34C9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384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Gross / short-run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35ADB-6B3D-48CF-91A0-4C9C0653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433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Net / persistent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77A06-8919-4FD4-A91C-20DC2E91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0030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7D9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54EAF2-2AD0-402D-8E78-17A222E2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5270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Do not add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CB7E6-5929-4CE7-8914-0BE4C2AB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Fire carbon may be in AFOLU/LULUCF or natural-stock expectations.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A1D01-5BC8-4A93-9991-91361120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B520B2-AC9F-4485-B94F-FA63B074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5270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Stress test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98587-BCFA-4884-8FA3-6CFA382D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5750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Gross missing fire emissions can show mechanism but risk overstatement.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B69B6-594B-43C1-92D2-6D0C54C4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0520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6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A1CF2E-2E73-4588-81B8-B231A554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5760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A13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A13C"/>
                </a:solidFill>
                <a:latin typeface="Aptos"/>
                <a:ea typeface="Aptos"/>
                <a:cs typeface="Aptos"/>
              </a:rPr>
              <a:t>Possible decomposition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B0F962-936E-4A7B-A063-9632771B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6240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Useful for accounting, but not a clean additive SCC experiment.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03DEBF-CFD3-4DED-AE7C-188EA550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0520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9E2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17B06-278D-4964-88A1-DEC03750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5760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Preferred first pass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19A1D5-3C84-4DE1-96C3-B3C2879D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6240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Residual, net persistent, not-already-embedded wildfire CO2.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F954B5-591B-4FAB-8010-61789DB1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19700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Our extension samples two protection factors: net persistence and not-already-embedded share. That is the double-counting defense.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F9E7E3-6B7C-4AD4-BD96-0615D093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Interpretation framework used in WildfireGIVE.jl and manuscript.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F3450F-2F6B-411B-B3ED-B348A72E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003544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5E3FD8-7070-44E7-B89B-6B6CB207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E352F75-3DAC-40BD-ADB5-2A763F7C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40F186B-2404-473C-B13B-F614F44D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LITERATURE 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5FDE1-B785-4EFB-A7DE-0646651C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00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literature was organized by role, not dumped into one emissions number.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9333C-6F4B-4880-B2BD-C914460E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7B0F3-5BCD-45E7-A8F4-10F8E8AE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526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2A755-B90D-4359-AB4B-741C1D89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How it entered this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07D05-4E5E-42D3-9555-503A46DF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33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0C948-9E84-40B1-9AFB-952C075F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Baseline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9A1B8-3A9B-40F1-8E4A-0D21D32E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Rennert et al.; RFF-SP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1A16F-255F-4BA6-AFD9-34080E6E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GIVE architecture, scenarios, SCC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7F5057-25B8-4DBD-9841-66DB8764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1033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ADC80-02AC-4335-B330-0C6FAFE0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Smoke damages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E9F0FA-68F2-4B25-A6F7-FDB4707C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Qiu et 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6CE2B5-C986-4E0D-A49F-BFBC0AFA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813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Complementary mortality channel, not carbon input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AD6D7-6099-4BFF-A48A-3DBD03CD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1033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60AEE-9CE2-42C9-AD92-FAF4700A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Magnitude anchor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AF044B-26AD-41F8-98DA-B2E7AB2B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718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Byrne et al. Canada 2023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BA1BF7-029E-49F5-98A2-D4F576CB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718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2.4-3.0 GtCO2 event scale; boreal plausibility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F53BED-61DA-473B-9E71-3BFD2679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1033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66738-AC36-4076-AD8E-25F4247E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Projection scaler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F14F69-6543-4358-9C4A-EC7EDBB8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624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Val Martin / Pierce / Heald USDA-CESM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10F14E-F76C-4F6B-A661-47EEE08E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624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CO emissions and burned-area ratios by RCP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12A397-9EF5-41FE-B5A3-CAD788F9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00550"/>
            <a:ext cx="1033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DB264D-D771-427C-A099-10A05606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Stress-scale theory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110AA2-0FCA-4EE6-9725-777BF8EB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RESFire / CESM literature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219B7B-3D8F-4E3C-95E3-8BC41C65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529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High-end forest-fire feedback scale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861FBF-C385-499A-87B1-01B68655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91100"/>
            <a:ext cx="1033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51CCD3-0F60-43D1-B685-2BB186A2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Next data targets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37D1A9-9B66-46B8-A9C2-855BD5C2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435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Park, Tian, Phillips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C3C988-56FE-42D5-9168-66DB8FC8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Global fire carbon, warming levels, gross-vs-net boreal fire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FEC98E-E5E9-481C-B429-A25D94BF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Literature review and data triage; full citations in manuscript reference list.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AD99AD-BB78-447A-9FCA-4ABC2752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892058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2EF079-D1E6-415E-B531-5596D881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05021ED-20FC-46EF-9F93-8DD6713A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27AA2BA-AA64-4898-A785-D2FC3CDA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C2781-E182-4B4C-8EC2-9BE3F03C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90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extension is deliberately reduced-form and transparent.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BD8D7-80F7-4E7C-B73D-44AB85BA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8096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9525">
            <a:solidFill>
              <a:srgbClr val="18232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E7C2A-EFC2-4D91-B097-E9205779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762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DFC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FFFDFC"/>
                </a:solidFill>
                <a:latin typeface="Aptos Mono"/>
                <a:ea typeface="Aptos Mono"/>
                <a:cs typeface="Aptos Mono"/>
              </a:rPr>
              <a:t>E_fire,t = E_ref x beta x max(T[t-1] - T[2020], 0) x phi_net x phi_missing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B8C2E-E87A-4083-9C15-2C9ECE63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5AA71-58E5-4796-B004-7246F92C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E_ref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AA71A-13BB-41E9-8B14-6D25F828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2133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gross reference global fire carbon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B1378-81CC-46E2-867F-AECD8FB7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3855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B82C5-81DF-4268-A1A9-27C02B1A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909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beta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742431-331A-4918-96E4-31DAB624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95750"/>
            <a:ext cx="2133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fractional gross fire-emissions response per deg 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CB6E7-F1F0-4ECA-85DA-6D35B5B8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CB0E3-FC57-4147-B4A1-6A39BF62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909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phi_net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51715-BE5B-4244-B57C-99D95C1C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2133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share that becomes persistent net atmospheric CO2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30A21-2050-4CFF-8E24-799CF4CE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687FB3-81BA-4916-886E-51BA6D5C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909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phi_missing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A0FE3E-43D2-42E5-AFF4-A0E8C92C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95750"/>
            <a:ext cx="2133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share not already embedded in baseline aggregate CO2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83C1EA-4422-463B-9BFF-6C902BCF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67300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9E2"/>
          </a:solidFill>
          <a:ln xmlns:a="http://schemas.openxmlformats.org/drawingml/2006/main" w="9525">
            <a:solidFill>
              <a:srgbClr val="1F6B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EA8CFB-00A5-4B8C-B826-5A6467AE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3875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Placement: added before the SCC pulse enters FAIR, so the marginal tonne can induce marginal wildfire CO2 while the baseline remains comparable.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A0634C-43BD-4ED8-823E-762F315F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Implementation: wildfire_extension/WildfireGIVE.jl.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5ADE48-1BF9-49BE-A6F4-BA861801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55161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335612-3CFF-4A5A-A7D0-C6DD13FD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2A79CA2-BDED-42FF-8A88-6E3ADB27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9CA529C-E278-4CD4-A995-D25B6330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54890-BDE9-4AF2-8E27-927F2BBA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90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work started as a replication package, then became a separated extension.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63F31-5E50-494F-9765-63F176B3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1676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F4D91-C65C-4E49-8329-EFEF8435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D8EE8-77AA-483E-9D3D-659F0D12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Download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956AA-5387-4575-A67C-65BECB34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1295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Rennert et al. Zenodo archive and GitHub replication code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732D6-5169-4139-BFEC-AE4015AB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43250"/>
            <a:ext cx="19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9F9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9F9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BC76F-D517-4480-9C96-9108F0B1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90750"/>
            <a:ext cx="1676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DFDE6-E620-4649-AAC6-03BA67A0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0012B-B786-440F-B817-FAFB0900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765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BEE06C-D080-4CB2-9D53-FD144CCF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76600"/>
            <a:ext cx="1295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Local Julia installs in /tools plus archived Project.toml and Manifest.toml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71BFD-0833-438F-8B92-5326BF52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43250"/>
            <a:ext cx="19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9F9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9F9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C26EA-CB64-4ABF-9D8E-F5AA422E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1676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B39E3A-6871-4445-9745-5FC3DA6F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0CEF4-0910-42F9-86E2-4065DBD8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765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FDBD87-56B4-48AE-A34E-4B73FAA4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76600"/>
            <a:ext cx="1295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Search RFF-SP, MimiGIVE and MimiFAIR for fire/LULUCF/emissions wiring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272B7D-79C0-455E-AEEA-04F1B20D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43250"/>
            <a:ext cx="19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9F9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9F9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CF23DC-614D-4483-9010-2A44DE3F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90750"/>
            <a:ext cx="1676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9E2"/>
          </a:solidFill>
          <a:ln xmlns:a="http://schemas.openxmlformats.org/drawingml/2006/main" w="9525">
            <a:solidFill>
              <a:srgbClr val="1F6B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BB8EC-DE7F-499E-BE30-C171B36D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6DCD75-CCF4-477F-982D-02C969F4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765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Extend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B667B3-95F3-4CFA-8A21-56FF3546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1295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Add wildfire_extension/ without overwriting original replication files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7B3466-D21B-4D96-94BF-E550BEF8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43250"/>
            <a:ext cx="19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9F9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9F9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01A89E-88A7-492C-BCFD-6AC40994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1676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BAB3EA-A6CD-43EA-81F9-473A1E62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FD83CA-BFFE-4778-A232-225A312F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B5C1E2-166F-4E20-BEB3-DC844886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76600"/>
            <a:ext cx="1295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Deterministic checks, 100 paired Monte Carlo draws, sectoral diagnostics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E1B41C-6496-4B5F-93FF-AC68C048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43250"/>
            <a:ext cx="19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9F9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9F9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67C123-702F-4C4B-AE30-10AA0B0A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90750"/>
            <a:ext cx="1676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2FED66-00EF-4249-9873-FBDD5531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81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51EA02-40DB-494D-8B24-E83DEE62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765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Package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345869-6463-49F2-8E60-406DE893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76600"/>
            <a:ext cx="1295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Memo, manuscript, figures, run scripts and GitHub-ready folder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24375A-70E1-422D-8F3A-7F47D261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91125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GitHub status: local package is ready to commit/push once a remote repository is created.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34003B-D7E9-42BF-82A1-7B4EFB82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Local paths: /Users/jbb/Dropbox/GIVE and paper-2022-scc-give-zenodo/wildfire_extension.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662F9A-47A6-40DB-A9D4-A926ABEA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011769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B23DD8-BC6B-48D8-B462-7B85055E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0A1B1BD-159A-450D-A71E-54B4EACB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4887EF5-BE2B-4269-AC90-677E5AA3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SCALE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F315E-1515-46D8-B707-9727024A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23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Fire CO2 can be a visible annual flow without dominating the atmospheric stock.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447b5a5414aa7"/>
          <a:stretch xmlns:a="http://schemas.openxmlformats.org/drawingml/2006/main"/>
        </p:blipFill>
        <p:spPr>
          <a:xfrm xmlns:a="http://schemas.openxmlformats.org/drawingml/2006/main">
            <a:off x="1449161" y="1952625"/>
            <a:ext cx="5731329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55BD7-06B8-4A9F-B02C-5C7EE20C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25717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D319C-E4AB-4E58-B0B7-BE503A5D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241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How to read 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A593B-B06F-472B-9435-1C3E4062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20193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Residual-high reaches 1.27 GtCO2/yr by 2100: 4.63% of baseline annual emissions, but 0.80% of atmospheric CO2-C stock.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The gross stress case is intentionally much larger and not double-counting safe.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113A3-2775-484A-9896-2EE44558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Figure generated from deterministic fire_scale_check_deterministic.csv.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5F714-CD6A-4C2F-A698-8FD4AFD3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47971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5CC7E2-6980-4A3B-81EF-635B078A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E912DC9-FA93-4E9B-96CD-F28CD05D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F5EE294-C456-4423-957A-465CC1D1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SCC DISTRIBUTION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BCB0C-EE03-405A-BC41-2E9A02D7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00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SCC distribution shifts only modestly for conservative residual feedbacks.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ec95ff082495f"/>
          <a:stretch xmlns:a="http://schemas.openxmlformats.org/drawingml/2006/main"/>
        </p:blipFill>
        <p:spPr>
          <a:xfrm xmlns:a="http://schemas.openxmlformats.org/drawingml/2006/main">
            <a:off x="1636154" y="1952625"/>
            <a:ext cx="5795493" cy="3810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7582F-174C-4732-9466-FF0CD747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2333625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FEF7B-F592-48DD-9F54-CD598049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431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Main 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97D77-F359-4B1C-862D-4FF853FC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62250"/>
            <a:ext cx="1857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Means and medians are computed on full samples; the display truncates the right tail at $600/tCO2.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This is a 100-draw validation run, not the final 10,000-draw Monte Carlo.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CFD56-1D57-423B-B701-C9B6B436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Output: wildfire_temperature_feedback_mcs_100_paired/all_scc_samples.csv.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A7D9E-736B-4275-82C7-BC31B385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761060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F9D8D6-2C60-45B8-92D9-E1D4A1A4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CDC3995-2202-476C-B591-E9279307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1B18C48-98A6-4595-8D8F-CEA81A1B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E5B8C-0E44-4760-9897-B5FCCB1E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28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central result is conditional: residual feedbacks are small; gross missing fire carbon is not.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69E14-EAC7-4AFD-A12D-678273D7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9525">
            <a:solidFill>
              <a:srgbClr val="18232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73FDE-A460-42C7-9B7F-9B5F7C11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859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AF7E2-D3F2-4178-BA5B-B0F30BD0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62125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9525">
            <a:solidFill>
              <a:srgbClr val="1823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E73E6-8AC9-452D-A317-5CC4A506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859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Mean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10F12-6F94-4680-A5B3-0E658026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62125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9525">
            <a:solidFill>
              <a:srgbClr val="18232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29043-081F-4AC2-987F-E67D5F82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859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Median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7E21A-97AE-4168-B387-100DA786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762125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9525">
            <a:solidFill>
              <a:srgbClr val="18232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C83F3-474C-417D-B39C-B3A8404B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859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5th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9C96F-D664-4D19-AB6F-DA1D0B6E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6212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9525">
            <a:solidFill>
              <a:srgbClr val="18232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4F49CB-C7BC-4D8B-9D3F-9F2400BA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859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95th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0F5AD-3758-4633-879F-0C9E2E5A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6212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9525">
            <a:solidFill>
              <a:srgbClr val="18232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319D7E-ED16-4B27-9CCA-4117FEC4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859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Delta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B4238-EBCF-4085-B71A-A28FCC28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6212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9525">
            <a:solidFill>
              <a:srgbClr val="18232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9FFC4-2DF3-45C7-A0CC-38B7383D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859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Delta 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14DBB7-FB3D-478B-B4AE-39CA5DCC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00275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D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3EF6B-D7CD-4B2D-98A0-0AC1F01A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622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54DC65-BA7D-4173-8845-069DE998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00275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D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9A3E6E-A766-4DC1-BA21-36EE40F9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622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198.35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71F30A-2B4A-4B98-8046-4066C407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0275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D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EB381B-7C70-468B-84D1-5CF621E8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622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155.82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CD585-28F2-4E16-AFE0-931A8413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00275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D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4ACD3F-9D45-4B82-A903-8BE60CBA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362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33.39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34E5B4-539C-476C-9B74-3BF0B474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002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D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40371E-2FA2-48C0-8795-8314B69D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622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464.21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11E33B-2A1B-4DF0-B907-9FAD05DC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002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D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D76017-A787-4826-9C03-04726C29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0.00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73E24A-0666-4FFF-A716-4659794E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002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D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373959-8FE9-4107-9944-CBD50DE0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622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0.00%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6FD987-006B-41CC-AEF3-6ED9F48A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33675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B3A675-B098-4D00-A7EA-167305FD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956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Residual medium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3BB8CD-6222-4E18-86C5-E413F728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33675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29F00B-211D-4A87-A270-275BF01F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956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198.89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4268E8-5F15-4308-B023-D502ECB3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33675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A37F09-E1B9-429E-BBFC-F9D7E2B0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956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156.03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DB3D08-28E3-4131-939C-9CBBB9CB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733675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869EF7-5056-4E6B-B694-7F5C93E0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956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33.46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B3C30A-1B69-471B-BF2F-5FBCA46A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336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427408-DC7A-4779-A2F3-170F0EFE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956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465.23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495F15-1358-457C-B62F-C8378E49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336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C86EC9-62B5-486F-B9F2-0F7DD9D9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956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+0.54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015982-13F0-45E5-AD9F-DD0AC649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336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92DE5B-F8FE-4176-9435-0DFECD5D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956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+0.27%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D98E4F-526E-4E49-93B3-2B9B8F96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67075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6160AD-86F2-4523-AE67-DD91D5B8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Residual high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43C98B-AD4B-4C8C-AF19-095DF6AD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67075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2A8E7B-7F8A-45BF-B0E7-6D56E40A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290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209.57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E1A9DE-9FA5-43D6-98A6-5470603A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67075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32B1149-9E2F-431E-85FB-F641E2B0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290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161.67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40DA59-2D66-47BD-B23A-D1239159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67075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0B372E-4701-4C2B-86FC-290020F2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290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35.80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19F4CC2-2B99-44AD-8476-79489AA6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670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166548-FA58-4D93-A001-B6BD5D65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290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485.26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0EB997-4952-4BA1-AE43-F60290EA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670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1592FF5-CB45-4BC6-B196-BF876A04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290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+11.21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51E6BE-C6DE-4BBC-83AD-D637B121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670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C1337A9-A1AC-4868-86D0-1B807C0E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290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+5.65%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64578A6-AB6A-43FD-9DFE-70E3B7B1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00475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2FB0569-F459-46F1-8EA4-550A90D2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624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High-end half-gross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0E6F1F6-3BED-4FBD-AE09-2168DCE6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00475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59A64B6-3475-4B12-ACA8-BBBE6F25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624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262.79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5869628-A499-4FF0-A53F-DC5D3E42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00475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968EC4D-F5A5-4F1B-ABD2-06A70EB0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624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194.93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4D130BC-0849-43F2-945C-A3253647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00475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BB78F89-B587-4528-9689-AAA96A8C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624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45.45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CD674F1-3CE1-4FD2-8D8F-36C32D1F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004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74AEF13-F32F-491D-BC6C-91BB2E90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624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646.43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D457FA4-01B5-4910-9B2D-D43203B0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8004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8991D58-2CDE-4AC2-9F98-0862B2AA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624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+64.44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813791-4F03-4168-8F99-3C8D931C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004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B7175B7-8414-4E23-B0D9-ED71FB5C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624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+32.49%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75EC9B8-B9FE-4D30-AE7A-BF612D70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52D1E61-5489-47C6-B298-35A216E2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958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High-end gross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664BD2B-857A-4D7F-B79C-190257B4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33875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80C6E12-5F6D-4F24-AA0D-7535649B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958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346.37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4A09141-96B9-43A7-B800-DD07C745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33875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B938434-1A2C-4FFA-8B89-C9595C64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4958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248.55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5D5498D-8B27-4489-8A94-6B303134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333875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8F7D9A6-3ECF-4459-B7A3-638DD65E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4958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84.63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B8D982C-617A-4FA1-8C5C-BB358539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338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52147ED-8CC0-4B4F-9D4F-959F6DC9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958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785.47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EA6196B-DDF5-4EC8-98EF-AC372C46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3338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5C0DED8-789B-4A68-8A1C-2C2369B7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958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+148.02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B6305F3-877E-4854-AB40-281A4077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3338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419E4C1-9FA8-4738-A99E-09814615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958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+74.62%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A69B5F4-A938-4D31-A28A-9A928150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Units: 2020 USD/tCO2. Central 2.0% discount-rate case. Paired 100-draw validation sample.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9EE2C66-99E0-4D9B-9305-65C725F7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962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Interpretation: stress cases prove the mechanism can be large, not that gross fire emissions should be added without accounting safeguards.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7050842-4A82-41E0-BCC3-BCF7F13B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Output: scc_summary.csv.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B7D2230-EF93-47CC-8AAF-E2505AF5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174347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A47BD6-FCDD-4E9C-8E54-8347421D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EF07EB7-EB14-46D1-95E5-CEE98DAB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9AC62A-67AB-4B76-B3B8-EF919627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MECHANISM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142E5-8544-454A-B188-53D75903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90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Some sectors can show lower marginal damages even as total damages rise.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eb21fe0e045d9"/>
          <a:stretch xmlns:a="http://schemas.openxmlformats.org/drawingml/2006/main"/>
        </p:blipFill>
        <p:spPr>
          <a:xfrm xmlns:a="http://schemas.openxmlformats.org/drawingml/2006/main">
            <a:off x="2554418" y="1952625"/>
            <a:ext cx="3349365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5DB68-C757-499F-8362-38AD0FA8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57400"/>
            <a:ext cx="27051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1EBAD-F5C5-4D2E-8941-3C4571AA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33625"/>
            <a:ext cx="2143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Why this happens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7FBBD-6230-4F58-BF61-D937D521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CO2 forcing is logarithmic.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Mortality and energy are locally close to linear in temperature.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Agriculture and sea-level channels are more nonlinear and delayed.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Discounting suppresses far-future increments.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88311-1C20-4FEC-8302-AB207BDA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Sectoral diagnostic: save_md=true and compute_sectoral_values=true.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9C1AB-FA02-4A5E-99FF-488CD7BD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99679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7D8812-D66A-4F75-96FB-B8590295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B0C5353-06D3-4EC0-B94D-E67151F1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1DA8CD-78B7-4DE3-A4BD-EE636EE4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SOURCE ATTRIBUTION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4B7D4-DBF6-44D6-A04E-4DA1BA61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33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source map is an assumption ledger, not a model output.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422dbdd234396"/>
          <a:stretch xmlns:a="http://schemas.openxmlformats.org/drawingml/2006/main"/>
        </p:blipFill>
        <p:spPr>
          <a:xfrm xmlns:a="http://schemas.openxmlformats.org/drawingml/2006/main">
            <a:off x="2394857" y="1952625"/>
            <a:ext cx="4354286" cy="3810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3D3CE-570D-404D-98DE-15A7ECEF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38350"/>
            <a:ext cx="2333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0C1B5-E30C-4109-9531-9A8953ED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050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Proxy definition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D72B0-D0C0-4CFC-ADCA-A69310BB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743200"/>
            <a:ext cx="18097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A hand-coded 0-1 country index for plausible climate-sensitive fire-carbon source regions.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Gross proxy: source plausibility.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Residual proxy: downweighted for regrowth, AFOLU overlap and double-counting risk.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62F3E-5338-4493-997B-D80DDB32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Source proxy CSV: wildfire_extension/manuscript/figures/png_pdf/fire_source_country_proxy.csv.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81460-D221-4439-811C-21BC1AB1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0759647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579DEE-4C1E-43AC-BFCE-5BE29A4A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65C2786-5D95-4FB6-AAE9-F7A71135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6228E87-80FA-4743-8E1F-184A73E2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DIAGNOSTICS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FF34-385D-4AAD-9357-BA3D9E07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71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Source geography and damage geography answer different questions.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de5c13ee245dc"/>
          <a:stretch xmlns:a="http://schemas.openxmlformats.org/drawingml/2006/main"/>
        </p:blipFill>
        <p:spPr>
          <a:xfrm xmlns:a="http://schemas.openxmlformats.org/drawingml/2006/main">
            <a:off x="1382629" y="2000250"/>
            <a:ext cx="3368842" cy="285750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fbb9d5f16a4531"/>
          <a:stretch xmlns:a="http://schemas.openxmlformats.org/drawingml/2006/main"/>
        </p:blipFill>
        <p:spPr>
          <a:xfrm xmlns:a="http://schemas.openxmlformats.org/drawingml/2006/main">
            <a:off x="6000750" y="2245179"/>
            <a:ext cx="4572000" cy="23676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E56C9-20BF-4F79-A91B-858AC619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00625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Incremental core damages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37F30-8BB8-4BE5-9B47-EF9F4C2E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00625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Incremental core-sector SCC contribution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DFDD0-39C7-4CE1-A6A5-384ADFF3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72125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Diagnostics only: these exclude sea-level rise, smoke mortality, non-CO2 fire forcers and within-country distribution.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6E12D-F948-462E-B5C9-13FCE60A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Regional diagnostics generated with Natural Earth country boundaries.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3FF0B-F199-4451-8CD8-00851632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3887776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C1667B-359D-43C4-9F68-3B8B690D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5AF767D-9E8C-40DA-95CB-0179B320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DFB6AFF-9D1C-4BA8-A777-9EFC94C6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REPLICATION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FEAB4-05C2-4C5E-8266-5B5DC871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19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extension is isolated from the original replication code and ready for a GitHub remote.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2C54F-0E7F-40D7-9DA4-1C84BB52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5334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9525">
            <a:solidFill>
              <a:srgbClr val="18232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A8AE6-3380-4C75-B56D-B067102D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48577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/Users/jbb/Dropbox/GIVE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RennertEtAl2022ReplicationCodeData.zip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tools/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  julia-1.6.4/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  julia-1.8.5/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paper-2022-scc-give-zenodo/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  Project.toml / Manifest.toml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  packages/MimiGIVE / MimiFAIR / MimiRFFSPs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  wildfire_extension/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    WildfireGIVE.jl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    run_temperature_feedback_mcs.jl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    run_sectoral_diagnostics.jl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    run_regional_damage_map_diagnostics.jl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    make_png_pdf_figures.R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    manuscript/ replication/ teaching_module/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  output/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7437F-9B94-4E22-9AD7-05D3D8EA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095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C3F00-E274-442E-B7F8-9DBD7B15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003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What is reproducible 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E09EF-25F4-4C7B-8CE8-690F8401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19400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Deterministic runs, 100-draw validation, figures, manuscript, memo, teaching module and scripts.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1FF06-8D36-47E8-AE15-6AB995BF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33800"/>
            <a:ext cx="4095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6"/>
          </a:solidFill>
          <a:ln xmlns:a="http://schemas.openxmlformats.org/drawingml/2006/main" w="9525">
            <a:solidFill>
              <a:srgbClr val="D6A1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97B77-7900-45FE-8B71-F8CE8665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814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What remains before public release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B2E70-B191-449A-8C83-B51B38C4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00550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Create the GitHub repository, push the package, then run or parallelize the full 10,000-draw Monte Carlo.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BBDB5-B08B-48FF-AFDB-C757C614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Local workspace inventory; no GitHub remote has been created yet.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3684D-4175-49A6-84A6-46D3E933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5673282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1EB6D2-3267-46BE-A965-05DB4BE4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5F1EF68-B4DD-4A2D-8202-7C534CEB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ECF2C6E-6A0E-4D3F-92E6-8F57DABC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AI COLLABORATION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06EB3-93E2-4F84-99EC-F03E7914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90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AI was most useful as a persistent research programmer and auditor.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1BC27-D157-402F-8496-B39053C2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19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4638D-93BA-4376-BA32-6FEDFE6A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C84E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7C7EB-94C6-4546-9A4B-1B1F48EE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3575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You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9252A-D7FA-4A5C-9CDD-BBFD2EEB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85950"/>
            <a:ext cx="790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Framed hypotheses; challenged units and double counting; redirected toward diagnostics; judged figure usefulness.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BF6DF-3AEF-4A6E-AA30-BFDA5573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1019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9E2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A39CE-C7D5-4824-9FBE-2397AD7D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B"/>
          </a:solidFill>
          <a:ln xmlns:a="http://schemas.openxmlformats.org/drawingml/2006/main" w="0">
            <a:solidFill>
              <a:srgbClr val="1F6B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2DAEA-7E7E-4F94-9A9B-0581046C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52775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AI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B7F60-BF6C-4D15-96BC-D3CC7F44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05150"/>
            <a:ext cx="790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Searched code and literature; implemented the extension; ran checks; generated plots; drafted manuscript and deck.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507BC-3BFD-4405-984A-9E4998DD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1019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348FF-D327-4D01-B37C-D13A304C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13C"/>
          </a:solidFill>
          <a:ln xmlns:a="http://schemas.openxmlformats.org/drawingml/2006/main" w="0">
            <a:solidFill>
              <a:srgbClr val="D6A1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A2D80-6682-4B81-99D8-CD376D22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71975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Shared workspace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11FA9-7C63-4A65-8B88-38A23448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24350"/>
            <a:ext cx="790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All claims tied back to files, runs, figures, tables, and scripts on the same machine.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752E3-3178-4A7F-AC5A-C43BEDA3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72125"/>
            <a:ext cx="942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Bootcamp lesson: the leverage came from tight feedback loops, visible files, skeptical checks, and refusing to treat the first model output as the answer.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099FF5-0BBF-4E43-A0DF-05F6AAE8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Collaboration pattern from this thread and local workspace history.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1C0CE6-5DC6-475E-B705-207DB61F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1109542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86D044-6A88-4132-A9AC-F83F5966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0EEAA55-C50A-4B40-B0FD-56B5B599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28C850F-A3EA-48F1-991D-E8E15522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68A94-F025-45F7-ABCD-C85AC43E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D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DFC"/>
                </a:solidFill>
                <a:latin typeface="Aptos Display"/>
                <a:ea typeface="Aptos Display"/>
                <a:cs typeface="Aptos Display"/>
              </a:rPr>
              <a:t>The preliminary result is useful, but the theory and data choices carry the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DC32A-4A94-4980-A4E2-3263CC11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25241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330"/>
          </a:solidFill>
          <a:ln xmlns:a="http://schemas.openxmlformats.org/drawingml/2006/main" w="9525">
            <a:solidFill>
              <a:srgbClr val="4152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CE0EF-5A27-4862-A39E-E9F59B65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Finding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FC2BB-9F23-4FDF-B7ED-A124DCE1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GIVE lacks an endogenous warming -&gt; wildfire -&gt; CO2 feedback; any baseline fire carbon is exogenous and aggregated.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F5082-9616-490C-B478-3E35D09B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14625"/>
            <a:ext cx="25241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330"/>
          </a:solidFill>
          <a:ln xmlns:a="http://schemas.openxmlformats.org/drawingml/2006/main" w="9525">
            <a:solidFill>
              <a:srgbClr val="4152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911C6-132A-461C-AC72-FF6B1829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EBBA7-6B73-4C06-B852-69D5017D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861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Residual net feedbacks are modest in 100 paired draws; gross missing fire-carbon stress tests can be large.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B71CE-AAEF-4D9E-987A-3A6A3C8A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14625"/>
            <a:ext cx="25241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330"/>
          </a:solidFill>
          <a:ln xmlns:a="http://schemas.openxmlformats.org/drawingml/2006/main" w="9525">
            <a:solidFill>
              <a:srgbClr val="41524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100D1-797C-4FD9-AC65-36FE5325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03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Caveat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9D77A-FC7A-450D-B49B-DD32F538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861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Gross fire emissions are not persistent net atmospheric additions, and baseline pathways may already embed some fire/AFOLU expectations.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242415-BEDB-4CCB-9526-9D6D9ABA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14625"/>
            <a:ext cx="25241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330"/>
          </a:solidFill>
          <a:ln xmlns:a="http://schemas.openxmlformats.org/drawingml/2006/main" w="9525">
            <a:solidFill>
              <a:srgbClr val="4152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8C9EB-D5F8-477B-9F23-B3B81111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003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85DBD-335E-41F3-A63F-149602D9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861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Ingest gridded fire-carbon projections, characterize net persistence, avoid double counting, then run the full 10,000-draw Monte Carlo.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E008C-48BC-491D-839E-BA178864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476875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A good AI-assisted research workflow made the uncertainty more visible, not less.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E6DD9-D989-40E6-89B9-4F68484B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Interpretation checkpoint: results are preliminary and intended to guide the next empirical iteration.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31168D-A0FD-4E1C-9697-E10990AF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3723913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083313-E875-45D3-954A-6D6F0C7C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777E79E-00CA-4AAD-9E8A-1D9D55F6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9EBB8FE-CF85-4375-8834-F632A8F2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AUDIT TRAIL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8ECBB-A991-40C2-9110-66F491A4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90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audit separated what is known, unknown and definitely missing.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3F778-D80C-40E3-A5C9-9E10FB4D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19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D37A1-129D-466C-AE2E-88F9DF8A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B"/>
          </a:solidFill>
          <a:ln xmlns:a="http://schemas.openxmlformats.org/drawingml/2006/main" w="0">
            <a:solidFill>
              <a:srgbClr val="1F6B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E92CD-38A4-4EA6-AD0D-96CA9A80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050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603D0-8D03-4F62-B884-681993B4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812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Pathway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F27C8-AFCE-47F6-991B-0E9174AF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812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MimiRFFSPs loads one aggregate global CO2 emissions pathway, not fossil / AFOLU / fire splits.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C9198-B45D-4C39-8342-730E8C11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MimiRFFSPs: SPs.jl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4861F-E0E3-4530-B7E3-864B2950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19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063FC-6D96-4186-93BC-2F91C77A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B"/>
          </a:solidFill>
          <a:ln xmlns:a="http://schemas.openxmlformats.org/drawingml/2006/main" w="0">
            <a:solidFill>
              <a:srgbClr val="1F6B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742E1-4C1E-402F-93F3-E3F1E4E1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384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2C64FB-2250-4827-9DE2-59BF27E9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Model connection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47010-88BE-4BBB-84E7-F5C71310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GIVE passes aggregate CO2 into FaIR, where the carbon cycle, forcing and temperature are calculated.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8340B-538D-468B-8140-00BC75AF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718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MimiGIVE: main_model.jl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29E1B-37A0-415A-A04F-DB2E5895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19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3406F6-FCE0-4751-95E0-5C2AD362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B"/>
          </a:solidFill>
          <a:ln xmlns:a="http://schemas.openxmlformats.org/drawingml/2006/main" w="0">
            <a:solidFill>
              <a:srgbClr val="1F6B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5F4F01-833E-4B71-964B-4E2346D2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719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3825DB-C206-4DBE-BBA8-8370532A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48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Fallback pathways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66D587-A0A9-4384-A0E6-7B6DB997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481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For non-RFF runs, GIVE uses AR6-style fossil plus other CO2 pathway inputs.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34EF4A-E36A-45D7-85F0-78411F86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main_model.jl fallback branch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ABE8A1-1C50-4465-88ED-4DEC9B81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19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C84E2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5425AE-118D-4E9C-B05C-1B08AF52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C84E2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EAF68F-0BD8-4926-8A9F-0C1EE3ED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053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984BFC-FCAA-4D6B-B335-96C50085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815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Definite gap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F67DA4-CF0F-4AE8-AC80-F88780CE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815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No internal loop makes higher temperature produce extra wildfire CO2 emissions during the SCC pulse run.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0C3D2F-9D02-4557-96E4-ADE74816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387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4E2D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84E2D"/>
                </a:solidFill>
                <a:latin typeface="Aptos Mono"/>
                <a:ea typeface="Aptos Mono"/>
                <a:cs typeface="Aptos Mono"/>
              </a:rPr>
              <a:t>wildfire feedback absent unless added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DB59AA-7ACE-4FDF-8BBA-7317B5A9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Audit conclusion: we cannot prove every historical or projected fire emission is absent from the baseline, but we can test an additional temperature-driven feedback as a residual mechanism.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4EE49D-6B4F-420F-844C-0145FC14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Code-audit summary; detailed file paths belong in the appendix/technical memo.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67DEC8-2B4A-476F-B634-EFD2D079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220235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78E1A6-F551-47E5-A96D-FC47D4CD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6739C7C-049E-41E0-ADF2-9D5F5D8D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3E57D6D-9DA2-4F57-8033-34DCD439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CODE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85F1D-6635-4C61-A63F-9A83328E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90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implementation is a wrapper extension, not a rewrite of GIVE.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5C210-251B-40F3-BABF-8C427792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476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8BF65-132E-403B-AF83-45420EBE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3524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Original replication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DEE6C-9BBD-4F04-BC14-045E7329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3619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RFF-SP CO2 pathway</a:t>
            </a:r>
          </a:p>
          <a:p xmlns:a="http://schemas.openxmlformats.org/drawingml/2006/main">
            <a:pPr algn="l">
              <a:def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       -&gt; FaIR carbon cycle</a:t>
            </a:r>
          </a:p>
          <a:p xmlns:a="http://schemas.openxmlformats.org/drawingml/2006/main">
            <a:pPr algn="l">
              <a:def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       -&gt; forcing and temperature</a:t>
            </a:r>
          </a:p>
          <a:p xmlns:a="http://schemas.openxmlformats.org/drawingml/2006/main">
            <a:pPr algn="l">
              <a:def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       -&gt; sector damages</a:t>
            </a:r>
          </a:p>
          <a:p xmlns:a="http://schemas.openxmlformats.org/drawingml/2006/main">
            <a:pPr algn="l">
              <a:def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       -&gt; SCC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78DC3-0EA6-4C47-BC31-E45791E2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476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9E2"/>
          </a:solidFill>
          <a:ln xmlns:a="http://schemas.openxmlformats.org/drawingml/2006/main" w="9525">
            <a:solidFill>
              <a:srgbClr val="1F6B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D36BB-85A0-44DA-9BC4-790136D7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3524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Extension wrapper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895C8-D643-4E9F-B9B8-A61059E4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3619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Same baseline path</a:t>
            </a:r>
          </a:p>
          <a:p xmlns:a="http://schemas.openxmlformats.org/drawingml/2006/main">
            <a:pPr algn="l">
              <a:def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       + wildfire feedback</a:t>
            </a:r>
          </a:p>
          <a:p xmlns:a="http://schemas.openxmlformats.org/drawingml/2006/main">
            <a:pPr algn="l">
              <a:def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       -&gt; FaIR carbon cycle</a:t>
            </a:r>
          </a:p>
          <a:p xmlns:a="http://schemas.openxmlformats.org/drawingml/2006/main">
            <a:pPr algn="l">
              <a:def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       -&gt; same damage modules</a:t>
            </a:r>
          </a:p>
          <a:p xmlns:a="http://schemas.openxmlformats.org/drawingml/2006/main">
            <a:pPr algn="l">
              <a:def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       -&gt; paired SCC comparison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0ACE3-D6A2-41F4-9224-C1EBB6E3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19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9525">
            <a:solidFill>
              <a:srgbClr val="18232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3C895-734E-4C53-B527-FB5D730C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00650"/>
            <a:ext cx="762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DFC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DFC"/>
                </a:solidFill>
                <a:latin typeface="Aptos Mono"/>
                <a:ea typeface="Aptos Mono"/>
                <a:cs typeface="Aptos Mono"/>
              </a:rPr>
              <a:t>Changed files live under wildfire_extension/: WildfireGIVE.jl  |  run_temperature_feedback_mcs.jl  |  run_sectoral_diagnostics.jl  |  run_regional_damage_map_diagnostics.jl  |  make_png_pdf_figures.R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D421B-4E80-4BAE-9593-C35A90C6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Original replication code preserved; extension files are isolated for review and rollback.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ADFBC-F623-45DD-AC06-97F0CDF7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2402134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A36CC3-B60F-4C70-B778-33BE4BCA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2D05644-CB9D-4182-89B7-D548E042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CB31C3B-9354-4A52-BF74-02F18836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FROM LITERATURE TO PARAMETERS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F4B61-14B3-4881-AD12-38DE8D94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papers inform separate parameters rather than a single magic number.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9F93B-A517-4852-9F1F-569A1838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110F1-1087-49BF-81BD-4C712042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145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Parameter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37DFC-9FBE-41F6-9471-D5EF282A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Interpretation guardrail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56E59-008F-46D6-8275-4CC8DDE2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AF935-D391-439C-8932-B9D5DEEE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Byrne et al. Canada 2023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BC1BB-540A-4935-B45D-093A83A5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288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Event-scale sanity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AFA3F-0791-4CDE-8FA3-FDA7AD46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Large boreal events can reach multi-GtCO2 annual scale.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76806-4946-4BBC-A2EC-A4175FDA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D4F44-55F9-4A17-859B-A8CCF5CF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Val Martin / Pierce / Heald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B04CE-E789-45B2-9DAD-FCC0F838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146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Temperature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47B4E-D5B2-4FB2-8940-8EAF50F6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Used to motivate a gross fire-emissions sensitivity to warming.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EB840A-2CD2-49D3-B1F8-44AEBE72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8C178-2E03-4E69-937F-7E9C2854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RESFire / CESM fire-feedback studies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AECFC-8996-4B29-81D8-B0591CCB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004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Stress bounds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E1EC9C-F8F2-4360-835A-7E520888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High-end missing-feedback cases show mechanism sensitivity.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2CD45-EDB0-4099-A84A-66EAFB9B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A35302-9BE9-46EE-9896-FFFFB801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Qiu et 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206538-57FF-4436-A40F-5589D4CE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862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Complementary damage channel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F4A1E6-3F5F-4C88-9A60-50EEBC3D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4815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Smoke mortality is important but not included in this carbon-only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644458-6B94-433D-9EB6-55FA0A79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3954CE-63A4-431E-9F68-93D3019C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RFF-SP / GIVE / FaIR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647AF5-6F0D-4EAE-A94F-50528533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720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Accounting boundary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0548CB-11CC-46C8-8E6D-E4E770B5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3395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Defines where aggregate CO2 enters and where double-counting can occur.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CD381B-8D6C-40C4-B433-5D3B5393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959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This structure keeps the model honest: magnitude, persistence, missing share and damages are distinct judgments.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6A434-2E5C-4E26-91B8-4C21161B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Literature synthesis used for the current validation-scale model extension.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317367-3ACF-445E-91C5-DA5B15FA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3134497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7525EB-DE49-43AB-A8B6-23CEF256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543036E-F6CE-44D0-9739-6FDFD5F8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C342CBC-BDDF-4C20-A3D7-5012C868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UNCERTAINTY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C81A9-9E13-4A59-9350-895E078B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09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Paired sampling isolates the wildfire effect from GIVE's existing uncertainty.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81E01-A50A-4416-965A-3B7B0CC0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1FA19-285F-47B4-8C11-4E5C51E2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Hold fixed across pair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17768-6C00-4132-9280-57219CE7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Climate sensitivity, socioeconomic path, damage parameters, discounting and baseline SCC draw.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C401D-6151-4F7E-99C7-2BC4CAB5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194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9F9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9F9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5B12C-C4E8-45D0-8A49-ECA4965A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02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9E2"/>
          </a:solidFill>
          <a:ln xmlns:a="http://schemas.openxmlformats.org/drawingml/2006/main" w="9525">
            <a:solidFill>
              <a:srgbClr val="1F6B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7D80D-039F-4810-9F0A-839850E9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050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Sample for wildfire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D000AA-FE62-404E-B5A7-CFAFF6D2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337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Reference fire scale, temperature response, net persistence and missing-share adjustment.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0F74F-2809-4549-A1FF-3822EC30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194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9F9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9F9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6BE62-A46C-404B-9210-D0D481A1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E12D3-ED8C-46A4-9BB2-AE28BD3C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050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Compare within draw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B64EE-2371-4102-8C08-1A67AD50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337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SCC_wildfire - SCC_baseline gives the incremental effect under the same GIVE world.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AFEB4-2DAE-4FD8-9B51-E0A3E045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62500"/>
            <a:ext cx="8096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6"/>
          </a:solidFill>
          <a:ln xmlns:a="http://schemas.openxmlformats.org/drawingml/2006/main" w="9525">
            <a:solidFill>
              <a:srgbClr val="D6A1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44E0F6-A4E8-4361-9D5B-CEE92F18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33950"/>
            <a:ext cx="747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Why this matters: a noisy Monte Carlo can hide small effects. Paired draws make the wildfire increment visible without pretending the 100-draw validation is the final 10,000-run result.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C9723-7730-4E40-93F0-DA7BF65F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Method used in run_temperature_feedback_mcs.jl and planned for the full Monte Carlo.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696A2-41DF-4EA0-81D7-B1091BE6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366075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702FC3-33AA-464E-92CA-E975B859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25F765B-59E4-4114-8590-4D49EF3A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658CC75-DA5C-4638-A669-3F743828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WHAT REMAINS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BD26E-FD95-4C10-8E0D-47F40A9C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90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next run should be bigger only after the data boundary is locked.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5A9A6-E4AF-458F-89B8-480521A7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C84E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B0E64-FE9B-44BC-9779-F4A9CFE4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C84E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02209-720D-4563-B76A-1B499B24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716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BACFF-73BE-4490-A859-67FE89B1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85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Freeze accounting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11131-0000-4FA4-8D68-3D56FC7A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66900"/>
            <a:ext cx="523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Decide what counts as net, persistent, not-already-embedded wildfire CO2.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A87DF-F1C4-47F7-932F-C641E93D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BE532-6307-473E-A46C-F9C7FEEA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B"/>
          </a:solidFill>
          <a:ln xmlns:a="http://schemas.openxmlformats.org/drawingml/2006/main" w="0">
            <a:solidFill>
              <a:srgbClr val="1F6B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18781-03D5-4CDD-8D63-13A4000E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908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F7877-8BD4-47A6-823B-DE4FDD82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05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Upgrade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515C1-30F8-4C3E-90D0-F4FE004D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523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Replace heuristic source weights with gridded or regional fire-carbon projections.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0414C-2789-479C-AA8C-8658536D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8A3C10-8E68-446C-A6DE-92FB22D4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B"/>
          </a:solidFill>
          <a:ln xmlns:a="http://schemas.openxmlformats.org/drawingml/2006/main" w="0">
            <a:solidFill>
              <a:srgbClr val="1F6B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D7C501-BB50-4206-BE9D-1D94515E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99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741138-0AE9-4BB4-B93C-07DF0982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Run 10,000 pairs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BE098A-C6DE-47F8-A1E6-177B573A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05200"/>
            <a:ext cx="523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Parallelize baseline and wildfire scenarios with identical GIVE draws.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080BB8-25B4-45AC-8FFE-AD94C139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2067C2-9723-4AC4-94C0-5256039F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B"/>
          </a:solidFill>
          <a:ln xmlns:a="http://schemas.openxmlformats.org/drawingml/2006/main" w="0">
            <a:solidFill>
              <a:srgbClr val="1F6B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F7A952-4891-4202-BDD4-CA8B56AE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291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AE4795-5EC8-4D59-9FED-8E88BF4C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434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Stress-test mechanisms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20B51F-5A14-419D-9F6C-155283FD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24350"/>
            <a:ext cx="523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Check temperature, forcing, sector damages, discounting and sea-level timing.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72DBB1-C1FF-4C92-876D-BA9F2A66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1A00F5-4FB0-472B-B20B-3679DB33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00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B"/>
          </a:solidFill>
          <a:ln xmlns:a="http://schemas.openxmlformats.org/drawingml/2006/main" w="0">
            <a:solidFill>
              <a:srgbClr val="1F6B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DC0BE4-57CB-46F4-A3C7-F6D84D92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482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47BC6A-6EE3-4D07-ACF0-5785F074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625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Publish package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5E7E6B-1984-46C7-BDE9-BA5F329B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43500"/>
            <a:ext cx="523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Create remote GitHub repository, tag version and include run logs.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B0DEB2-B44E-4C01-81DE-8CA13122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Reason for stopping at validation scale: avoid spending compute on a parameterization we may revise.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37F4E1-4B15-4E3B-97C2-40E8628E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1700134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8E050F-6587-48ED-8CEC-9567990A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BD28393-913F-434B-8E9B-58F6AF05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CBB2815-3842-4728-9C92-015B75F6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BOOTCAMP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F5692-9A04-4CF0-B0BA-6C9B1822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DFC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FFFDFC"/>
                </a:solidFill>
                <a:latin typeface="Aptos Display"/>
                <a:ea typeface="Aptos Display"/>
                <a:cs typeface="Aptos Display"/>
              </a:rPr>
              <a:t>The collaboration pattern is the portable lesson.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CBE05-2AEE-46F1-BF2B-9B55529C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330"/>
          </a:solidFill>
          <a:ln xmlns:a="http://schemas.openxmlformats.org/drawingml/2006/main" w="9525">
            <a:solidFill>
              <a:srgbClr val="4152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15533-98E6-40AC-A1A8-607597CE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05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Make the question falsifiable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EF228-299D-4BCA-A4C4-29F0B3F4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050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Can we show the feedback is absent, embedded or ambiguous?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450B5-963D-4B77-A342-B505891D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90825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37"/>
          </a:solidFill>
          <a:ln xmlns:a="http://schemas.openxmlformats.org/drawingml/2006/main" w="9525">
            <a:solidFill>
              <a:srgbClr val="4152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1D6B5-B007-4D4A-B213-C652FF77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52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Keep files visible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41EAD-3BB8-417A-A404-5EC3ADB3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Every claim should point to code, data, output or a figure.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B2DC3-ACE7-459E-BCB7-B2DDF595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38525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330"/>
          </a:solidFill>
          <a:ln xmlns:a="http://schemas.openxmlformats.org/drawingml/2006/main" w="9525">
            <a:solidFill>
              <a:srgbClr val="41524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2DA98-C675-4CB1-A2FE-0EFC460D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0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Run small before large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60EA7-B083-42CB-B5EE-CB7FC374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One draw, diagnostics, then paired Monte Carlo.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05357-C565-4B1F-B481-81CEBC16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86225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37"/>
          </a:solidFill>
          <a:ln xmlns:a="http://schemas.openxmlformats.org/drawingml/2006/main" w="9525">
            <a:solidFill>
              <a:srgbClr val="4152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5135B-490F-46A4-A25F-903539BF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Use skepticism as steering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30C3F-0DC2-4300-B328-BB3AA2E4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481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Unit checks and double-counting questions improved the model.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A44F6A-CD9E-4888-86D3-ADBCB6C9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33925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330"/>
          </a:solidFill>
          <a:ln xmlns:a="http://schemas.openxmlformats.org/drawingml/2006/main" w="9525">
            <a:solidFill>
              <a:srgbClr val="41524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259C86-096A-49D8-8F39-F77B5B01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Publish the trail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330C52-0095-4953-82BA-2E3476E6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958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Memo, manuscript, figures, scripts and repository before policy claims.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029326-7B0D-4F66-A232-0AB6D226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For academics: the AI is strongest when treated as a tireless collaborator inside a disciplined research design.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FA53F0-6E7C-4F1E-8087-F10C76BC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End: results and workflow are both part of the presentation.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53704B-3B1E-4037-9C06-49A07726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67566770"/>
      </p:ext>
    </p:extLst>
  </p:cSld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1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" name=""/>
          <p:cNvSpPr/>
          <p:nvPr/>
        </p:nvSpPr>
        <p:spPr>
          <a:xfrm>
            <a:off x="457200" y="400050"/>
            <a:ext cx="361950" cy="28575"/>
          </a:xfrm>
          <a:prstGeom prst="rect">
            <a:avLst/>
          </a:prstGeom>
          <a:solidFill>
            <a:srgbClr val="C84E2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" name=""/>
          <p:cNvSpPr/>
          <p:nvPr/>
        </p:nvSpPr>
        <p:spPr>
          <a:xfrm>
            <a:off x="933450" y="2857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EPISTEMIC CHECKS</a:t>
            </a:r>
          </a:p>
        </p:txBody>
      </p:sp>
      <p:sp>
        <p:nvSpPr>
          <p:cNvPr id="4" name=""/>
          <p:cNvSpPr/>
          <p:nvPr/>
        </p:nvSpPr>
        <p:spPr>
          <a:xfrm>
            <a:off x="457200" y="781050"/>
            <a:ext cx="10096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How I judged whether the work was on solid ground.</a:t>
            </a:r>
          </a:p>
        </p:txBody>
      </p:sp>
      <p:sp>
        <p:nvSpPr>
          <p:cNvPr id="5" name=""/>
          <p:cNvSpPr/>
          <p:nvPr/>
        </p:nvSpPr>
        <p:spPr>
          <a:xfrm>
            <a:off x="666750" y="2000250"/>
            <a:ext cx="4667250" cy="1162050"/>
          </a:xfrm>
          <a:prstGeom prst="rect">
            <a:avLst/>
          </a:prstGeom>
          <a:solidFill>
            <a:srgbClr val="FFFDFC"/>
          </a:solidFill>
          <a:ln w="9525">
            <a:solidFill>
              <a:srgbClr val="D7CDBF"/>
            </a:solidFill>
            <a:prstDash val="solid"/>
          </a:ln>
        </p:spPr>
      </p:sp>
      <p:sp>
        <p:nvSpPr>
          <p:cNvPr id="6" name=""/>
          <p:cNvSpPr/>
          <p:nvPr/>
        </p:nvSpPr>
        <p:spPr>
          <a:xfrm>
            <a:off x="876300" y="2209800"/>
            <a:ext cx="4248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Code over vibes</a:t>
            </a:r>
          </a:p>
        </p:txBody>
      </p:sp>
      <p:sp>
        <p:nvSpPr>
          <p:cNvPr id="7" name=""/>
          <p:cNvSpPr/>
          <p:nvPr/>
        </p:nvSpPr>
        <p:spPr>
          <a:xfrm>
            <a:off x="876300" y="2628900"/>
            <a:ext cx="4248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I traced where CO2 enters GIVE, how FaIR receives it, and whether a warming-to-fire-to-CO2 loop exists.</a:t>
            </a:r>
          </a:p>
        </p:txBody>
      </p:sp>
      <p:sp>
        <p:nvSpPr>
          <p:cNvPr id="8" name=""/>
          <p:cNvSpPr/>
          <p:nvPr/>
        </p:nvSpPr>
        <p:spPr>
          <a:xfrm>
            <a:off x="5953125" y="2000250"/>
            <a:ext cx="4667250" cy="1162050"/>
          </a:xfrm>
          <a:prstGeom prst="rect">
            <a:avLst/>
          </a:prstGeom>
          <a:solidFill>
            <a:srgbClr val="FFFDFC"/>
          </a:solidFill>
          <a:ln w="9525">
            <a:solidFill>
              <a:srgbClr val="D7CDBF"/>
            </a:solidFill>
            <a:prstDash val="solid"/>
          </a:ln>
        </p:spPr>
      </p:sp>
      <p:sp>
        <p:nvSpPr>
          <p:cNvPr id="9" name=""/>
          <p:cNvSpPr/>
          <p:nvPr/>
        </p:nvSpPr>
        <p:spPr>
          <a:xfrm>
            <a:off x="6162675" y="2209800"/>
            <a:ext cx="4248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Unit discipline</a:t>
            </a:r>
          </a:p>
        </p:txBody>
      </p:sp>
      <p:sp>
        <p:nvSpPr>
          <p:cNvPr id="10" name=""/>
          <p:cNvSpPr/>
          <p:nvPr/>
        </p:nvSpPr>
        <p:spPr>
          <a:xfrm>
            <a:off x="6162675" y="2628900"/>
            <a:ext cx="4248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I checked CO2 vs carbon, annual flows vs atmospheric stocks, and event-scale anchors such as Canada 2023.</a:t>
            </a:r>
          </a:p>
        </p:txBody>
      </p:sp>
      <p:sp>
        <p:nvSpPr>
          <p:cNvPr id="11" name=""/>
          <p:cNvSpPr/>
          <p:nvPr/>
        </p:nvSpPr>
        <p:spPr>
          <a:xfrm>
            <a:off x="666750" y="3476625"/>
            <a:ext cx="4667250" cy="1162050"/>
          </a:xfrm>
          <a:prstGeom prst="rect">
            <a:avLst/>
          </a:prstGeom>
          <a:solidFill>
            <a:srgbClr val="FFFDFC"/>
          </a:solidFill>
          <a:ln w="9525">
            <a:solidFill>
              <a:srgbClr val="D7CDBF"/>
            </a:solidFill>
            <a:prstDash val="solid"/>
          </a:ln>
        </p:spPr>
      </p:sp>
      <p:sp>
        <p:nvSpPr>
          <p:cNvPr id="12" name=""/>
          <p:cNvSpPr/>
          <p:nvPr/>
        </p:nvSpPr>
        <p:spPr>
          <a:xfrm>
            <a:off x="876300" y="3686175"/>
            <a:ext cx="4248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Mechanism tests</a:t>
            </a:r>
          </a:p>
        </p:txBody>
      </p:sp>
      <p:sp>
        <p:nvSpPr>
          <p:cNvPr id="13" name=""/>
          <p:cNvSpPr/>
          <p:nvPr/>
        </p:nvSpPr>
        <p:spPr>
          <a:xfrm>
            <a:off x="876300" y="4105275"/>
            <a:ext cx="4248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We used one-draw checks, a 1000% stress case, sectoral marginal damages and temperature-path diagnostics.</a:t>
            </a:r>
          </a:p>
        </p:txBody>
      </p:sp>
      <p:sp>
        <p:nvSpPr>
          <p:cNvPr id="14" name=""/>
          <p:cNvSpPr/>
          <p:nvPr/>
        </p:nvSpPr>
        <p:spPr>
          <a:xfrm>
            <a:off x="5953125" y="3476625"/>
            <a:ext cx="4667250" cy="1162050"/>
          </a:xfrm>
          <a:prstGeom prst="rect">
            <a:avLst/>
          </a:prstGeom>
          <a:solidFill>
            <a:srgbClr val="FFFDFC"/>
          </a:solidFill>
          <a:ln w="9525">
            <a:solidFill>
              <a:srgbClr val="D7CDBF"/>
            </a:solidFill>
            <a:prstDash val="solid"/>
          </a:ln>
        </p:spPr>
      </p:sp>
      <p:sp>
        <p:nvSpPr>
          <p:cNvPr id="15" name=""/>
          <p:cNvSpPr/>
          <p:nvPr/>
        </p:nvSpPr>
        <p:spPr>
          <a:xfrm>
            <a:off x="6162675" y="3686175"/>
            <a:ext cx="4248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Literature triangulation</a:t>
            </a:r>
          </a:p>
        </p:txBody>
      </p:sp>
      <p:sp>
        <p:nvSpPr>
          <p:cNvPr id="16" name=""/>
          <p:cNvSpPr/>
          <p:nvPr/>
        </p:nvSpPr>
        <p:spPr>
          <a:xfrm>
            <a:off x="6162675" y="4105275"/>
            <a:ext cx="4248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I separated smoke mortality, gross fire emissions, net persistence and double-counting risk.</a:t>
            </a:r>
          </a:p>
        </p:txBody>
      </p:sp>
      <p:sp>
        <p:nvSpPr>
          <p:cNvPr id="17" name=""/>
          <p:cNvSpPr/>
          <p:nvPr/>
        </p:nvSpPr>
        <p:spPr>
          <a:xfrm>
            <a:off x="1428750" y="5219700"/>
            <a:ext cx="8572500" cy="609600"/>
          </a:xfrm>
          <a:prstGeom prst="rect">
            <a:avLst/>
          </a:prstGeom>
          <a:solidFill>
            <a:srgbClr val="F4E8C6"/>
          </a:solidFill>
          <a:ln w="9525">
            <a:solidFill>
              <a:srgbClr val="D6A13C"/>
            </a:solidFill>
            <a:prstDash val="solid"/>
          </a:ln>
        </p:spPr>
      </p:sp>
      <p:sp>
        <p:nvSpPr>
          <p:cNvPr id="18" name=""/>
          <p:cNvSpPr/>
          <p:nvPr/>
        </p:nvSpPr>
        <p:spPr>
          <a:xfrm>
            <a:off x="1695450" y="5391150"/>
            <a:ext cx="80486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Correct means a defensible conditional experiment, not proof that wildfire carbon is absent from every baseline pathway.</a:t>
            </a:r>
          </a:p>
        </p:txBody>
      </p:sp>
      <p:sp>
        <p:nvSpPr>
          <p:cNvPr id="19" name=""/>
          <p:cNvSpPr/>
          <p:nvPr/>
        </p:nvSpPr>
        <p:spPr>
          <a:xfrm>
            <a:off x="457200" y="651510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Epistemic slide added after the 22-slide deck: methods for deciding whether the extension was justified.</a:t>
            </a:r>
          </a:p>
        </p:txBody>
      </p:sp>
      <p:sp>
        <p:nvSpPr>
          <p:cNvPr id="20" name=""/>
          <p:cNvSpPr/>
          <p:nvPr/>
        </p:nvSpPr>
        <p:spPr>
          <a:xfrm>
            <a:off x="11239500" y="651510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1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" name=""/>
          <p:cNvSpPr/>
          <p:nvPr/>
        </p:nvSpPr>
        <p:spPr>
          <a:xfrm>
            <a:off x="457200" y="400050"/>
            <a:ext cx="361950" cy="28575"/>
          </a:xfrm>
          <a:prstGeom prst="rect">
            <a:avLst/>
          </a:prstGeom>
          <a:solidFill>
            <a:srgbClr val="C84E2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" name=""/>
          <p:cNvSpPr/>
          <p:nvPr/>
        </p:nvSpPr>
        <p:spPr>
          <a:xfrm>
            <a:off x="933450" y="2857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ROLES AND DEFERENCE</a:t>
            </a:r>
          </a:p>
        </p:txBody>
      </p:sp>
      <p:sp>
        <p:nvSpPr>
          <p:cNvPr id="4" name=""/>
          <p:cNvSpPr/>
          <p:nvPr/>
        </p:nvSpPr>
        <p:spPr>
          <a:xfrm>
            <a:off x="457200" y="781050"/>
            <a:ext cx="10096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This was a team process, but not a symmetric one.</a:t>
            </a:r>
          </a:p>
        </p:txBody>
      </p:sp>
      <p:sp>
        <p:nvSpPr>
          <p:cNvPr id="5" name=""/>
          <p:cNvSpPr/>
          <p:nvPr/>
        </p:nvSpPr>
        <p:spPr>
          <a:xfrm>
            <a:off x="666750" y="1857375"/>
            <a:ext cx="3190875" cy="2857500"/>
          </a:xfrm>
          <a:prstGeom prst="rect">
            <a:avLst/>
          </a:prstGeom>
          <a:solidFill>
            <a:srgbClr val="FFFDFC"/>
          </a:solidFill>
          <a:ln w="9525">
            <a:solidFill>
              <a:srgbClr val="D7CDBF"/>
            </a:solidFill>
            <a:prstDash val="solid"/>
          </a:ln>
        </p:spPr>
      </p:sp>
      <p:sp>
        <p:nvSpPr>
          <p:cNvPr id="6" name=""/>
          <p:cNvSpPr/>
          <p:nvPr/>
        </p:nvSpPr>
        <p:spPr>
          <a:xfrm>
            <a:off x="876300" y="2066925"/>
            <a:ext cx="27717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Your role</a:t>
            </a:r>
          </a:p>
        </p:txBody>
      </p:sp>
      <p:sp>
        <p:nvSpPr>
          <p:cNvPr id="7" name=""/>
          <p:cNvSpPr/>
          <p:nvPr/>
        </p:nvSpPr>
        <p:spPr>
          <a:xfrm>
            <a:off x="876300" y="2486025"/>
            <a:ext cx="2771775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You set the hypothesis, challenged the scale, rejected weak figures, forced diagnostics and decided what mattered scientifically.</a:t>
            </a:r>
          </a:p>
        </p:txBody>
      </p:sp>
      <p:sp>
        <p:nvSpPr>
          <p:cNvPr id="8" name=""/>
          <p:cNvSpPr/>
          <p:nvPr/>
        </p:nvSpPr>
        <p:spPr>
          <a:xfrm>
            <a:off x="4143375" y="1857375"/>
            <a:ext cx="3190875" cy="2857500"/>
          </a:xfrm>
          <a:prstGeom prst="rect">
            <a:avLst/>
          </a:prstGeom>
          <a:solidFill>
            <a:srgbClr val="D7E9E2"/>
          </a:solidFill>
          <a:ln w="9525">
            <a:solidFill>
              <a:srgbClr val="1F6B5B"/>
            </a:solidFill>
            <a:prstDash val="solid"/>
          </a:ln>
        </p:spPr>
      </p:sp>
      <p:sp>
        <p:nvSpPr>
          <p:cNvPr id="9" name=""/>
          <p:cNvSpPr/>
          <p:nvPr/>
        </p:nvSpPr>
        <p:spPr>
          <a:xfrm>
            <a:off x="4352925" y="2066925"/>
            <a:ext cx="27717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My role</a:t>
            </a:r>
          </a:p>
        </p:txBody>
      </p:sp>
      <p:sp>
        <p:nvSpPr>
          <p:cNvPr id="10" name=""/>
          <p:cNvSpPr/>
          <p:nvPr/>
        </p:nvSpPr>
        <p:spPr>
          <a:xfrm>
            <a:off x="4352925" y="2486025"/>
            <a:ext cx="2771775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I acted as research programmer, model auditor, literature scout and skeptical calculator: fast execution plus an evidence ledger.</a:t>
            </a:r>
          </a:p>
        </p:txBody>
      </p:sp>
      <p:sp>
        <p:nvSpPr>
          <p:cNvPr id="11" name=""/>
          <p:cNvSpPr/>
          <p:nvPr/>
        </p:nvSpPr>
        <p:spPr>
          <a:xfrm>
            <a:off x="7620000" y="1857375"/>
            <a:ext cx="3190875" cy="2857500"/>
          </a:xfrm>
          <a:prstGeom prst="rect">
            <a:avLst/>
          </a:prstGeom>
          <a:solidFill>
            <a:srgbClr val="FFFDFC"/>
          </a:solidFill>
          <a:ln w="9525">
            <a:solidFill>
              <a:srgbClr val="D7CDBF"/>
            </a:solidFill>
            <a:prstDash val="solid"/>
          </a:ln>
        </p:spPr>
      </p:sp>
      <p:sp>
        <p:nvSpPr>
          <p:cNvPr id="12" name=""/>
          <p:cNvSpPr/>
          <p:nvPr/>
        </p:nvSpPr>
        <p:spPr>
          <a:xfrm>
            <a:off x="7829550" y="2066925"/>
            <a:ext cx="27717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D6A13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6A13C"/>
                </a:solidFill>
                <a:latin typeface="Aptos"/>
                <a:ea typeface="Aptos"/>
                <a:cs typeface="Aptos"/>
              </a:rPr>
              <a:t>Where I deferred</a:t>
            </a:r>
          </a:p>
        </p:txBody>
      </p:sp>
      <p:sp>
        <p:nvSpPr>
          <p:cNvPr id="13" name=""/>
          <p:cNvSpPr/>
          <p:nvPr/>
        </p:nvSpPr>
        <p:spPr>
          <a:xfrm>
            <a:off x="7829550" y="2486025"/>
            <a:ext cx="2771775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I ran experiments you asked for, including high-end stress tests, but labeled them as diagnostics when the accounting was not defensible.</a:t>
            </a:r>
          </a:p>
        </p:txBody>
      </p:sp>
      <p:sp>
        <p:nvSpPr>
          <p:cNvPr id="14" name=""/>
          <p:cNvSpPr/>
          <p:nvPr/>
        </p:nvSpPr>
        <p:spPr>
          <a:xfrm>
            <a:off x="1257300" y="5219700"/>
            <a:ext cx="9001125" cy="704850"/>
          </a:xfrm>
          <a:prstGeom prst="rect">
            <a:avLst/>
          </a:prstGeom>
          <a:solidFill>
            <a:srgbClr val="F4D5CA"/>
          </a:solidFill>
          <a:ln w="9525">
            <a:solidFill>
              <a:srgbClr val="C84E2D"/>
            </a:solidFill>
            <a:prstDash val="solid"/>
          </a:ln>
        </p:spPr>
      </p:sp>
      <p:sp>
        <p:nvSpPr>
          <p:cNvPr id="15" name=""/>
          <p:cNvSpPr/>
          <p:nvPr/>
        </p:nvSpPr>
        <p:spPr>
          <a:xfrm>
            <a:off x="1543050" y="5381625"/>
            <a:ext cx="84296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I should not knowingly take a wrong path. If a run is useful but scientifically dubious, my job is to name it as a stress test, not launder it into a result.</a:t>
            </a:r>
          </a:p>
        </p:txBody>
      </p:sp>
      <p:sp>
        <p:nvSpPr>
          <p:cNvPr id="16" name=""/>
          <p:cNvSpPr/>
          <p:nvPr/>
        </p:nvSpPr>
        <p:spPr>
          <a:xfrm>
            <a:off x="457200" y="651510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Role framing: PI/domain judgment from the human researcher; audit, implementation and challenge from the AI collaborator.</a:t>
            </a:r>
          </a:p>
        </p:txBody>
      </p:sp>
      <p:sp>
        <p:nvSpPr>
          <p:cNvPr id="17" name=""/>
          <p:cNvSpPr/>
          <p:nvPr/>
        </p:nvSpPr>
        <p:spPr>
          <a:xfrm>
            <a:off x="11239500" y="651510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1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321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" name=""/>
          <p:cNvSpPr/>
          <p:nvPr/>
        </p:nvSpPr>
        <p:spPr>
          <a:xfrm>
            <a:off x="457200" y="400050"/>
            <a:ext cx="361950" cy="28575"/>
          </a:xfrm>
          <a:prstGeom prst="rect">
            <a:avLst/>
          </a:prstGeom>
          <a:solidFill>
            <a:srgbClr val="D6A13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" name=""/>
          <p:cNvSpPr/>
          <p:nvPr/>
        </p:nvSpPr>
        <p:spPr>
          <a:xfrm>
            <a:off x="933450" y="2857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WHAT RESEARCHERS MISS</a:t>
            </a:r>
          </a:p>
        </p:txBody>
      </p:sp>
      <p:sp>
        <p:nvSpPr>
          <p:cNvPr id="4" name=""/>
          <p:cNvSpPr/>
          <p:nvPr/>
        </p:nvSpPr>
        <p:spPr>
          <a:xfrm>
            <a:off x="457200" y="781050"/>
            <a:ext cx="10096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FFFDFC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DFC"/>
                </a:solidFill>
                <a:latin typeface="Aptos Display"/>
                <a:ea typeface="Aptos Display"/>
                <a:cs typeface="Aptos Display"/>
              </a:rPr>
              <a:t>The best next questions are about boundaries, not just bigger runs.</a:t>
            </a:r>
          </a:p>
        </p:txBody>
      </p:sp>
      <p:sp>
        <p:nvSpPr>
          <p:cNvPr id="5" name=""/>
          <p:cNvSpPr/>
          <p:nvPr/>
        </p:nvSpPr>
        <p:spPr>
          <a:xfrm>
            <a:off x="781050" y="1952625"/>
            <a:ext cx="9810750" cy="571500"/>
          </a:xfrm>
          <a:prstGeom prst="rect">
            <a:avLst/>
          </a:prstGeom>
          <a:solidFill>
            <a:srgbClr val="213330"/>
          </a:solidFill>
          <a:ln w="9525">
            <a:solidFill>
              <a:srgbClr val="41524C"/>
            </a:solidFill>
            <a:prstDash val="solid"/>
          </a:ln>
        </p:spPr>
      </p:sp>
      <p:sp>
        <p:nvSpPr>
          <p:cNvPr id="6" name=""/>
          <p:cNvSpPr/>
          <p:nvPr/>
        </p:nvSpPr>
        <p:spPr>
          <a:xfrm>
            <a:off x="1066800" y="21145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Accounting</a:t>
            </a:r>
          </a:p>
        </p:txBody>
      </p:sp>
      <p:sp>
        <p:nvSpPr>
          <p:cNvPr id="7" name=""/>
          <p:cNvSpPr/>
          <p:nvPr/>
        </p:nvSpPr>
        <p:spPr>
          <a:xfrm>
            <a:off x="3190875" y="2095500"/>
            <a:ext cx="6762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What share of projected fire carbon is already embedded in AFOLU, LULUCF or aggregate scenario expectations?</a:t>
            </a:r>
          </a:p>
        </p:txBody>
      </p:sp>
      <p:sp>
        <p:nvSpPr>
          <p:cNvPr id="8" name=""/>
          <p:cNvSpPr/>
          <p:nvPr/>
        </p:nvSpPr>
        <p:spPr>
          <a:xfrm>
            <a:off x="781050" y="2638425"/>
            <a:ext cx="9810750" cy="571500"/>
          </a:xfrm>
          <a:prstGeom prst="rect">
            <a:avLst/>
          </a:prstGeom>
          <a:solidFill>
            <a:srgbClr val="263B37"/>
          </a:solidFill>
          <a:ln w="9525">
            <a:solidFill>
              <a:srgbClr val="41524C"/>
            </a:solidFill>
            <a:prstDash val="solid"/>
          </a:ln>
        </p:spPr>
      </p:sp>
      <p:sp>
        <p:nvSpPr>
          <p:cNvPr id="9" name=""/>
          <p:cNvSpPr/>
          <p:nvPr/>
        </p:nvSpPr>
        <p:spPr>
          <a:xfrm>
            <a:off x="1066800" y="28003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Physics</a:t>
            </a:r>
          </a:p>
        </p:txBody>
      </p:sp>
      <p:sp>
        <p:nvSpPr>
          <p:cNvPr id="10" name=""/>
          <p:cNvSpPr/>
          <p:nvPr/>
        </p:nvSpPr>
        <p:spPr>
          <a:xfrm>
            <a:off x="3190875" y="2781300"/>
            <a:ext cx="6762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What is net persistent CO2 after regrowth, combustion completeness and biome-specific recovery times?</a:t>
            </a:r>
          </a:p>
        </p:txBody>
      </p:sp>
      <p:sp>
        <p:nvSpPr>
          <p:cNvPr id="11" name=""/>
          <p:cNvSpPr/>
          <p:nvPr/>
        </p:nvSpPr>
        <p:spPr>
          <a:xfrm>
            <a:off x="781050" y="3324225"/>
            <a:ext cx="9810750" cy="571500"/>
          </a:xfrm>
          <a:prstGeom prst="rect">
            <a:avLst/>
          </a:prstGeom>
          <a:solidFill>
            <a:srgbClr val="213330"/>
          </a:solidFill>
          <a:ln w="9525">
            <a:solidFill>
              <a:srgbClr val="41524C"/>
            </a:solidFill>
            <a:prstDash val="solid"/>
          </a:ln>
        </p:spPr>
      </p:sp>
      <p:sp>
        <p:nvSpPr>
          <p:cNvPr id="12" name=""/>
          <p:cNvSpPr/>
          <p:nvPr/>
        </p:nvSpPr>
        <p:spPr>
          <a:xfrm>
            <a:off x="1066800" y="34861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3" name=""/>
          <p:cNvSpPr/>
          <p:nvPr/>
        </p:nvSpPr>
        <p:spPr>
          <a:xfrm>
            <a:off x="3190875" y="3467100"/>
            <a:ext cx="6762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Can gridded fire-carbon projections replace hand-coded country source proxies?</a:t>
            </a:r>
          </a:p>
        </p:txBody>
      </p:sp>
      <p:sp>
        <p:nvSpPr>
          <p:cNvPr id="14" name=""/>
          <p:cNvSpPr/>
          <p:nvPr/>
        </p:nvSpPr>
        <p:spPr>
          <a:xfrm>
            <a:off x="781050" y="4010025"/>
            <a:ext cx="9810750" cy="571500"/>
          </a:xfrm>
          <a:prstGeom prst="rect">
            <a:avLst/>
          </a:prstGeom>
          <a:solidFill>
            <a:srgbClr val="263B37"/>
          </a:solidFill>
          <a:ln w="9525">
            <a:solidFill>
              <a:srgbClr val="41524C"/>
            </a:solidFill>
            <a:prstDash val="solid"/>
          </a:ln>
        </p:spPr>
      </p:sp>
      <p:sp>
        <p:nvSpPr>
          <p:cNvPr id="15" name=""/>
          <p:cNvSpPr/>
          <p:nvPr/>
        </p:nvSpPr>
        <p:spPr>
          <a:xfrm>
            <a:off x="1066800" y="41719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Damages</a:t>
            </a:r>
          </a:p>
        </p:txBody>
      </p:sp>
      <p:sp>
        <p:nvSpPr>
          <p:cNvPr id="16" name=""/>
          <p:cNvSpPr/>
          <p:nvPr/>
        </p:nvSpPr>
        <p:spPr>
          <a:xfrm>
            <a:off x="3190875" y="4152900"/>
            <a:ext cx="6762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Should smoke mortality and non-CO2 fire forcing be modeled as separate SCC channels?</a:t>
            </a:r>
          </a:p>
        </p:txBody>
      </p:sp>
      <p:sp>
        <p:nvSpPr>
          <p:cNvPr id="17" name=""/>
          <p:cNvSpPr/>
          <p:nvPr/>
        </p:nvSpPr>
        <p:spPr>
          <a:xfrm>
            <a:off x="781050" y="4695825"/>
            <a:ext cx="9810750" cy="571500"/>
          </a:xfrm>
          <a:prstGeom prst="rect">
            <a:avLst/>
          </a:prstGeom>
          <a:solidFill>
            <a:srgbClr val="213330"/>
          </a:solidFill>
          <a:ln w="9525">
            <a:solidFill>
              <a:srgbClr val="41524C"/>
            </a:solidFill>
            <a:prstDash val="solid"/>
          </a:ln>
        </p:spPr>
      </p:sp>
      <p:sp>
        <p:nvSpPr>
          <p:cNvPr id="18" name=""/>
          <p:cNvSpPr/>
          <p:nvPr/>
        </p:nvSpPr>
        <p:spPr>
          <a:xfrm>
            <a:off x="1066800" y="48577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Uncertainty</a:t>
            </a:r>
          </a:p>
        </p:txBody>
      </p:sp>
      <p:sp>
        <p:nvSpPr>
          <p:cNvPr id="19" name=""/>
          <p:cNvSpPr/>
          <p:nvPr/>
        </p:nvSpPr>
        <p:spPr>
          <a:xfrm>
            <a:off x="3190875" y="4838700"/>
            <a:ext cx="6762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Can we sample uncertainty over model structure, not only over parameters?</a:t>
            </a:r>
          </a:p>
        </p:txBody>
      </p:sp>
      <p:sp>
        <p:nvSpPr>
          <p:cNvPr id="20" name=""/>
          <p:cNvSpPr/>
          <p:nvPr/>
        </p:nvSpPr>
        <p:spPr>
          <a:xfrm>
            <a:off x="1143000" y="569595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Team description: you are in charge of the research aims and norms; I expand the search space, execute carefully and surface objections you may not yet know to ask.</a:t>
            </a:r>
          </a:p>
        </p:txBody>
      </p:sp>
      <p:sp>
        <p:nvSpPr>
          <p:cNvPr id="21" name=""/>
          <p:cNvSpPr/>
          <p:nvPr/>
        </p:nvSpPr>
        <p:spPr>
          <a:xfrm>
            <a:off x="457200" y="651510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Reflective close: the AI should make hidden uncertainty visible, not merely comply.</a:t>
            </a:r>
          </a:p>
        </p:txBody>
      </p:sp>
      <p:sp>
        <p:nvSpPr>
          <p:cNvPr id="22" name=""/>
          <p:cNvSpPr/>
          <p:nvPr/>
        </p:nvSpPr>
        <p:spPr>
          <a:xfrm>
            <a:off x="11239500" y="651510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2026-05-22T17:43:57.8680000Z</dcterms:created>
  <dcterms:modified xsi:type="dcterms:W3CDTF">2026-05-22T17:43:57.8680000Z</dcterms:modified>
</coreProperties>
</file>