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6a6111635742c6" /><Relationship Type="http://schemas.openxmlformats.org/officeDocument/2006/relationships/extended-properties" Target="/docProps/app.xml" Id="R96f43f0de0cc4167" /><Relationship Type="http://schemas.openxmlformats.org/officeDocument/2006/relationships/officeDocument" Target="/ppt/presentation.xml" Id="Rf8bb5a1d7f8649a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964965d539943bf"/>
  </p:sldMasterIdLst>
  <p:notesMasterIdLst>
    <p:notesMasterId xmlns:r="http://schemas.openxmlformats.org/officeDocument/2006/relationships" r:id="R37c9bcc81b594784"/>
  </p:notesMasterIdLst>
  <p:sldIdLst>
    <p:sldId xmlns:r="http://schemas.openxmlformats.org/officeDocument/2006/relationships" id="256" r:id="R2b1769a077454a27"/>
    <p:sldId xmlns:r="http://schemas.openxmlformats.org/officeDocument/2006/relationships" id="257" r:id="R107bbb9e40234445"/>
    <p:sldId xmlns:r="http://schemas.openxmlformats.org/officeDocument/2006/relationships" id="258" r:id="R31a3d93d2c314da1"/>
    <p:sldId xmlns:r="http://schemas.openxmlformats.org/officeDocument/2006/relationships" id="259" r:id="R61d6b5ebb45348fa"/>
    <p:sldId xmlns:r="http://schemas.openxmlformats.org/officeDocument/2006/relationships" id="260" r:id="Rbe8c63e4acad41e8"/>
    <p:sldId xmlns:r="http://schemas.openxmlformats.org/officeDocument/2006/relationships" id="261" r:id="Rf3d4a9e2297241ae"/>
    <p:sldId xmlns:r="http://schemas.openxmlformats.org/officeDocument/2006/relationships" id="262" r:id="Reb6f35ebcd6c4108"/>
    <p:sldId xmlns:r="http://schemas.openxmlformats.org/officeDocument/2006/relationships" id="263" r:id="Re00bf15f71644483"/>
    <p:sldId xmlns:r="http://schemas.openxmlformats.org/officeDocument/2006/relationships" id="264" r:id="Rbc6780ce745643a9"/>
    <p:sldId xmlns:r="http://schemas.openxmlformats.org/officeDocument/2006/relationships" id="265" r:id="R080ddeedaf21407d"/>
    <p:sldId xmlns:r="http://schemas.openxmlformats.org/officeDocument/2006/relationships" id="266" r:id="Re63d28c5eb984d2d"/>
    <p:sldId xmlns:r="http://schemas.openxmlformats.org/officeDocument/2006/relationships" id="267" r:id="R1f3225a9e3264e93"/>
    <p:sldId xmlns:r="http://schemas.openxmlformats.org/officeDocument/2006/relationships" id="268" r:id="Rec322a19406e442b"/>
    <p:sldId xmlns:r="http://schemas.openxmlformats.org/officeDocument/2006/relationships" id="269" r:id="Rcc5b51782ba54661"/>
    <p:sldId xmlns:r="http://schemas.openxmlformats.org/officeDocument/2006/relationships" id="270" r:id="Refa05b9148ac4834"/>
    <p:sldId xmlns:r="http://schemas.openxmlformats.org/officeDocument/2006/relationships" id="271" r:id="R8b8acb6996354934"/>
    <p:sldId xmlns:r="http://schemas.openxmlformats.org/officeDocument/2006/relationships" id="272" r:id="Rc832a293ded4488c"/>
    <p:sldId xmlns:r="http://schemas.openxmlformats.org/officeDocument/2006/relationships" id="273" r:id="Rfcf76cd7734c4595"/>
    <p:sldId xmlns:r="http://schemas.openxmlformats.org/officeDocument/2006/relationships" id="274" r:id="Ra9cb4cca08d74dc2"/>
    <p:sldId xmlns:r="http://schemas.openxmlformats.org/officeDocument/2006/relationships" id="275" r:id="Rc1ed1bc58a1e47ad"/>
    <p:sldId xmlns:r="http://schemas.openxmlformats.org/officeDocument/2006/relationships" id="276" r:id="Rc89e6f18bd514d1d"/>
    <p:sldId xmlns:r="http://schemas.openxmlformats.org/officeDocument/2006/relationships" id="277" r:id="R9e5ab4fc3d174a6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64965d539943bf" /><Relationship Type="http://schemas.openxmlformats.org/officeDocument/2006/relationships/theme" Target="/ppt/theme/theme1.xml" Id="R6208bc590ef741ab" /><Relationship Type="http://schemas.openxmlformats.org/officeDocument/2006/relationships/notesMaster" Target="/ppt/notesMasters/notesMaster1.xml" Id="R37c9bcc81b594784" /><Relationship Type="http://schemas.openxmlformats.org/officeDocument/2006/relationships/presProps" Target="/ppt/presProps.xml" Id="R12b21ed3c8774229" /><Relationship Type="http://schemas.openxmlformats.org/officeDocument/2006/relationships/viewProps" Target="/ppt/viewProps.xml" Id="R493f5847f3d84ead" /><Relationship Type="http://schemas.openxmlformats.org/officeDocument/2006/relationships/tableStyles" Target="/ppt/tableStyles.xml" Id="R157b58bbef7e4b09" /><Relationship Type="http://schemas.openxmlformats.org/officeDocument/2006/relationships/slide" Target="/ppt/slides/slide1.xml" Id="R2b1769a077454a27" /><Relationship Type="http://schemas.openxmlformats.org/officeDocument/2006/relationships/slide" Target="/ppt/slides/slide2.xml" Id="R107bbb9e40234445" /><Relationship Type="http://schemas.openxmlformats.org/officeDocument/2006/relationships/slide" Target="/ppt/slides/slide3.xml" Id="R31a3d93d2c314da1" /><Relationship Type="http://schemas.openxmlformats.org/officeDocument/2006/relationships/slide" Target="/ppt/slides/slide4.xml" Id="R61d6b5ebb45348fa" /><Relationship Type="http://schemas.openxmlformats.org/officeDocument/2006/relationships/slide" Target="/ppt/slides/slide5.xml" Id="Rbe8c63e4acad41e8" /><Relationship Type="http://schemas.openxmlformats.org/officeDocument/2006/relationships/slide" Target="/ppt/slides/slide6.xml" Id="Rf3d4a9e2297241ae" /><Relationship Type="http://schemas.openxmlformats.org/officeDocument/2006/relationships/slide" Target="/ppt/slides/slide7.xml" Id="Reb6f35ebcd6c4108" /><Relationship Type="http://schemas.openxmlformats.org/officeDocument/2006/relationships/slide" Target="/ppt/slides/slide8.xml" Id="Re00bf15f71644483" /><Relationship Type="http://schemas.openxmlformats.org/officeDocument/2006/relationships/slide" Target="/ppt/slides/slide9.xml" Id="Rbc6780ce745643a9" /><Relationship Type="http://schemas.openxmlformats.org/officeDocument/2006/relationships/slide" Target="/ppt/slides/slide10.xml" Id="R080ddeedaf21407d" /><Relationship Type="http://schemas.openxmlformats.org/officeDocument/2006/relationships/slide" Target="/ppt/slides/slide11.xml" Id="Re63d28c5eb984d2d" /><Relationship Type="http://schemas.openxmlformats.org/officeDocument/2006/relationships/slide" Target="/ppt/slides/slide12.xml" Id="R1f3225a9e3264e93" /><Relationship Type="http://schemas.openxmlformats.org/officeDocument/2006/relationships/slide" Target="/ppt/slides/slide13.xml" Id="Rec322a19406e442b" /><Relationship Type="http://schemas.openxmlformats.org/officeDocument/2006/relationships/slide" Target="/ppt/slides/slide14.xml" Id="Rcc5b51782ba54661" /><Relationship Type="http://schemas.openxmlformats.org/officeDocument/2006/relationships/slide" Target="/ppt/slides/slide15.xml" Id="Refa05b9148ac4834" /><Relationship Type="http://schemas.openxmlformats.org/officeDocument/2006/relationships/slide" Target="/ppt/slides/slide16.xml" Id="R8b8acb6996354934" /><Relationship Type="http://schemas.openxmlformats.org/officeDocument/2006/relationships/slide" Target="/ppt/slides/slide17.xml" Id="Rc832a293ded4488c" /><Relationship Type="http://schemas.openxmlformats.org/officeDocument/2006/relationships/slide" Target="/ppt/slides/slide18.xml" Id="Rfcf76cd7734c4595" /><Relationship Type="http://schemas.openxmlformats.org/officeDocument/2006/relationships/slide" Target="/ppt/slides/slide19.xml" Id="Ra9cb4cca08d74dc2" /><Relationship Type="http://schemas.openxmlformats.org/officeDocument/2006/relationships/slide" Target="/ppt/slides/slide20.xml" Id="Rc1ed1bc58a1e47ad" /><Relationship Type="http://schemas.openxmlformats.org/officeDocument/2006/relationships/slide" Target="/ppt/slides/slide21.xml" Id="Rc89e6f18bd514d1d" /><Relationship Type="http://schemas.openxmlformats.org/officeDocument/2006/relationships/slide" Target="/ppt/slides/slide22.xml" Id="R9e5ab4fc3d174a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bf376cb7d8848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ed7554ab48e4241" /><Relationship Type="http://schemas.openxmlformats.org/officeDocument/2006/relationships/notesMaster" Target="/ppt/notesMasters/notesMaster1.xml" Id="R6aabacc7db02426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b4d9817667b4444" /><Relationship Type="http://schemas.openxmlformats.org/officeDocument/2006/relationships/notesMaster" Target="/ppt/notesMasters/notesMaster1.xml" Id="R34301a1853874d2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142cf43986a44f2" /><Relationship Type="http://schemas.openxmlformats.org/officeDocument/2006/relationships/notesMaster" Target="/ppt/notesMasters/notesMaster1.xml" Id="R73c6992a6f32469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ea49a85a53d492c" /><Relationship Type="http://schemas.openxmlformats.org/officeDocument/2006/relationships/notesMaster" Target="/ppt/notesMasters/notesMaster1.xml" Id="R61612d7f15304ee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ed50a289eae4641" /><Relationship Type="http://schemas.openxmlformats.org/officeDocument/2006/relationships/notesMaster" Target="/ppt/notesMasters/notesMaster1.xml" Id="R53e18f7e6cf3447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4945082094548ae" /><Relationship Type="http://schemas.openxmlformats.org/officeDocument/2006/relationships/notesMaster" Target="/ppt/notesMasters/notesMaster1.xml" Id="Ra2fb57410d0d46c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954b47e695d4050" /><Relationship Type="http://schemas.openxmlformats.org/officeDocument/2006/relationships/notesMaster" Target="/ppt/notesMasters/notesMaster1.xml" Id="Rf7a61930d66f4b1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8e1d094bcdd4809" /><Relationship Type="http://schemas.openxmlformats.org/officeDocument/2006/relationships/notesMaster" Target="/ppt/notesMasters/notesMaster1.xml" Id="R3ad4bfa83b494af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375059049534c0f" /><Relationship Type="http://schemas.openxmlformats.org/officeDocument/2006/relationships/notesMaster" Target="/ppt/notesMasters/notesMaster1.xml" Id="R0ecc079213974bf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2604e0818d14e8a" /><Relationship Type="http://schemas.openxmlformats.org/officeDocument/2006/relationships/notesMaster" Target="/ppt/notesMasters/notesMaster1.xml" Id="Rd31f0dff74944c0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031a32df7f54f1c" /><Relationship Type="http://schemas.openxmlformats.org/officeDocument/2006/relationships/notesMaster" Target="/ppt/notesMasters/notesMaster1.xml" Id="R982222b1f71e47b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901759b1c5746e4" /><Relationship Type="http://schemas.openxmlformats.org/officeDocument/2006/relationships/notesMaster" Target="/ppt/notesMasters/notesMaster1.xml" Id="Red55a3fe190b466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2a18b9ab4514ac6" /><Relationship Type="http://schemas.openxmlformats.org/officeDocument/2006/relationships/notesMaster" Target="/ppt/notesMasters/notesMaster1.xml" Id="Re7b03f5339424fd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9c5e431aa834e82" /><Relationship Type="http://schemas.openxmlformats.org/officeDocument/2006/relationships/notesMaster" Target="/ppt/notesMasters/notesMaster1.xml" Id="R34dde5262b844d9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0fcda7eacf343ac" /><Relationship Type="http://schemas.openxmlformats.org/officeDocument/2006/relationships/notesMaster" Target="/ppt/notesMasters/notesMaster1.xml" Id="Rbc5001006a844d9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08bcb3f2239417d" /><Relationship Type="http://schemas.openxmlformats.org/officeDocument/2006/relationships/notesMaster" Target="/ppt/notesMasters/notesMaster1.xml" Id="R3f2340613f8e42f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055535a620140db" /><Relationship Type="http://schemas.openxmlformats.org/officeDocument/2006/relationships/notesMaster" Target="/ppt/notesMasters/notesMaster1.xml" Id="Rbc0555245b8347b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f52800151c34480" /><Relationship Type="http://schemas.openxmlformats.org/officeDocument/2006/relationships/notesMaster" Target="/ppt/notesMasters/notesMaster1.xml" Id="R0cfb725d8eef4c3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9619946bd924d52" /><Relationship Type="http://schemas.openxmlformats.org/officeDocument/2006/relationships/notesMaster" Target="/ppt/notesMasters/notesMaster1.xml" Id="Ra7b1efc3601d424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6eaa3742d544824" /><Relationship Type="http://schemas.openxmlformats.org/officeDocument/2006/relationships/notesMaster" Target="/ppt/notesMasters/notesMaster1.xml" Id="R99c29296707e494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41dd96e8d654cc2" /><Relationship Type="http://schemas.openxmlformats.org/officeDocument/2006/relationships/notesMaster" Target="/ppt/notesMasters/notesMaster1.xml" Id="R981e52f95623450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6b594aadfc44383" /><Relationship Type="http://schemas.openxmlformats.org/officeDocument/2006/relationships/notesMaster" Target="/ppt/notesMasters/notesMaster1.xml" Id="Rfde95023f11e4b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839906fb4a48e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a013d2f65384131" /><Relationship Type="http://schemas.openxmlformats.org/officeDocument/2006/relationships/slideLayout" Target="/ppt/slideLayouts/slideLayout2.xml" Id="R0682f3d412ee4c3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82f3d412ee4c3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e247c607ce54132" /><Relationship Type="http://schemas.openxmlformats.org/officeDocument/2006/relationships/notesSlide" Target="/ppt/notesSlides/notesSlide1.xml" Id="R65dc6322cc50424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133c3201b064355" /><Relationship Type="http://schemas.openxmlformats.org/officeDocument/2006/relationships/notesSlide" Target="/ppt/notesSlides/notesSlide2.xml" Id="Re5f9ad6a58df4df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df91b5be314d11" /><Relationship Type="http://schemas.openxmlformats.org/officeDocument/2006/relationships/notesSlide" Target="/ppt/notesSlides/notesSlide3.xml" Id="R725c16bfe1084a1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8575e599d1c4054" /><Relationship Type="http://schemas.openxmlformats.org/officeDocument/2006/relationships/notesSlide" Target="/ppt/notesSlides/notesSlide4.xml" Id="R242930842e6b443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8d1d04b9794d3b" /><Relationship Type="http://schemas.openxmlformats.org/officeDocument/2006/relationships/notesSlide" Target="/ppt/notesSlides/notesSlide5.xml" Id="R9e9384275c3146c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ce829a36bf84b35" /><Relationship Type="http://schemas.openxmlformats.org/officeDocument/2006/relationships/notesSlide" Target="/ppt/notesSlides/notesSlide6.xml" Id="R9f8ee2a1645f461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79c5bfff5f7469c" /><Relationship Type="http://schemas.openxmlformats.org/officeDocument/2006/relationships/notesSlide" Target="/ppt/notesSlides/notesSlide7.xml" Id="R54bb116a09c34df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52adb8e18c74df8" /><Relationship Type="http://schemas.openxmlformats.org/officeDocument/2006/relationships/image" Target="/ppt/media/image.png" Id="R261447b5a5414aa7" /><Relationship Type="http://schemas.openxmlformats.org/officeDocument/2006/relationships/notesSlide" Target="/ppt/notesSlides/notesSlide8.xml" Id="Rb1c591873fc742f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7bed9e2989493e" /><Relationship Type="http://schemas.openxmlformats.org/officeDocument/2006/relationships/image" Target="/ppt/media/image2.png" Id="R02aec95ff082495f" /><Relationship Type="http://schemas.openxmlformats.org/officeDocument/2006/relationships/notesSlide" Target="/ppt/notesSlides/notesSlide9.xml" Id="R322ddbb2259d416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7cf067becc4214" /><Relationship Type="http://schemas.openxmlformats.org/officeDocument/2006/relationships/notesSlide" Target="/ppt/notesSlides/notesSlide10.xml" Id="R5453ef25127e443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7767ba7991f41ea" /><Relationship Type="http://schemas.openxmlformats.org/officeDocument/2006/relationships/image" Target="/ppt/media/image3.png" Id="Rae4eb21fe0e045d9" /><Relationship Type="http://schemas.openxmlformats.org/officeDocument/2006/relationships/notesSlide" Target="/ppt/notesSlides/notesSlide11.xml" Id="Rffc2a9c3a9c54b5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c82320e072d4d5c" /><Relationship Type="http://schemas.openxmlformats.org/officeDocument/2006/relationships/image" Target="/ppt/media/image4.png" Id="Rb52422dbdd234396" /><Relationship Type="http://schemas.openxmlformats.org/officeDocument/2006/relationships/notesSlide" Target="/ppt/notesSlides/notesSlide12.xml" Id="R90dedaceb52c4c1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f341f878d064e53" /><Relationship Type="http://schemas.openxmlformats.org/officeDocument/2006/relationships/image" Target="/ppt/media/image5.png" Id="R12bde5c13ee245dc" /><Relationship Type="http://schemas.openxmlformats.org/officeDocument/2006/relationships/image" Target="/ppt/media/image6.png" Id="Rcbfbb9d5f16a4531" /><Relationship Type="http://schemas.openxmlformats.org/officeDocument/2006/relationships/notesSlide" Target="/ppt/notesSlides/notesSlide13.xml" Id="R0ad016125979423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92fa46ce4704c51" /><Relationship Type="http://schemas.openxmlformats.org/officeDocument/2006/relationships/notesSlide" Target="/ppt/notesSlides/notesSlide14.xml" Id="R85819879ae354dd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c7aef330124d27" /><Relationship Type="http://schemas.openxmlformats.org/officeDocument/2006/relationships/notesSlide" Target="/ppt/notesSlides/notesSlide15.xml" Id="R3c0ff2ca9d894d9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95b533bfca84b5e" /><Relationship Type="http://schemas.openxmlformats.org/officeDocument/2006/relationships/notesSlide" Target="/ppt/notesSlides/notesSlide16.xml" Id="R07fcad804786470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d3c66925451458b" /><Relationship Type="http://schemas.openxmlformats.org/officeDocument/2006/relationships/notesSlide" Target="/ppt/notesSlides/notesSlide17.xml" Id="R7b7315875565476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1e6b533e5144a1" /><Relationship Type="http://schemas.openxmlformats.org/officeDocument/2006/relationships/notesSlide" Target="/ppt/notesSlides/notesSlide18.xml" Id="Rec66ee76e46745e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74deb0a25a941a3" /><Relationship Type="http://schemas.openxmlformats.org/officeDocument/2006/relationships/notesSlide" Target="/ppt/notesSlides/notesSlide19.xml" Id="R9f7e66e489954ac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4e6ba49ae9417c" /><Relationship Type="http://schemas.openxmlformats.org/officeDocument/2006/relationships/notesSlide" Target="/ppt/notesSlides/notesSlide20.xml" Id="Rb482e93445764a4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759eb12238417b" /><Relationship Type="http://schemas.openxmlformats.org/officeDocument/2006/relationships/notesSlide" Target="/ppt/notesSlides/notesSlide21.xml" Id="Rd71b66bd10034d2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9725f4336c74b50" /><Relationship Type="http://schemas.openxmlformats.org/officeDocument/2006/relationships/notesSlide" Target="/ppt/notesSlides/notesSlide22.xml" Id="Rb7245040ff36480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BEE358-BEA7-44FB-B1BA-2452C7795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887C9E2-AB60-4576-9F03-8079EA21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FF048C6-2A97-4BD8-858D-2AB90BCE6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57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4E8C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E8C6"/>
                </a:solidFill>
                <a:latin typeface="Aptos"/>
                <a:ea typeface="Aptos"/>
                <a:cs typeface="Aptos"/>
              </a:rPr>
              <a:t>MODEL AUDIT + AI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D65E50-E6DA-427C-924B-D1A2C3F87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8572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FFFDFC"/>
                </a:solidFill>
                <a:latin typeface="Aptos Display"/>
                <a:ea typeface="Aptos Display"/>
                <a:cs typeface="Aptos Display"/>
              </a:defRPr>
            </a:pPr>
            <a:r>
              <a:rPr sz="3375" b="1">
                <a:solidFill>
                  <a:srgbClr val="FFFDFC"/>
                </a:solidFill>
                <a:latin typeface="Aptos Display"/>
                <a:ea typeface="Aptos Display"/>
                <a:cs typeface="Aptos Display"/>
              </a:rPr>
              <a:t>Wildfire carbon feedbacks in the social cost of carbon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8FE762-7C1D-47E3-8D9F-AEADE73F4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7524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DE7E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DE7E1"/>
                </a:solidFill>
                <a:latin typeface="Aptos"/>
                <a:ea typeface="Aptos"/>
                <a:cs typeface="Aptos"/>
              </a:rPr>
              <a:t>A GIVE model extension, a climate-economics audit, and a case study in AI-assisted academic research programming.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1ED70A-344D-4579-8880-F1A82CFD7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71875"/>
            <a:ext cx="238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4565A7-D4C6-4641-A470-7B7D1771B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05225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6A13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D6A13C"/>
                </a:solidFill>
                <a:latin typeface="Aptos"/>
                <a:ea typeface="Aptos"/>
                <a:cs typeface="Aptos"/>
              </a:rPr>
              <a:t>100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616CD7-ED5D-4B81-B886-32E1DAF56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48125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paired validation draws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53E221-314D-455A-9DE2-1E0B3A556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571875"/>
            <a:ext cx="238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428B36-97DE-4301-9128-CEBB0DAA2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705225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+5.65%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A1CFD9-A10E-4E25-B047-7F19B2C6A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048125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mean SCC change, high residual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EB4732-9AE5-47C7-83BC-28C729884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571875"/>
            <a:ext cx="238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1AFD8B-AACF-4BB4-AB57-B96CE740B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705225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+74.62%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25DE8D-9A76-44C0-BFCD-BFDA6C413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048125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mean SCC change, largest gross stress case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B4C6B0-391D-4C8F-8207-C95042020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914400"/>
            <a:ext cx="25717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330"/>
          </a:solidFill>
          <a:ln xmlns:a="http://schemas.openxmlformats.org/drawingml/2006/main" w="9525">
            <a:solidFill>
              <a:srgbClr val="41524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D471DF-95FC-49ED-BEEA-4E5ED9E8E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2001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E8C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E8C6"/>
                </a:solidFill>
                <a:latin typeface="Aptos"/>
                <a:ea typeface="Aptos"/>
                <a:cs typeface="Aptos"/>
              </a:rPr>
              <a:t>Two purposes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B0AC26-151D-4782-8D99-1F4A75162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676400"/>
            <a:ext cx="1952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9EFE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9EFEA"/>
                </a:solidFill>
                <a:latin typeface="Aptos"/>
                <a:ea typeface="Aptos"/>
                <a:cs typeface="Aptos"/>
              </a:rPr>
              <a:t>1. Present the model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E9EFE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9EFEA"/>
                </a:solidFill>
                <a:latin typeface="Aptos"/>
                <a:ea typeface="Aptos"/>
                <a:cs typeface="Aptos"/>
              </a:rPr>
              <a:t>2. Show how an AI collaborator helped audit code, search literature, implement a transparent extension, run diagnostics, and produce research artifacts.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CF673B-7D6B-48E8-9DDE-CE904CFC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Preliminary research deck. Results are validation-scale unless noted.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42D5A9-6D83-4F08-BFAF-4E2F699E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0219677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0F42F4-5311-4BC2-A703-30D6FE41D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ECCE907-256C-4687-A1A9-B696F4F22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E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2B16B00-1628-4370-8E72-25334DA97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57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HYPOTHESIS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4801E2-229D-4540-8A12-E6E66C108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9906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321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82321"/>
                </a:solidFill>
                <a:latin typeface="Aptos Display"/>
                <a:ea typeface="Aptos Display"/>
                <a:cs typeface="Aptos Display"/>
              </a:rPr>
              <a:t>The question is whether the marginal tonne can trigger additional fire CO2.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9753CA-7AAD-44B4-9E14-FA5DCF446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16954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5A4568-A257-42FB-BB61-BF4849A65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1352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Marginal CO2 pulse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DC4766-79C0-408C-A109-203CF5946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33700"/>
            <a:ext cx="13525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One extra tonne in 2020.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8DA4F6-6134-4E57-8818-209ED9C1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857500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9635E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33F93B-87CA-49F3-9557-F812F052D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76500"/>
            <a:ext cx="16954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33E168-2E11-42A5-B6C8-DBBDCC8D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628900"/>
            <a:ext cx="1352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6B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6B5B"/>
                </a:solidFill>
                <a:latin typeface="Aptos"/>
                <a:ea typeface="Aptos"/>
                <a:cs typeface="Aptos"/>
              </a:rPr>
              <a:t>Higher CO2 stock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3E700F-470A-43BE-8F91-7128ADB4A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933700"/>
            <a:ext cx="13525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Atmospheric concentration and forcing change.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812868-95C6-475D-B5C7-EDE4C6473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57500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9635E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964253-EA68-4540-ADFC-EE9DBB4F2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76500"/>
            <a:ext cx="16954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0B6565-20CF-45B8-81BA-C4439547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628900"/>
            <a:ext cx="1352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6B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6B5B"/>
                </a:solidFill>
                <a:latin typeface="Aptos"/>
                <a:ea typeface="Aptos"/>
                <a:cs typeface="Aptos"/>
              </a:rPr>
              <a:t>More warming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E9B8A3-81C4-4CE4-A8B6-147720C0B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933700"/>
            <a:ext cx="13525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Temperature path rises slightly.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AF888D-0F52-486D-855E-214CC03EE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57500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9635E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1D1D41-DA2E-420F-AEE0-9DCA05174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76500"/>
            <a:ext cx="16954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515731-DFC6-4145-B83F-F9891ED2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28900"/>
            <a:ext cx="1352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More wildfire CO2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7293B7-93F5-487D-A2F3-59E2848DA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933700"/>
            <a:ext cx="13525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Climate-sensitive fire carbon adds to emissions.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097B9B-06C9-4D84-887F-E4BB1E95F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857500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9635E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D5FDA9-362C-4246-A6C4-E5C778B53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76500"/>
            <a:ext cx="2000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ED828E-A687-49B8-84FF-B8F15D774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628900"/>
            <a:ext cx="1657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A13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6A13C"/>
                </a:solidFill>
                <a:latin typeface="Aptos"/>
                <a:ea typeface="Aptos"/>
                <a:cs typeface="Aptos"/>
              </a:rPr>
              <a:t>Damages and SCC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1A3909-BC13-4505-88AF-5604215D0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933700"/>
            <a:ext cx="1657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Marginal damages are monetized and discounted.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1596C9-99D8-4172-89A2-21BB7FB8E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905250"/>
            <a:ext cx="247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E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D31C0B-06F3-42AF-A3E3-F9CBA765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767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feedback loop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6A04B0-1825-4CAE-B920-6A3B9ACED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05375"/>
            <a:ext cx="962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  <p:txBody>
          <a:bodyPr xmlns:a="http://schemas.openxmlformats.org/drawingml/2006/main" lIns="171450" tIns="133350" rIns="171450" bIns="13335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82321"/>
                </a:solidFill>
                <a:latin typeface="Aptos"/>
                <a:ea typeface="Aptos"/>
                <a:cs typeface="Aptos"/>
              </a:rPr>
              <a:t>Key distinction: total added wildfire emissions are not the SCC. The SCC changes only if the extra tonne changes future emissions, climate response, damages, or discounting.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9DC68D-BD7D-4A07-B1DF-F58045D79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Conceptual framing for the wildfire-carbon feedback experiment.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07FC19-DDAE-489C-AC8C-787A701DB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7248083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63B577-E1ED-4333-9404-4C50E2CB0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72B3EAF-C3AC-4F57-A894-A3E621E50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E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D3D1B86-C0DD-4912-A57B-1A0F105B0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57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MODEL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152C85-DE0F-4FAB-B7F8-F6EB697B9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0096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321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82321"/>
                </a:solidFill>
                <a:latin typeface="Aptos Display"/>
                <a:ea typeface="Aptos Display"/>
                <a:cs typeface="Aptos Display"/>
              </a:rPr>
              <a:t>GIVE samples exogenous pathways; it does not generate the fire feedback internally.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E1FD85-1CC6-4C79-9B5F-2600C26B5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2000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F9FF08-4B99-4956-9FE0-2D53B2898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95525"/>
            <a:ext cx="1657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6B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6B5B"/>
                </a:solidFill>
                <a:latin typeface="Aptos"/>
                <a:ea typeface="Aptos"/>
                <a:cs typeface="Aptos"/>
              </a:rPr>
              <a:t>Exogenous scenarios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C65024-7B47-4421-9A35-D121EB0A8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0325"/>
            <a:ext cx="16573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Emissions, GDP and population are sampled from external pathways.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0F1546-A0F5-4316-B30C-6191E31F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476500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9635E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81AA1C-B24C-4404-B827-5B66ABC04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143125"/>
            <a:ext cx="1619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31805D-5C86-4DFF-A219-F2E9BD768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295525"/>
            <a:ext cx="1276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6B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6B5B"/>
                </a:solidFill>
                <a:latin typeface="Aptos"/>
                <a:ea typeface="Aptos"/>
                <a:cs typeface="Aptos"/>
              </a:rPr>
              <a:t>FaIR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BA83ED-11B5-45D0-9D13-6E72B0ACA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600325"/>
            <a:ext cx="12763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CO2 cycle, forcing and temperature.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F9435F-F250-4558-9FE6-06DFC4C93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476500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9635E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A8CD03-1D52-478C-AC92-7D42AB80C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43125"/>
            <a:ext cx="1809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05794D-4DFA-442F-96E4-11F97669D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295525"/>
            <a:ext cx="1466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6B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6B5B"/>
                </a:solidFill>
                <a:latin typeface="Aptos"/>
                <a:ea typeface="Aptos"/>
                <a:cs typeface="Aptos"/>
              </a:rPr>
              <a:t>Damage modules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376997-ADB8-474F-9688-D7148ABE7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600325"/>
            <a:ext cx="14668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Mortality, energy, agriculture and sea level.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EEAB63-75EE-44DE-9376-8127F9D1B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476500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9635E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653AC4-DF69-49FF-9B73-3CCEE7026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143125"/>
            <a:ext cx="1809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CC1167-8CE5-4008-9A1C-D364ED28C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95525"/>
            <a:ext cx="1466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6B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6B5B"/>
                </a:solidFill>
                <a:latin typeface="Aptos"/>
                <a:ea typeface="Aptos"/>
                <a:cs typeface="Aptos"/>
              </a:rPr>
              <a:t>Discounting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BA9CB2-1DCF-4747-ADA9-29C220764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00325"/>
            <a:ext cx="14668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Present value of marginal damages.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6A4A56-3B82-4A36-BB1D-2677C1C37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476500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9635E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9671EC-321D-41AF-946E-182682EF0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43125"/>
            <a:ext cx="1428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2487E7-8636-47F6-8D15-71818718E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295525"/>
            <a:ext cx="1085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SCC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3FCEB2-AF30-4AA3-ABB2-56EA7C6C4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600325"/>
            <a:ext cx="10858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Dollars per tonne CO2.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02FD9F-EB81-4962-BEF1-627C99DCD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86200"/>
            <a:ext cx="47625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8C6"/>
          </a:solidFill>
          <a:ln xmlns:a="http://schemas.openxmlformats.org/drawingml/2006/main" w="9525">
            <a:solidFill>
              <a:srgbClr val="D6A13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A6A385-FCD3-49CC-9C90-648BCBDAF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29100"/>
            <a:ext cx="4286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321"/>
                </a:solidFill>
                <a:latin typeface="Aptos"/>
                <a:ea typeface="Aptos"/>
                <a:cs typeface="Aptos"/>
              </a:rPr>
              <a:t>Kaya-style, in one line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6A00FE-5668-4046-874C-32F3DC242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72000"/>
            <a:ext cx="41433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321"/>
                </a:solidFill>
                <a:latin typeface="Aptos"/>
                <a:ea typeface="Aptos"/>
                <a:cs typeface="Aptos"/>
              </a:rPr>
              <a:t>CO2 = Population x GDP/person x Energy/GDP x CO2/Energy.</a:t>
            </a:r>
          </a:p>
          <a:p xmlns:a="http://schemas.openxmlformats.org/drawingml/2006/main">
            <a:pPr algn="l">
              <a:defRPr sz="1125" b="0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321"/>
                </a:solidFill>
                <a:latin typeface="Aptos"/>
                <a:ea typeface="Aptos"/>
                <a:cs typeface="Aptos"/>
              </a:rPr>
              <a:t>GIVE does not solve an endogenous economy around that identity; it takes pathways as inputs.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E32407-51F4-4BEA-868A-C23F8EB66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886200"/>
            <a:ext cx="45720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5CA"/>
          </a:solidFill>
          <a:ln xmlns:a="http://schemas.openxmlformats.org/drawingml/2006/main" w="9525">
            <a:solidFill>
              <a:srgbClr val="C84E2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515CA7-8CF2-42D8-B4A6-0E9F9D382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5290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Missing endogenous loop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F3FFCF-474C-41BF-B150-D463D55AC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72000"/>
            <a:ext cx="3857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321"/>
                </a:solidFill>
                <a:latin typeface="Aptos"/>
                <a:ea typeface="Aptos"/>
                <a:cs typeface="Aptos"/>
              </a:rPr>
              <a:t>warming -&gt; more wildfire -&gt; more CO2 -&gt; more warming is not generated unless it is embedded exogenously or added as an extension.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9D7DB1-07F0-4E0E-8BD0-1C675DBB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Code audit: MimiGIVE + MimiFAIR wiring; no attributed correspondence included.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C1F618-EB58-4E03-9A4F-833567432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6004977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14F9EE-8D98-482A-A231-0157D9DB7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A8D5EB7-9740-44A7-BC2F-EDA699787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E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B899C36-4AC2-4C21-B4B4-B8BDA2235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57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DOUBLE COUNTING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98E34B-AF8D-4177-89D7-12A6244C0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0096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321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82321"/>
                </a:solidFill>
                <a:latin typeface="Aptos Display"/>
                <a:ea typeface="Aptos Display"/>
                <a:cs typeface="Aptos Display"/>
              </a:rPr>
              <a:t>The hard problem is not adding fire carbon; it is deciding what is not already counted.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DF535F-CD9B-442D-8284-8EE6A50D7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9635E"/>
                </a:solidFill>
                <a:latin typeface="Aptos"/>
                <a:ea typeface="Aptos"/>
                <a:cs typeface="Aptos"/>
              </a:rPr>
              <a:t>Atmospheric persistence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E75444-CA8F-447C-8408-4CC6B213C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859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9635E"/>
                </a:solidFill>
                <a:latin typeface="Aptos"/>
                <a:ea typeface="Aptos"/>
                <a:cs typeface="Aptos"/>
              </a:rPr>
              <a:t>Already in baseline?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BF653E-3DA0-45FB-A36C-A9D621434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2098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9635E"/>
                </a:solidFill>
                <a:latin typeface="Aptos"/>
                <a:ea typeface="Aptos"/>
                <a:cs typeface="Aptos"/>
              </a:rPr>
              <a:t>Likely embedded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E7DE92-86DC-4052-BF6F-790F0E34A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2098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9635E"/>
                </a:solidFill>
                <a:latin typeface="Aptos"/>
                <a:ea typeface="Aptos"/>
                <a:cs typeface="Aptos"/>
              </a:rPr>
              <a:t>Likely missing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901063-19F6-4F75-BF4C-EC7E34C97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38450"/>
            <a:ext cx="104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9635E"/>
                </a:solidFill>
                <a:latin typeface="Aptos"/>
                <a:ea typeface="Aptos"/>
                <a:cs typeface="Aptos"/>
              </a:rPr>
              <a:t>Gross / short-run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135ADB-6B3D-48CF-91A0-4C9C0653A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943350"/>
            <a:ext cx="104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9635E"/>
                </a:solidFill>
                <a:latin typeface="Aptos"/>
                <a:ea typeface="Aptos"/>
                <a:cs typeface="Aptos"/>
              </a:rPr>
              <a:t>Net / persistent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577A06-8919-4FD4-A91C-20DC2E91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00300"/>
            <a:ext cx="2476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7D9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54EAF2-2AD0-402D-8E78-17A222E2C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552700"/>
            <a:ext cx="2133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9635E"/>
                </a:solidFill>
                <a:latin typeface="Aptos"/>
                <a:ea typeface="Aptos"/>
                <a:cs typeface="Aptos"/>
              </a:rPr>
              <a:t>Do not add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ECB7E6-5929-4CE7-8914-0BE4C2AB3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857500"/>
            <a:ext cx="2133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Fire carbon may be in AFOLU/LULUCF or natural-stock expectations.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2A1D01-5BC8-4A93-9991-913611203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00300"/>
            <a:ext cx="2476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5CA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B520B2-AC9F-4485-B94F-FA63B0749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52700"/>
            <a:ext cx="2133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Stress test only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998587-BCFA-4884-8FA3-6CFA382D2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857500"/>
            <a:ext cx="2133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Gross missing fire emissions can show mechanism but risk overstatement.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8B69B6-594B-43C1-92D2-6D0C54C49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05200"/>
            <a:ext cx="2476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8C6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A1CF2E-2E73-4588-81B8-B231A5545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657600"/>
            <a:ext cx="2133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A13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6A13C"/>
                </a:solidFill>
                <a:latin typeface="Aptos"/>
                <a:ea typeface="Aptos"/>
                <a:cs typeface="Aptos"/>
              </a:rPr>
              <a:t>Possible decomposition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B0F962-936E-4A7B-A063-9632771BA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962400"/>
            <a:ext cx="2133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Useful for accounting, but not a clean additive SCC experiment.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03DEBF-CFD3-4DED-AE7C-188EA5500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05200"/>
            <a:ext cx="2476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9E2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017B06-278D-4964-88A1-DEC037505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657600"/>
            <a:ext cx="2133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6B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6B5B"/>
                </a:solidFill>
                <a:latin typeface="Aptos"/>
                <a:ea typeface="Aptos"/>
                <a:cs typeface="Aptos"/>
              </a:rPr>
              <a:t>Preferred first pass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19A1D5-3C84-4DE1-96C3-B3C2879D4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962400"/>
            <a:ext cx="2133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Residual, net persistent, not-already-embedded wildfire CO2.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F954B5-591B-4FAB-8010-61789DB13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219700"/>
            <a:ext cx="790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321"/>
                </a:solidFill>
                <a:latin typeface="Aptos"/>
                <a:ea typeface="Aptos"/>
                <a:cs typeface="Aptos"/>
              </a:rPr>
              <a:t>Our extension samples two protection factors: net persistence and not-already-embedded share. That is the double-counting defense.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F9E7E3-6B7C-4AD4-BD96-0615D093D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Interpretation framework used in WildfireGIVE.jl and manuscript.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F3450F-2F6B-411B-B3ED-B348A72E6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0035449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5E3FD8-7070-44E7-B89B-6B6CB207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E352F75-3DAC-40BD-ADB5-2A763F7C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E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40F186B-2404-473C-B13B-F614F44D3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57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LITERATURE SEARCH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C5FDE1-B785-4EFB-A7DE-0646651CC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000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321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82321"/>
                </a:solidFill>
                <a:latin typeface="Aptos Display"/>
                <a:ea typeface="Aptos Display"/>
                <a:cs typeface="Aptos Display"/>
              </a:rPr>
              <a:t>The literature was organized by role, not dumped into one emissions number.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B9333C-6F4B-4880-B2BD-C914460EB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Role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57B0F3-5BCD-45E7-A8F4-10F8E8AED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526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C2A755-B90D-4359-AB4B-741C1D89D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526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How it entered this project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B07D05-4E5E-42D3-9555-503A46DFC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38350"/>
            <a:ext cx="10334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A0C948-9E84-40B1-9AFB-952C075F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321"/>
                </a:solidFill>
                <a:latin typeface="Aptos"/>
                <a:ea typeface="Aptos"/>
                <a:cs typeface="Aptos"/>
              </a:rPr>
              <a:t>Baseline 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19A1B8-3A9B-40F1-8E4A-0D21D32EB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907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B5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B5B"/>
                </a:solidFill>
                <a:latin typeface="Aptos"/>
                <a:ea typeface="Aptos"/>
                <a:cs typeface="Aptos"/>
              </a:rPr>
              <a:t>Rennert et al.; RFF-SP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D1A16F-255F-4BA6-AFD9-34080E6E6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9075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GIVE architecture, scenarios, SCC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7F5057-25B8-4DBD-9841-66DB8764D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28900"/>
            <a:ext cx="10334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0ADC80-02AC-4335-B330-0C6FAFE09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321"/>
                </a:solidFill>
                <a:latin typeface="Aptos"/>
                <a:ea typeface="Aptos"/>
                <a:cs typeface="Aptos"/>
              </a:rPr>
              <a:t>Smoke damages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E9F0FA-68F2-4B25-A6F7-FDB4707C0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813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B5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B5B"/>
                </a:solidFill>
                <a:latin typeface="Aptos"/>
                <a:ea typeface="Aptos"/>
                <a:cs typeface="Aptos"/>
              </a:rPr>
              <a:t>Qiu et al.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6CE2B5-C986-4E0D-A49F-BFBC0AFA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8130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Complementary mortality channel, not carbon input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EAD6D7-6099-4BFF-A48A-3DBD03CD8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19450"/>
            <a:ext cx="10334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860AEE-9CE2-42C9-AD92-FAF4700AE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321"/>
                </a:solidFill>
                <a:latin typeface="Aptos"/>
                <a:ea typeface="Aptos"/>
                <a:cs typeface="Aptos"/>
              </a:rPr>
              <a:t>Magnitude anchor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AF044B-26AD-41F8-98DA-B2E7AB2B2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718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B5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B5B"/>
                </a:solidFill>
                <a:latin typeface="Aptos"/>
                <a:ea typeface="Aptos"/>
                <a:cs typeface="Aptos"/>
              </a:rPr>
              <a:t>Byrne et al. Canada 2023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BA1BF7-029E-49F5-98A2-D4F576CB5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7185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2.4-3.0 GtCO2 event scale; boreal plausibility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F53BED-61DA-473B-9E71-3BFD2679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0"/>
            <a:ext cx="10334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766738-AC36-4076-AD8E-25F4247E8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624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321"/>
                </a:solidFill>
                <a:latin typeface="Aptos"/>
                <a:ea typeface="Aptos"/>
                <a:cs typeface="Aptos"/>
              </a:rPr>
              <a:t>Projection scaler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F14F69-6543-4358-9C4A-EC7EDBB81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9624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B5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B5B"/>
                </a:solidFill>
                <a:latin typeface="Aptos"/>
                <a:ea typeface="Aptos"/>
                <a:cs typeface="Aptos"/>
              </a:rPr>
              <a:t>Val Martin / Pierce / Heald USDA-CESM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10F14E-F76C-4F6B-A661-47EEE08E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96240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CO emissions and burned-area ratios by RCP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12A397-9EF5-41FE-B5A3-CAD788F90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00550"/>
            <a:ext cx="10334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DB264D-D771-427C-A099-10A056064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321"/>
                </a:solidFill>
                <a:latin typeface="Aptos"/>
                <a:ea typeface="Aptos"/>
                <a:cs typeface="Aptos"/>
              </a:rPr>
              <a:t>Stress-scale theory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110AA2-0FCA-4EE6-9725-777BF8EBE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529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B5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B5B"/>
                </a:solidFill>
                <a:latin typeface="Aptos"/>
                <a:ea typeface="Aptos"/>
                <a:cs typeface="Aptos"/>
              </a:rPr>
              <a:t>RESFire / CESM literature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219B7B-3D8F-4E3C-95E3-8BC41C655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55295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High-end forest-fire feedback scale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861FBF-C385-499A-87B1-01B686559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91100"/>
            <a:ext cx="10334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51CCD3-0F60-43D1-B685-2BB186A25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321"/>
                </a:solidFill>
                <a:latin typeface="Aptos"/>
                <a:ea typeface="Aptos"/>
                <a:cs typeface="Aptos"/>
              </a:rPr>
              <a:t>Next data targets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37D1A9-9B66-46B8-A9C2-855BD5C22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1435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B5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B5B"/>
                </a:solidFill>
                <a:latin typeface="Aptos"/>
                <a:ea typeface="Aptos"/>
                <a:cs typeface="Aptos"/>
              </a:rPr>
              <a:t>Park, Tian, Phillips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C3C988-56FE-42D5-9168-66DB8FC8E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143500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Global fire carbon, warming levels, gross-vs-net boreal fire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6FEC98E-E5E9-481C-B429-A25D94BF7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Literature review and data triage; full citations in manuscript reference list.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AD99AD-BB78-447A-9FCA-4ABC2752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8920587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2EF079-D1E6-415E-B531-5596D881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05021ED-20FC-46EF-9F93-8DD6713AB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E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27AA2BA-AA64-4898-A785-D2FC3CDA9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57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METHOD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FC2781-E182-4B4C-8EC2-9BE3F03CB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9906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321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82321"/>
                </a:solidFill>
                <a:latin typeface="Aptos Display"/>
                <a:ea typeface="Aptos Display"/>
                <a:cs typeface="Aptos Display"/>
              </a:rPr>
              <a:t>The extension is deliberately reduced-form and transparent.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FBD8D7-80F7-4E7C-B73D-44AB85BA3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8096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21"/>
          </a:solidFill>
          <a:ln xmlns:a="http://schemas.openxmlformats.org/drawingml/2006/main" w="9525">
            <a:solidFill>
              <a:srgbClr val="18232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6E7C2A-EFC2-4D91-B097-E92057796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7620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DFC"/>
                </a:solidFill>
                <a:latin typeface="Aptos Mono"/>
                <a:ea typeface="Aptos Mono"/>
                <a:cs typeface="Aptos Mono"/>
              </a:defRPr>
            </a:pPr>
            <a:r>
              <a:rPr sz="1650" b="0">
                <a:solidFill>
                  <a:srgbClr val="FFFDFC"/>
                </a:solidFill>
                <a:latin typeface="Aptos Mono"/>
                <a:ea typeface="Aptos Mono"/>
                <a:cs typeface="Aptos Mono"/>
              </a:rPr>
              <a:t>E_fire,t = E_ref x beta x max(T[t-1] - T[2020], 0) x phi_net x phi_missing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3B8C2E-E87A-4083-9C15-2C9ECE63F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8550"/>
            <a:ext cx="247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D5AA71-58E5-4796-B004-7246F92CB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90950"/>
            <a:ext cx="2133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6B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6B5B"/>
                </a:solidFill>
                <a:latin typeface="Aptos"/>
                <a:ea typeface="Aptos"/>
                <a:cs typeface="Aptos"/>
              </a:rPr>
              <a:t>E_ref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1AA71A-13BB-41E9-8B14-6D25F8285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95750"/>
            <a:ext cx="2133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gross reference global fire carbon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9B1378-81CC-46E2-867F-AECD8FB78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638550"/>
            <a:ext cx="247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5B82C5-81DF-4268-A1A9-27C02B1A4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790950"/>
            <a:ext cx="2133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6B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6B5B"/>
                </a:solidFill>
                <a:latin typeface="Aptos"/>
                <a:ea typeface="Aptos"/>
                <a:cs typeface="Aptos"/>
              </a:rPr>
              <a:t>beta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742431-331A-4918-96E4-31DAB624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095750"/>
            <a:ext cx="2133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fractional gross fire-emissions response per deg 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FCB6E7-F1F0-4ECA-85DA-6D35B5B8E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38550"/>
            <a:ext cx="247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6CB0E3-FC57-4147-B4A1-6A39BF621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90950"/>
            <a:ext cx="2133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6B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6B5B"/>
                </a:solidFill>
                <a:latin typeface="Aptos"/>
                <a:ea typeface="Aptos"/>
                <a:cs typeface="Aptos"/>
              </a:rPr>
              <a:t>phi_net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851715-BE5B-4244-B57C-99D95C1C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2133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share that becomes persistent net atmospheric CO2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830A21-2050-4CFF-8E24-799CF4CEF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38550"/>
            <a:ext cx="2476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687FB3-81BA-4916-886E-51BA6D5C9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790950"/>
            <a:ext cx="2133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phi_missing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A0FE3E-43D2-42E5-AFF4-A0E8C92C6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095750"/>
            <a:ext cx="2133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share not already embedded in baseline aggregate CO2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83C1EA-4422-463B-9BFF-6C902BCF0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067300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9E2"/>
          </a:solidFill>
          <a:ln xmlns:a="http://schemas.openxmlformats.org/drawingml/2006/main" w="9525">
            <a:solidFill>
              <a:srgbClr val="1F6B5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EA8CFB-00A5-4B8C-B826-5A6467AE6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38750"/>
            <a:ext cx="7620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321"/>
                </a:solidFill>
                <a:latin typeface="Aptos"/>
                <a:ea typeface="Aptos"/>
                <a:cs typeface="Aptos"/>
              </a:rPr>
              <a:t>Placement: added before the SCC pulse enters FAIR, so the marginal tonne can induce marginal wildfire CO2 while the baseline remains comparable.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A0634C-43BD-4ED8-823E-762F315FF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Implementation: wildfire_extension/WildfireGIVE.jl.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5ADE48-1BF9-49BE-A6F4-BA861801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6551615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335612-3CFF-4A5A-A7D0-C6DD13FD2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2A79CA2-BDED-42FF-8A88-6E3ADB27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E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9CA529C-E278-4CD4-A995-D25B6330A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57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REPRODUCIBILITY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F54890-BDE9-4AF2-8E27-927F2BBA8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9906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321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82321"/>
                </a:solidFill>
                <a:latin typeface="Aptos Display"/>
                <a:ea typeface="Aptos Display"/>
                <a:cs typeface="Aptos Display"/>
              </a:rPr>
              <a:t>The work started as a replication package, then became a separated extension.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363F31-5E50-494F-9765-63F176B36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16764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FF4D91-C65C-4E49-8329-EFEF84357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4D8EE8-77AA-483E-9D3D-659F0D125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7655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321"/>
                </a:solidFill>
                <a:latin typeface="Aptos"/>
                <a:ea typeface="Aptos"/>
                <a:cs typeface="Aptos"/>
              </a:rPr>
              <a:t>Download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8956AA-5387-4575-A67C-65BECB346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76600"/>
            <a:ext cx="1295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Rennert et al. Zenodo archive and GitHub replication code references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8732D6-5169-4139-BFEC-AE4015AB1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43250"/>
            <a:ext cx="19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99F9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99F91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9BC76F-D517-4480-9C96-9108F0B1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190750"/>
            <a:ext cx="16764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0DFDE6-E620-4649-AAC6-03BA67A0E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3812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00012B-B786-440F-B817-FAFB09000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7655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321"/>
                </a:solidFill>
                <a:latin typeface="Aptos"/>
                <a:ea typeface="Aptos"/>
                <a:cs typeface="Aptos"/>
              </a:rPr>
              <a:t>Runtime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BEE06C-D080-4CB2-9D53-FD144CCF3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276600"/>
            <a:ext cx="1295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Local Julia installs in /tools plus archived Project.toml and Manifest.toml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E71BFD-0833-438F-8B92-5326BF528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143250"/>
            <a:ext cx="19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99F9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99F91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6C26EA-CB64-4ABF-9D8E-F5AA422E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90750"/>
            <a:ext cx="16764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B39E3A-6871-4445-9745-5FC3DA6FD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812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30CEF4-0910-42F9-86E2-4065DBD8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7655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321"/>
                </a:solidFill>
                <a:latin typeface="Aptos"/>
                <a:ea typeface="Aptos"/>
                <a:cs typeface="Aptos"/>
              </a:rPr>
              <a:t>Audit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FDBD87-56B4-48AE-A34E-4B73FAA4B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76600"/>
            <a:ext cx="1295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Search RFF-SP, MimiGIVE and MimiFAIR for fire/LULUCF/emissions wiring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272B7D-79C0-455E-AEEA-04F1B20D6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43250"/>
            <a:ext cx="19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99F9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99F91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CF23DC-614D-4483-9010-2A44DE3F6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190750"/>
            <a:ext cx="16764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9E2"/>
          </a:solidFill>
          <a:ln xmlns:a="http://schemas.openxmlformats.org/drawingml/2006/main" w="9525">
            <a:solidFill>
              <a:srgbClr val="1F6B5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5BB8EC-DE7F-499E-BE30-C171B36D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812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6B5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6B5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6DCD75-CCF4-477F-982D-02C969F46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7655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321"/>
                </a:solidFill>
                <a:latin typeface="Aptos"/>
                <a:ea typeface="Aptos"/>
                <a:cs typeface="Aptos"/>
              </a:rPr>
              <a:t>Extend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B667B3-95F3-4CFA-8A21-56FF3546A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76600"/>
            <a:ext cx="1295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Add wildfire_extension/ without overwriting original replication files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7B3466-D21B-4D96-94BF-E550BEF8F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43250"/>
            <a:ext cx="19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99F9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99F91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01A89E-88A7-492C-BCFD-6AC40994A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90750"/>
            <a:ext cx="16764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BAB3EA-A6CD-43EA-81F9-473A1E62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812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FD83CA-BFFE-4778-A232-225A312F0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7655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321"/>
                </a:solidFill>
                <a:latin typeface="Aptos"/>
                <a:ea typeface="Aptos"/>
                <a:cs typeface="Aptos"/>
              </a:rPr>
              <a:t>Run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B5C1E2-166F-4E20-BEB3-DC844886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76600"/>
            <a:ext cx="1295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Deterministic checks, 100 paired Monte Carlo draws, sectoral diagnostics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E1B41C-6496-4B5F-93FF-AC68C048E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143250"/>
            <a:ext cx="19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99F9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99F91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67C123-702F-4C4B-AE30-10AA0B0A3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190750"/>
            <a:ext cx="16764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2FED66-00EF-4249-9873-FBDD5531F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3812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51EA02-40DB-494D-8B24-E83DEE62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87655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321"/>
                </a:solidFill>
                <a:latin typeface="Aptos"/>
                <a:ea typeface="Aptos"/>
                <a:cs typeface="Aptos"/>
              </a:rPr>
              <a:t>Package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8345869-6463-49F2-8E60-406DE8935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276600"/>
            <a:ext cx="1295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Memo, manuscript, figures, run scripts and GitHub-ready folder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524375A-70E1-422D-8F3A-7F47D2613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191125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321"/>
                </a:solidFill>
                <a:latin typeface="Aptos"/>
                <a:ea typeface="Aptos"/>
                <a:cs typeface="Aptos"/>
              </a:rPr>
              <a:t>GitHub status: local package is ready to commit/push once a remote repository is created.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534003B-D7E9-42BF-82A1-7B4EFB826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Local paths: /Users/jbb/Dropbox/GIVE and paper-2022-scc-give-zenodo/wildfire_extension.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0662F9A-47A6-40DB-A9D4-A926ABEA0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0117698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B23DD8-BC6B-48D8-B462-7B85055EB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0A1B1BD-159A-450D-A71E-54B4EACBB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E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4887EF5-BE2B-4269-AC90-677E5AA3F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57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SCALE CHECK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CF315E-1515-46D8-B707-9727024AB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9239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321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82321"/>
                </a:solidFill>
                <a:latin typeface="Aptos Display"/>
                <a:ea typeface="Aptos Display"/>
                <a:cs typeface="Aptos Display"/>
              </a:rPr>
              <a:t>Fire CO2 can be a visible annual flow without dominating the atmospheric stock.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1447b5a5414aa7"/>
          <a:stretch xmlns:a="http://schemas.openxmlformats.org/drawingml/2006/main"/>
        </p:blipFill>
        <p:spPr>
          <a:xfrm xmlns:a="http://schemas.openxmlformats.org/drawingml/2006/main">
            <a:off x="1449161" y="1952625"/>
            <a:ext cx="5731329" cy="3714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055BD7-06B8-4A9F-B02C-5C7EE20CF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57400"/>
            <a:ext cx="257175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6D319C-E4AB-4E58-B0B7-BE503A5D3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3241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321"/>
                </a:solidFill>
                <a:latin typeface="Aptos"/>
                <a:ea typeface="Aptos"/>
                <a:cs typeface="Aptos"/>
              </a:rPr>
              <a:t>How to read 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9A593B-B06F-472B-9435-1C3E40627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781300"/>
            <a:ext cx="201930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Residual-high reaches 1.27 GtCO2/yr by 2100: 4.63% of baseline annual emissions, but 0.80% of atmospheric CO2-C stock.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The gross stress case is intentionally much larger and not double-counting safe.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3113A3-2775-484A-9896-2EE44558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Figure generated from deterministic fire_scale_check_deterministic.csv.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D5F714-CD6A-4C2F-A698-8FD4AFD31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479715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5CC7E2-6980-4A3B-81EF-635B078A8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E912DC9-FA93-4E9B-96CD-F28CD05D1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E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F5EE294-C456-4423-957A-465CC1D1E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57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SCC DISTRIBUTION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2BCB0C-EE03-405A-BC41-2E9A02D77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000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321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82321"/>
                </a:solidFill>
                <a:latin typeface="Aptos Display"/>
                <a:ea typeface="Aptos Display"/>
                <a:cs typeface="Aptos Display"/>
              </a:rPr>
              <a:t>The SCC distribution shifts only modestly for conservative residual feedbacks.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aec95ff082495f"/>
          <a:stretch xmlns:a="http://schemas.openxmlformats.org/drawingml/2006/main"/>
        </p:blipFill>
        <p:spPr>
          <a:xfrm xmlns:a="http://schemas.openxmlformats.org/drawingml/2006/main">
            <a:off x="1636154" y="1952625"/>
            <a:ext cx="5795493" cy="3810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97582F-174C-4732-9466-FF0CD747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76450"/>
            <a:ext cx="2333625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DFEF7B-F592-48DD-9F54-CD5980494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3431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321"/>
                </a:solidFill>
                <a:latin typeface="Aptos"/>
                <a:ea typeface="Aptos"/>
                <a:cs typeface="Aptos"/>
              </a:rPr>
              <a:t>Main 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997D77-F359-4B1C-862D-4FF853FC1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762250"/>
            <a:ext cx="18573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Means and medians are computed on full samples; the display truncates the right tail at $600/tCO2.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This is a 100-draw validation run, not the final 10,000-draw Monte Carlo.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FCFD56-1D57-423B-B701-C9B6B4364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Output: wildfire_temperature_feedback_mcs_100_paired/all_scc_samples.csv.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FA7D9E-736B-4275-82C7-BC31B3858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7610600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F9D8D6-2C60-45B8-92D9-E1D4A1A4E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CDC3995-2202-476C-B591-E9279307F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E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1B18C48-98A6-4595-8D8F-CEA81A1B5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57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RESULTS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1E5B8C-0E44-4760-9897-B5FCCB1E5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0287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321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82321"/>
                </a:solidFill>
                <a:latin typeface="Aptos Display"/>
                <a:ea typeface="Aptos Display"/>
                <a:cs typeface="Aptos Display"/>
              </a:rPr>
              <a:t>The central result is conditional: residual feedbacks are small; gross missing fire carbon is not.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269E14-EAC7-4AFD-A12D-678273D78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62125"/>
            <a:ext cx="2571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21"/>
          </a:solidFill>
          <a:ln xmlns:a="http://schemas.openxmlformats.org/drawingml/2006/main" w="9525">
            <a:solidFill>
              <a:srgbClr val="18232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073FDE-A460-42C7-9B7F-9B5F7C119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859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D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DFC"/>
                </a:solidFill>
                <a:latin typeface="Aptos"/>
                <a:ea typeface="Aptos"/>
                <a:cs typeface="Aptos"/>
              </a:rPr>
              <a:t>Scenario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9AF7E2-D3F2-4178-BA5B-B0F30BD0F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762125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21"/>
          </a:solidFill>
          <a:ln xmlns:a="http://schemas.openxmlformats.org/drawingml/2006/main" w="9525">
            <a:solidFill>
              <a:srgbClr val="18232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AE73E6-8AC9-452D-A317-5CC4A506C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88595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D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DFC"/>
                </a:solidFill>
                <a:latin typeface="Aptos"/>
                <a:ea typeface="Aptos"/>
                <a:cs typeface="Aptos"/>
              </a:rPr>
              <a:t>Mean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810F12-6F94-4680-A5B3-0E6580262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62125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21"/>
          </a:solidFill>
          <a:ln xmlns:a="http://schemas.openxmlformats.org/drawingml/2006/main" w="9525">
            <a:solidFill>
              <a:srgbClr val="18232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129043-081F-4AC2-987F-E67D5F82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88595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D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DFC"/>
                </a:solidFill>
                <a:latin typeface="Aptos"/>
                <a:ea typeface="Aptos"/>
                <a:cs typeface="Aptos"/>
              </a:rPr>
              <a:t>Median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87E21A-97AE-4168-B387-100DA786C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762125"/>
            <a:ext cx="95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21"/>
          </a:solidFill>
          <a:ln xmlns:a="http://schemas.openxmlformats.org/drawingml/2006/main" w="9525">
            <a:solidFill>
              <a:srgbClr val="18232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3C83F3-474C-417D-B39C-B3A8404B6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8859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D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DFC"/>
                </a:solidFill>
                <a:latin typeface="Aptos"/>
                <a:ea typeface="Aptos"/>
                <a:cs typeface="Aptos"/>
              </a:rPr>
              <a:t>5th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B9C96F-D664-4D19-AB6F-DA1D0B6E9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762125"/>
            <a:ext cx="1047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21"/>
          </a:solidFill>
          <a:ln xmlns:a="http://schemas.openxmlformats.org/drawingml/2006/main" w="9525">
            <a:solidFill>
              <a:srgbClr val="18232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4F49CB-C7BC-4D8B-9D3F-9F2400BA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88595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D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DFC"/>
                </a:solidFill>
                <a:latin typeface="Aptos"/>
                <a:ea typeface="Aptos"/>
                <a:cs typeface="Aptos"/>
              </a:rPr>
              <a:t>95th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F0F5AD-3758-4633-879F-0C9E2E5AF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762125"/>
            <a:ext cx="1047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21"/>
          </a:solidFill>
          <a:ln xmlns:a="http://schemas.openxmlformats.org/drawingml/2006/main" w="9525">
            <a:solidFill>
              <a:srgbClr val="18232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319D7E-ED16-4B27-9CCA-4117FEC47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88595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D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DFC"/>
                </a:solidFill>
                <a:latin typeface="Aptos"/>
                <a:ea typeface="Aptos"/>
                <a:cs typeface="Aptos"/>
              </a:rPr>
              <a:t>Delta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AB4238-EBCF-4085-B71A-A28FCC289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762125"/>
            <a:ext cx="1047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21"/>
          </a:solidFill>
          <a:ln xmlns:a="http://schemas.openxmlformats.org/drawingml/2006/main" w="9525">
            <a:solidFill>
              <a:srgbClr val="18232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09FFC4-2DF3-45C7-A0CC-38B7383D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88595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D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DFC"/>
                </a:solidFill>
                <a:latin typeface="Aptos"/>
                <a:ea typeface="Aptos"/>
                <a:cs typeface="Aptos"/>
              </a:rPr>
              <a:t>Delta 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14DBB7-FB3D-478B-B4AE-39CA5DCC4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00275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D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53EF6B-D7CD-4B2D-98A0-0AC1F01A3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6220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321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54DC65-BA7D-4173-8845-069DE998C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200275"/>
            <a:ext cx="114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D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9A3E6E-A766-4DC1-BA21-36EE40F96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3622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321"/>
                </a:solidFill>
                <a:latin typeface="Aptos"/>
                <a:ea typeface="Aptos"/>
                <a:cs typeface="Aptos"/>
              </a:rPr>
              <a:t>198.35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71F30A-2B4A-4B98-8046-4066C407C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00275"/>
            <a:ext cx="114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D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EB381B-7C70-468B-84D1-5CF621E8D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622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321"/>
                </a:solidFill>
                <a:latin typeface="Aptos"/>
                <a:ea typeface="Aptos"/>
                <a:cs typeface="Aptos"/>
              </a:rPr>
              <a:t>155.82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ACD585-28F2-4E16-AFE0-931A84137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200275"/>
            <a:ext cx="95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D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4ACD3F-9D45-4B82-A903-8BE60CBAC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362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321"/>
                </a:solidFill>
                <a:latin typeface="Aptos"/>
                <a:ea typeface="Aptos"/>
                <a:cs typeface="Aptos"/>
              </a:rPr>
              <a:t>33.39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34E5B4-539C-476C-9B74-3BF0B474C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200275"/>
            <a:ext cx="1047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D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40371E-2FA2-48C0-8795-8314B69D3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3622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321"/>
                </a:solidFill>
                <a:latin typeface="Aptos"/>
                <a:ea typeface="Aptos"/>
                <a:cs typeface="Aptos"/>
              </a:rPr>
              <a:t>464.21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11E33B-2A1B-4DF0-B907-9FAD05DC9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200275"/>
            <a:ext cx="1047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D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D76017-A787-4826-9C03-04726C294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622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321"/>
                </a:solidFill>
                <a:latin typeface="Aptos"/>
                <a:ea typeface="Aptos"/>
                <a:cs typeface="Aptos"/>
              </a:rPr>
              <a:t>0.00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73E24A-0666-4FFF-A716-4659794E6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200275"/>
            <a:ext cx="1047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D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E373959-8FE9-4107-9944-CBD50DE03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3622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321"/>
                </a:solidFill>
                <a:latin typeface="Aptos"/>
                <a:ea typeface="Aptos"/>
                <a:cs typeface="Aptos"/>
              </a:rPr>
              <a:t>0.00%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A6FD987-006B-41CC-AEF3-6ED9F48A4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33675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5B3A675-B098-4D00-A7EA-167305FD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9560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321"/>
                </a:solidFill>
                <a:latin typeface="Aptos"/>
                <a:ea typeface="Aptos"/>
                <a:cs typeface="Aptos"/>
              </a:rPr>
              <a:t>Residual medium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73BB8CD-6222-4E18-86C5-E413F7288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733675"/>
            <a:ext cx="114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429F00B-211D-4A87-A270-275BF01F2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8956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321"/>
                </a:solidFill>
                <a:latin typeface="Aptos"/>
                <a:ea typeface="Aptos"/>
                <a:cs typeface="Aptos"/>
              </a:rPr>
              <a:t>198.89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74268E8-5F15-4308-B023-D502ECB3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733675"/>
            <a:ext cx="114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1A37F09-E1B9-429E-BBFC-F9D7E2B03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8956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321"/>
                </a:solidFill>
                <a:latin typeface="Aptos"/>
                <a:ea typeface="Aptos"/>
                <a:cs typeface="Aptos"/>
              </a:rPr>
              <a:t>156.03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EDB3D08-28E3-4131-939C-9CBBB9CB1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733675"/>
            <a:ext cx="95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8869EF7-5056-4E6B-B694-7F5C93E0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8956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321"/>
                </a:solidFill>
                <a:latin typeface="Aptos"/>
                <a:ea typeface="Aptos"/>
                <a:cs typeface="Aptos"/>
              </a:rPr>
              <a:t>33.46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7B3C30A-1B69-471B-BF2F-5FBCA46A0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733675"/>
            <a:ext cx="1047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D427408-DC7A-4779-A2F3-170F0EFE1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8956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321"/>
                </a:solidFill>
                <a:latin typeface="Aptos"/>
                <a:ea typeface="Aptos"/>
                <a:cs typeface="Aptos"/>
              </a:rPr>
              <a:t>465.23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7495F15-1358-457C-B62F-C8378E498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733675"/>
            <a:ext cx="1047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2C86EC9-62B5-486F-B9F2-0F7DD9D99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8956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+0.54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2015982-13F0-45E5-AD9F-DD0AC6494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733675"/>
            <a:ext cx="1047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F92DE5B-F8FE-4176-9435-0DFECD5D6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8956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+0.27%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8D98E4F-526E-4E49-93B3-2B9B8F967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67075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16160AD-86F2-4523-AE67-DD91D5B8B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2900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321"/>
                </a:solidFill>
                <a:latin typeface="Aptos"/>
                <a:ea typeface="Aptos"/>
                <a:cs typeface="Aptos"/>
              </a:rPr>
              <a:t>Residual high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F43C98B-AD4B-4C8C-AF19-095DF6AD2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267075"/>
            <a:ext cx="114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52A8E7B-7F8A-45BF-B0E7-6D56E40A1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4290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321"/>
                </a:solidFill>
                <a:latin typeface="Aptos"/>
                <a:ea typeface="Aptos"/>
                <a:cs typeface="Aptos"/>
              </a:rPr>
              <a:t>209.57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8E1A9DE-9FA5-43D6-98A6-5470603A5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267075"/>
            <a:ext cx="114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32B1149-9E2F-431E-85FB-F641E2B0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4290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321"/>
                </a:solidFill>
                <a:latin typeface="Aptos"/>
                <a:ea typeface="Aptos"/>
                <a:cs typeface="Aptos"/>
              </a:rPr>
              <a:t>161.67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040DA59-2D66-47BD-B23A-D12391597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267075"/>
            <a:ext cx="95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F0B372E-4701-4C2B-86FC-290020F2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4290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321"/>
                </a:solidFill>
                <a:latin typeface="Aptos"/>
                <a:ea typeface="Aptos"/>
                <a:cs typeface="Aptos"/>
              </a:rPr>
              <a:t>35.80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19F4CC2-2B99-44AD-8476-79489AA6B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267075"/>
            <a:ext cx="1047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B166548-FA58-4D93-A001-B6BD5D654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4290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321"/>
                </a:solidFill>
                <a:latin typeface="Aptos"/>
                <a:ea typeface="Aptos"/>
                <a:cs typeface="Aptos"/>
              </a:rPr>
              <a:t>485.26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40EB997-4952-4BA1-AE43-F60290EAB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267075"/>
            <a:ext cx="1047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1592FF5-CB45-4BC6-B196-BF876A04E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4290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+11.21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151E6BE-C6DE-4BBC-83AD-D637B121D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267075"/>
            <a:ext cx="1047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C1337A9-A1AC-4868-86D0-1B807C0E3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4290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+5.65%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64578A6-AB6A-43FD-9DFE-70E3B7B1B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00475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5CA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2FB0569-F459-46F1-8EA4-550A90D2B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6240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321"/>
                </a:solidFill>
                <a:latin typeface="Aptos"/>
                <a:ea typeface="Aptos"/>
                <a:cs typeface="Aptos"/>
              </a:rPr>
              <a:t>High-end half-gross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0E6F1F6-3BED-4FBD-AE09-2168DCE61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800475"/>
            <a:ext cx="114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5CA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59A64B6-3475-4B12-ACA8-BBBE6F253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9624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321"/>
                </a:solidFill>
                <a:latin typeface="Aptos"/>
                <a:ea typeface="Aptos"/>
                <a:cs typeface="Aptos"/>
              </a:rPr>
              <a:t>262.79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5869628-A499-4FF0-A53F-DC5D3E42F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800475"/>
            <a:ext cx="114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5CA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968EC4D-F5A5-4F1B-ABD2-06A70EB03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624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321"/>
                </a:solidFill>
                <a:latin typeface="Aptos"/>
                <a:ea typeface="Aptos"/>
                <a:cs typeface="Aptos"/>
              </a:rPr>
              <a:t>194.93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4D130BC-0849-43F2-945C-A3253647B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800475"/>
            <a:ext cx="95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5CA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BB78F89-B587-4528-9689-AAA96A8C4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9624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321"/>
                </a:solidFill>
                <a:latin typeface="Aptos"/>
                <a:ea typeface="Aptos"/>
                <a:cs typeface="Aptos"/>
              </a:rPr>
              <a:t>45.45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CD674F1-3CE1-4FD2-8D8F-36C32D1F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800475"/>
            <a:ext cx="1047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5CA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74AEF13-F32F-491D-BC6C-91BB2E906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9624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321"/>
                </a:solidFill>
                <a:latin typeface="Aptos"/>
                <a:ea typeface="Aptos"/>
                <a:cs typeface="Aptos"/>
              </a:rPr>
              <a:t>646.43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D457FA4-01B5-4910-9B2D-D43203B07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800475"/>
            <a:ext cx="1047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5CA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8991D58-2CDE-4AC2-9F98-0862B2AAA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9624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+64.44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F813791-4F03-4168-8F99-3C8D931C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00475"/>
            <a:ext cx="1047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5CA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B7175B7-8414-4E23-B0D9-ED71FB5C6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9624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+32.49%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75EC9B8-B9FE-4D30-AE7A-BF612D70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33875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5CA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52D1E61-5489-47C6-B298-35A216E2C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9580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321"/>
                </a:solidFill>
                <a:latin typeface="Aptos"/>
                <a:ea typeface="Aptos"/>
                <a:cs typeface="Aptos"/>
              </a:rPr>
              <a:t>High-end gross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664BD2B-857A-4D7F-B79C-190257B4C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333875"/>
            <a:ext cx="114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5CA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80C6E12-5F6D-4F24-AA0D-7535649B5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4958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321"/>
                </a:solidFill>
                <a:latin typeface="Aptos"/>
                <a:ea typeface="Aptos"/>
                <a:cs typeface="Aptos"/>
              </a:rPr>
              <a:t>346.37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4A09141-96B9-43A7-B800-DD07C745F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333875"/>
            <a:ext cx="114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5CA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B938434-1A2C-4FFA-8B89-C9595C64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4958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321"/>
                </a:solidFill>
                <a:latin typeface="Aptos"/>
                <a:ea typeface="Aptos"/>
                <a:cs typeface="Aptos"/>
              </a:rPr>
              <a:t>248.55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5D5498D-8B27-4489-8A94-6B3031343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333875"/>
            <a:ext cx="95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5CA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8F7D9A6-3ECF-4459-B7A3-638DD65E2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4958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321"/>
                </a:solidFill>
                <a:latin typeface="Aptos"/>
                <a:ea typeface="Aptos"/>
                <a:cs typeface="Aptos"/>
              </a:rPr>
              <a:t>84.63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B8D982C-617A-4FA1-8C5C-BB358539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333875"/>
            <a:ext cx="1047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5CA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52147ED-8CC0-4B4F-9D4F-959F6DC92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4958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321"/>
                </a:solidFill>
                <a:latin typeface="Aptos"/>
                <a:ea typeface="Aptos"/>
                <a:cs typeface="Aptos"/>
              </a:rPr>
              <a:t>785.47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EA6196B-DDF5-4EC8-98EF-AC372C468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333875"/>
            <a:ext cx="1047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5CA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5C0DED8-789B-4A68-8A1C-2C2369B7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4958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+148.02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B6305F3-877E-4854-AB40-281A40777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333875"/>
            <a:ext cx="1047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5CA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419E4C1-9FA8-4738-A99E-098146151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4958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+74.62%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A69B5F4-A938-4D31-A28A-9A928150E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00625"/>
            <a:ext cx="990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Units: 2020 USD/tCO2. Central 2.0% discount-rate case. Paired 100-draw validation sample.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09EE2C66-99E0-4D9B-9305-65C725F7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962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321"/>
                </a:solidFill>
                <a:latin typeface="Aptos"/>
                <a:ea typeface="Aptos"/>
                <a:cs typeface="Aptos"/>
              </a:rPr>
              <a:t>Interpretation: stress cases prove the mechanism can be large, not that gross fire emissions should be added without accounting safeguards.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7050842-4A82-41E0-BCC3-BCF7F13B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Output: scc_summary.csv.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0B7D2230-EF93-47CC-8AAF-E2505AF5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7174347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A47BD6-FCDD-4E9C-8E54-8347421DE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EF07EB7-EB14-46D1-95E5-CEE98DABE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E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69AC62A-67AB-4B76-B3B8-EF919627F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57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MECHANISM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1142E5-8544-454A-B188-53D759037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9906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321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82321"/>
                </a:solidFill>
                <a:latin typeface="Aptos Display"/>
                <a:ea typeface="Aptos Display"/>
                <a:cs typeface="Aptos Display"/>
              </a:rPr>
              <a:t>Some sectors can show lower marginal damages even as total damages rise.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4eb21fe0e045d9"/>
          <a:stretch xmlns:a="http://schemas.openxmlformats.org/drawingml/2006/main"/>
        </p:blipFill>
        <p:spPr>
          <a:xfrm xmlns:a="http://schemas.openxmlformats.org/drawingml/2006/main">
            <a:off x="2554418" y="1952625"/>
            <a:ext cx="3349365" cy="3714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55DB68-C757-499F-8362-38AD0FA83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57400"/>
            <a:ext cx="27051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E1EBAD-F5C5-4D2E-8941-3C4571AA8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33625"/>
            <a:ext cx="2143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321"/>
                </a:solidFill>
                <a:latin typeface="Aptos"/>
                <a:ea typeface="Aptos"/>
                <a:cs typeface="Aptos"/>
              </a:rPr>
              <a:t>Why this happens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37FBBD-6230-4F58-BF61-D937D521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81300"/>
            <a:ext cx="2095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CO2 forcing is logarithmic.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Mortality and energy are locally close to linear in temperature.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Agriculture and sea-level channels are more nonlinear and delayed.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Discounting suppresses far-future increments.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B88311-1C20-4FEC-8302-AB207BDA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Sectoral diagnostic: save_md=true and compute_sectoral_values=true.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49C1AB-FA02-4A5E-99FF-488CD7BD7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996797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7D8812-D66A-4F75-96FB-B85902958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B0C5353-06D3-4EC0-B94D-E67151F11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E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61DA8CD-78B7-4DE3-A4BD-EE636EE4E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57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SOURCE ATTRIBUTION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04B7D4-DBF6-44D6-A04E-4DA1BA61E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9334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321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82321"/>
                </a:solidFill>
                <a:latin typeface="Aptos Display"/>
                <a:ea typeface="Aptos Display"/>
                <a:cs typeface="Aptos Display"/>
              </a:rPr>
              <a:t>The source map is an assumption ledger, not a model output.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2422dbdd234396"/>
          <a:stretch xmlns:a="http://schemas.openxmlformats.org/drawingml/2006/main"/>
        </p:blipFill>
        <p:spPr>
          <a:xfrm xmlns:a="http://schemas.openxmlformats.org/drawingml/2006/main">
            <a:off x="2394857" y="1952625"/>
            <a:ext cx="4354286" cy="3810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B3D3CE-570D-404D-98DE-15A7ECEFB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038350"/>
            <a:ext cx="23336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50C1B5-E30C-4109-9531-9A8953EDD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050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321"/>
                </a:solidFill>
                <a:latin typeface="Aptos"/>
                <a:ea typeface="Aptos"/>
                <a:cs typeface="Aptos"/>
              </a:rPr>
              <a:t>Proxy definition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6D72B0-D0C0-4CFC-ADCA-A69310BB6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743200"/>
            <a:ext cx="18097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A hand-coded 0-1 country index for plausible climate-sensitive fire-carbon source regions.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Gross proxy: source plausibility.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Residual proxy: downweighted for regrowth, AFOLU overlap and double-counting risk.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062F3E-5338-4493-997B-D80DDB325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Source proxy CSV: wildfire_extension/manuscript/figures/png_pdf/fire_source_country_proxy.csv.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581460-D221-4439-811C-21BC1AB1B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10759647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579DEE-4C1E-43AC-BFCE-5BE29A4AE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65C2786-5D95-4FB6-AAE9-F7A71135B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E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6228E87-80FA-4743-8E1F-184A73E2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57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DIAGNOSTICS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4FF34-385D-4AAD-9357-BA3D9E077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9715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321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82321"/>
                </a:solidFill>
                <a:latin typeface="Aptos Display"/>
                <a:ea typeface="Aptos Display"/>
                <a:cs typeface="Aptos Display"/>
              </a:rPr>
              <a:t>Source geography and damage geography answer different questions.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bde5c13ee245dc"/>
          <a:stretch xmlns:a="http://schemas.openxmlformats.org/drawingml/2006/main"/>
        </p:blipFill>
        <p:spPr>
          <a:xfrm xmlns:a="http://schemas.openxmlformats.org/drawingml/2006/main">
            <a:off x="1382629" y="2000250"/>
            <a:ext cx="3368842" cy="2857500"/>
          </a:xfrm>
          <a:prstGeom xmlns:a="http://schemas.openxmlformats.org/drawingml/2006/main" prst="rect">
            <a:avLst/>
          </a:prstGeom>
        </p:spPr>
      </p:pic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fbb9d5f16a4531"/>
          <a:stretch xmlns:a="http://schemas.openxmlformats.org/drawingml/2006/main"/>
        </p:blipFill>
        <p:spPr>
          <a:xfrm xmlns:a="http://schemas.openxmlformats.org/drawingml/2006/main">
            <a:off x="6000750" y="2245179"/>
            <a:ext cx="4572000" cy="236764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8E56C9-20BF-4F79-A91B-858AC6195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00625"/>
            <a:ext cx="381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2321"/>
                </a:solidFill>
                <a:latin typeface="Aptos"/>
                <a:ea typeface="Aptos"/>
                <a:cs typeface="Aptos"/>
              </a:rPr>
              <a:t>Incremental core damages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537F30-8BB8-4BE5-9B47-EF9F4C2E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00625"/>
            <a:ext cx="381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2321"/>
                </a:solidFill>
                <a:latin typeface="Aptos"/>
                <a:ea typeface="Aptos"/>
                <a:cs typeface="Aptos"/>
              </a:rPr>
              <a:t>Incremental core-sector SCC contribution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6DFDD0-39C7-4CE1-A6A5-384ADFF3A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572125"/>
            <a:ext cx="885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Diagnostics only: these exclude sea-level rise, smoke mortality, non-CO2 fire forcers and within-country distribution.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36E12D-F948-462E-B5C9-13FCE60A3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Regional diagnostics generated with Natural Earth country boundaries.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33FF0B-F199-4451-8CD8-008516323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43887776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C1667B-359D-43C4-9F68-3B8B690D2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5AF767D-9E8C-40DA-95CB-0179B3208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E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DFB6AFF-9D1C-4BA8-A777-9EFC94C65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57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REPLICATION PACKAGE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2FEAB4-05C2-4C5E-8266-5B5DC8719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0191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321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82321"/>
                </a:solidFill>
                <a:latin typeface="Aptos Display"/>
                <a:ea typeface="Aptos Display"/>
                <a:cs typeface="Aptos Display"/>
              </a:rPr>
              <a:t>The extension is isolated from the original replication code and ready for a GitHub remote.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02C54F-0E7F-40D7-9DA4-1C84BB52B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53340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21"/>
          </a:solidFill>
          <a:ln xmlns:a="http://schemas.openxmlformats.org/drawingml/2006/main" w="9525">
            <a:solidFill>
              <a:srgbClr val="18232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3A8AE6-3380-4C75-B56D-B067102D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48577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9EFEA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E9EFEA"/>
                </a:solidFill>
                <a:latin typeface="Aptos Mono"/>
                <a:ea typeface="Aptos Mono"/>
                <a:cs typeface="Aptos Mono"/>
              </a:rPr>
              <a:t>/Users/jbb/Dropbox/GIVE</a:t>
            </a:r>
          </a:p>
          <a:p xmlns:a="http://schemas.openxmlformats.org/drawingml/2006/main">
            <a:pPr algn="l">
              <a:defRPr sz="1050" b="0">
                <a:solidFill>
                  <a:srgbClr val="E9EFEA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E9EFEA"/>
                </a:solidFill>
                <a:latin typeface="Aptos Mono"/>
                <a:ea typeface="Aptos Mono"/>
                <a:cs typeface="Aptos Mono"/>
              </a:rPr>
              <a:t>  RennertEtAl2022ReplicationCodeData.zip</a:t>
            </a:r>
          </a:p>
          <a:p xmlns:a="http://schemas.openxmlformats.org/drawingml/2006/main">
            <a:pPr algn="l">
              <a:defRPr sz="1050" b="0">
                <a:solidFill>
                  <a:srgbClr val="E9EFEA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E9EFEA"/>
                </a:solidFill>
                <a:latin typeface="Aptos Mono"/>
                <a:ea typeface="Aptos Mono"/>
                <a:cs typeface="Aptos Mono"/>
              </a:rPr>
              <a:t>  tools/</a:t>
            </a:r>
          </a:p>
          <a:p xmlns:a="http://schemas.openxmlformats.org/drawingml/2006/main">
            <a:pPr algn="l">
              <a:defRPr sz="1050" b="0">
                <a:solidFill>
                  <a:srgbClr val="E9EFEA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E9EFEA"/>
                </a:solidFill>
                <a:latin typeface="Aptos Mono"/>
                <a:ea typeface="Aptos Mono"/>
                <a:cs typeface="Aptos Mono"/>
              </a:rPr>
              <a:t>    julia-1.6.4/</a:t>
            </a:r>
          </a:p>
          <a:p xmlns:a="http://schemas.openxmlformats.org/drawingml/2006/main">
            <a:pPr algn="l">
              <a:defRPr sz="1050" b="0">
                <a:solidFill>
                  <a:srgbClr val="E9EFEA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E9EFEA"/>
                </a:solidFill>
                <a:latin typeface="Aptos Mono"/>
                <a:ea typeface="Aptos Mono"/>
                <a:cs typeface="Aptos Mono"/>
              </a:rPr>
              <a:t>    julia-1.8.5/</a:t>
            </a:r>
          </a:p>
          <a:p xmlns:a="http://schemas.openxmlformats.org/drawingml/2006/main">
            <a:pPr algn="l">
              <a:defRPr sz="1050" b="0">
                <a:solidFill>
                  <a:srgbClr val="E9EFEA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E9EFEA"/>
                </a:solidFill>
                <a:latin typeface="Aptos Mono"/>
                <a:ea typeface="Aptos Mono"/>
                <a:cs typeface="Aptos Mono"/>
              </a:rPr>
              <a:t>  paper-2022-scc-give-zenodo/</a:t>
            </a:r>
          </a:p>
          <a:p xmlns:a="http://schemas.openxmlformats.org/drawingml/2006/main">
            <a:pPr algn="l">
              <a:defRPr sz="1050" b="0">
                <a:solidFill>
                  <a:srgbClr val="E9EFEA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E9EFEA"/>
                </a:solidFill>
                <a:latin typeface="Aptos Mono"/>
                <a:ea typeface="Aptos Mono"/>
                <a:cs typeface="Aptos Mono"/>
              </a:rPr>
              <a:t>    Project.toml / Manifest.toml</a:t>
            </a:r>
          </a:p>
          <a:p xmlns:a="http://schemas.openxmlformats.org/drawingml/2006/main">
            <a:pPr algn="l">
              <a:defRPr sz="1050" b="0">
                <a:solidFill>
                  <a:srgbClr val="E9EFEA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E9EFEA"/>
                </a:solidFill>
                <a:latin typeface="Aptos Mono"/>
                <a:ea typeface="Aptos Mono"/>
                <a:cs typeface="Aptos Mono"/>
              </a:rPr>
              <a:t>    packages/MimiGIVE / MimiFAIR / MimiRFFSPs</a:t>
            </a:r>
          </a:p>
          <a:p xmlns:a="http://schemas.openxmlformats.org/drawingml/2006/main">
            <a:pPr algn="l">
              <a:defRPr sz="1050" b="0">
                <a:solidFill>
                  <a:srgbClr val="E9EFEA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E9EFEA"/>
                </a:solidFill>
                <a:latin typeface="Aptos Mono"/>
                <a:ea typeface="Aptos Mono"/>
                <a:cs typeface="Aptos Mono"/>
              </a:rPr>
              <a:t>    wildfire_extension/</a:t>
            </a:r>
          </a:p>
          <a:p xmlns:a="http://schemas.openxmlformats.org/drawingml/2006/main">
            <a:pPr algn="l">
              <a:defRPr sz="1050" b="0">
                <a:solidFill>
                  <a:srgbClr val="E9EFEA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E9EFEA"/>
                </a:solidFill>
                <a:latin typeface="Aptos Mono"/>
                <a:ea typeface="Aptos Mono"/>
                <a:cs typeface="Aptos Mono"/>
              </a:rPr>
              <a:t>      WildfireGIVE.jl</a:t>
            </a:r>
          </a:p>
          <a:p xmlns:a="http://schemas.openxmlformats.org/drawingml/2006/main">
            <a:pPr algn="l">
              <a:defRPr sz="1050" b="0">
                <a:solidFill>
                  <a:srgbClr val="E9EFEA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E9EFEA"/>
                </a:solidFill>
                <a:latin typeface="Aptos Mono"/>
                <a:ea typeface="Aptos Mono"/>
                <a:cs typeface="Aptos Mono"/>
              </a:rPr>
              <a:t>      run_temperature_feedback_mcs.jl</a:t>
            </a:r>
          </a:p>
          <a:p xmlns:a="http://schemas.openxmlformats.org/drawingml/2006/main">
            <a:pPr algn="l">
              <a:defRPr sz="1050" b="0">
                <a:solidFill>
                  <a:srgbClr val="E9EFEA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E9EFEA"/>
                </a:solidFill>
                <a:latin typeface="Aptos Mono"/>
                <a:ea typeface="Aptos Mono"/>
                <a:cs typeface="Aptos Mono"/>
              </a:rPr>
              <a:t>      run_sectoral_diagnostics.jl</a:t>
            </a:r>
          </a:p>
          <a:p xmlns:a="http://schemas.openxmlformats.org/drawingml/2006/main">
            <a:pPr algn="l">
              <a:defRPr sz="1050" b="0">
                <a:solidFill>
                  <a:srgbClr val="E9EFEA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E9EFEA"/>
                </a:solidFill>
                <a:latin typeface="Aptos Mono"/>
                <a:ea typeface="Aptos Mono"/>
                <a:cs typeface="Aptos Mono"/>
              </a:rPr>
              <a:t>      run_regional_damage_map_diagnostics.jl</a:t>
            </a:r>
          </a:p>
          <a:p xmlns:a="http://schemas.openxmlformats.org/drawingml/2006/main">
            <a:pPr algn="l">
              <a:defRPr sz="1050" b="0">
                <a:solidFill>
                  <a:srgbClr val="E9EFEA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E9EFEA"/>
                </a:solidFill>
                <a:latin typeface="Aptos Mono"/>
                <a:ea typeface="Aptos Mono"/>
                <a:cs typeface="Aptos Mono"/>
              </a:rPr>
              <a:t>      make_png_pdf_figures.R</a:t>
            </a:r>
          </a:p>
          <a:p xmlns:a="http://schemas.openxmlformats.org/drawingml/2006/main">
            <a:pPr algn="l">
              <a:defRPr sz="1050" b="0">
                <a:solidFill>
                  <a:srgbClr val="E9EFEA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E9EFEA"/>
                </a:solidFill>
                <a:latin typeface="Aptos Mono"/>
                <a:ea typeface="Aptos Mono"/>
                <a:cs typeface="Aptos Mono"/>
              </a:rPr>
              <a:t>      manuscript/ replication/ teaching_module/</a:t>
            </a:r>
          </a:p>
          <a:p xmlns:a="http://schemas.openxmlformats.org/drawingml/2006/main">
            <a:pPr algn="l">
              <a:defRPr sz="1050" b="0">
                <a:solidFill>
                  <a:srgbClr val="E9EFEA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E9EFEA"/>
                </a:solidFill>
                <a:latin typeface="Aptos Mono"/>
                <a:ea typeface="Aptos Mono"/>
                <a:cs typeface="Aptos Mono"/>
              </a:rPr>
              <a:t>    output/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C7437F-9B94-4E22-9AD7-05D3D8EAE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52650"/>
            <a:ext cx="40957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0C3F00-E274-442E-B7F8-9DBD7B154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003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321"/>
                </a:solidFill>
                <a:latin typeface="Aptos"/>
                <a:ea typeface="Aptos"/>
                <a:cs typeface="Aptos"/>
              </a:rPr>
              <a:t>What is reproducible now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1E09EF-25F4-4C7B-8CE8-690F84019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819400"/>
            <a:ext cx="342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Deterministic runs, 100-draw validation, figures, manuscript, memo, teaching module and scripts.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91FF06-8D36-47E8-AE15-6AB995BF3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33800"/>
            <a:ext cx="40957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8C6"/>
          </a:solidFill>
          <a:ln xmlns:a="http://schemas.openxmlformats.org/drawingml/2006/main" w="9525">
            <a:solidFill>
              <a:srgbClr val="D6A13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497B77-7900-45FE-8B71-F8CE86652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814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321"/>
                </a:solidFill>
                <a:latin typeface="Aptos"/>
                <a:ea typeface="Aptos"/>
                <a:cs typeface="Aptos"/>
              </a:rPr>
              <a:t>What remains before public release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DB2E70-B191-449A-8C83-B51B38C45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400550"/>
            <a:ext cx="3429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321"/>
                </a:solidFill>
                <a:latin typeface="Aptos"/>
                <a:ea typeface="Aptos"/>
                <a:cs typeface="Aptos"/>
              </a:rPr>
              <a:t>Create the GitHub repository, push the package, then run or parallelize the full 10,000-draw Monte Carlo.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CBBDB5-B08B-48FF-AFDB-C757C614B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Local workspace inventory; no GitHub remote has been created yet.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93684D-4175-49A6-84A6-46D3E933A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65673282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1EB6D2-3267-46BE-A965-05DB4BE48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5F1EF68-B4DD-4A2D-8202-7C534CEB6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E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ECF2C6E-6A0E-4D3F-92E6-8F57DABC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57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AI COLLABORATION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206EB3-93E2-4F84-99EC-F03E79143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9906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321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82321"/>
                </a:solidFill>
                <a:latin typeface="Aptos Display"/>
                <a:ea typeface="Aptos Display"/>
                <a:cs typeface="Aptos Display"/>
              </a:rPr>
              <a:t>The AI was most useful as a persistent research programmer and auditor.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C1BC27-D157-402F-8496-B39053C2B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191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14638D-93BA-4376-BA32-6FEDFE6A2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E2D"/>
          </a:solidFill>
          <a:ln xmlns:a="http://schemas.openxmlformats.org/drawingml/2006/main" w="0">
            <a:solidFill>
              <a:srgbClr val="C84E2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57C7EB-94C6-4546-9A4B-1B1F48EEC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33575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DF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DFC"/>
                </a:solidFill>
                <a:latin typeface="Aptos"/>
                <a:ea typeface="Aptos"/>
                <a:cs typeface="Aptos"/>
              </a:rPr>
              <a:t>You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A9252A-D7FA-4A5C-9CDD-BBFD2EEB8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885950"/>
            <a:ext cx="790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2321"/>
                </a:solidFill>
                <a:latin typeface="Aptos"/>
                <a:ea typeface="Aptos"/>
                <a:cs typeface="Aptos"/>
              </a:rPr>
              <a:t>Framed hypotheses; challenged units and double counting; redirected toward diagnostics; judged figure usefulness.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8BF6DF-3AEF-4A6E-AA30-BFDA5573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38450"/>
            <a:ext cx="10191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9E2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0A39CE-C7D5-4824-9FBE-2397AD7DA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0515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B5B"/>
          </a:solidFill>
          <a:ln xmlns:a="http://schemas.openxmlformats.org/drawingml/2006/main" w="0">
            <a:solidFill>
              <a:srgbClr val="1F6B5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D2DAEA-7E7E-4F94-9A9B-0581046C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52775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DF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DFC"/>
                </a:solidFill>
                <a:latin typeface="Aptos"/>
                <a:ea typeface="Aptos"/>
                <a:cs typeface="Aptos"/>
              </a:rPr>
              <a:t>AI agent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2B7F60-BF6C-4D15-96BC-D3CC7F447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105150"/>
            <a:ext cx="790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2321"/>
                </a:solidFill>
                <a:latin typeface="Aptos"/>
                <a:ea typeface="Aptos"/>
                <a:cs typeface="Aptos"/>
              </a:rPr>
              <a:t>Searched code and literature; implemented the extension; ran checks; generated plots; drafted manuscript and deck.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B507BC-3BFD-4405-984A-9E4998DD9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57650"/>
            <a:ext cx="10191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A348FF-D327-4D01-B37C-D13A304C9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24350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13C"/>
          </a:solidFill>
          <a:ln xmlns:a="http://schemas.openxmlformats.org/drawingml/2006/main" w="0">
            <a:solidFill>
              <a:srgbClr val="D6A13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FA2D80-6682-4B81-99D8-CD376D22E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71975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DF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DFC"/>
                </a:solidFill>
                <a:latin typeface="Aptos"/>
                <a:ea typeface="Aptos"/>
                <a:cs typeface="Aptos"/>
              </a:rPr>
              <a:t>Shared workspace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B11FA9-7C63-4A65-8B88-38A23448F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324350"/>
            <a:ext cx="790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2321"/>
                </a:solidFill>
                <a:latin typeface="Aptos"/>
                <a:ea typeface="Aptos"/>
                <a:cs typeface="Aptos"/>
              </a:rPr>
              <a:t>All claims tied back to files, runs, figures, tables, and scripts on the same machine.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1752E3-3178-4A7F-AC5A-C43BEDA34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72125"/>
            <a:ext cx="9429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Bootcamp lesson: the leverage came from tight feedback loops, visible files, skeptical checks, and refusing to treat the first model output as the answer.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099FF5-0BBF-4E43-A0DF-05F6AAE84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Collaboration pattern from this thread and local workspace history.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1C0CE6-5DC6-475E-B705-207DB61FF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01109542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86D044-6A88-4132-A9AC-F83F5966A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0EEAA55-C50A-4B40-B0FD-56B5B5991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28C850F-A3EA-48F1-991D-E8E155224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57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4E8C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E8C6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468A94-F025-45F7-ABCD-C85AC43E5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9906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DFC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DFC"/>
                </a:solidFill>
                <a:latin typeface="Aptos Display"/>
                <a:ea typeface="Aptos Display"/>
                <a:cs typeface="Aptos Display"/>
              </a:rPr>
              <a:t>The preliminary result is useful, but the theory and data choices carry the result.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DDC32A-4A94-4980-A4E2-3263CC114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4625"/>
            <a:ext cx="2524125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330"/>
          </a:solidFill>
          <a:ln xmlns:a="http://schemas.openxmlformats.org/drawingml/2006/main" w="9525">
            <a:solidFill>
              <a:srgbClr val="41524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2CE0EF-5A27-4862-A39E-E9F59B657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0375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E8C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4E8C6"/>
                </a:solidFill>
                <a:latin typeface="Aptos"/>
                <a:ea typeface="Aptos"/>
                <a:cs typeface="Aptos"/>
              </a:rPr>
              <a:t>Finding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6FC2BB-9F23-4FDF-B7ED-A124DCE1D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86150"/>
            <a:ext cx="2000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9EF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9EFEA"/>
                </a:solidFill>
                <a:latin typeface="Aptos"/>
                <a:ea typeface="Aptos"/>
                <a:cs typeface="Aptos"/>
              </a:rPr>
              <a:t>GIVE lacks an endogenous warming -&gt; wildfire -&gt; CO2 feedback; any baseline fire carbon is exogenous and aggregated.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3F5082-9616-490C-B478-3E35D09B4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714625"/>
            <a:ext cx="2524125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330"/>
          </a:solidFill>
          <a:ln xmlns:a="http://schemas.openxmlformats.org/drawingml/2006/main" w="9525">
            <a:solidFill>
              <a:srgbClr val="41524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9911C6-132A-461C-AC72-FF6B1829A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00375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E8C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4E8C6"/>
                </a:solidFill>
                <a:latin typeface="Aptos"/>
                <a:ea typeface="Aptos"/>
                <a:cs typeface="Aptos"/>
              </a:rPr>
              <a:t>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5EBBA7-6B73-4C06-B852-69D5017D6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486150"/>
            <a:ext cx="2000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9EF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9EFEA"/>
                </a:solidFill>
                <a:latin typeface="Aptos"/>
                <a:ea typeface="Aptos"/>
                <a:cs typeface="Aptos"/>
              </a:rPr>
              <a:t>Residual net feedbacks are modest in 100 paired draws; gross missing fire-carbon stress tests can be large.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BB71CE-AAEF-4D9E-987A-3A6A3C8A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14625"/>
            <a:ext cx="2524125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330"/>
          </a:solidFill>
          <a:ln xmlns:a="http://schemas.openxmlformats.org/drawingml/2006/main" w="9525">
            <a:solidFill>
              <a:srgbClr val="41524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9100D1-797C-4FD9-AC65-36FE53254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00375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E8C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4E8C6"/>
                </a:solidFill>
                <a:latin typeface="Aptos"/>
                <a:ea typeface="Aptos"/>
                <a:cs typeface="Aptos"/>
              </a:rPr>
              <a:t>Caveat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99D77A-FC7A-450D-B49B-DD32F5384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86150"/>
            <a:ext cx="2000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9EF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9EFEA"/>
                </a:solidFill>
                <a:latin typeface="Aptos"/>
                <a:ea typeface="Aptos"/>
                <a:cs typeface="Aptos"/>
              </a:rPr>
              <a:t>Gross fire emissions are not persistent net atmospheric additions, and baseline pathways may already embed some fire/AFOLU expectations.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242415-BEDB-4CCB-9526-9D6D9ABA3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14625"/>
            <a:ext cx="2524125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330"/>
          </a:solidFill>
          <a:ln xmlns:a="http://schemas.openxmlformats.org/drawingml/2006/main" w="9525">
            <a:solidFill>
              <a:srgbClr val="41524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98C9EB-D5F8-477B-9F23-B3B81111A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000375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E8C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4E8C6"/>
                </a:solidFill>
                <a:latin typeface="Aptos"/>
                <a:ea typeface="Aptos"/>
                <a:cs typeface="Aptos"/>
              </a:rPr>
              <a:t>Next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285DBD-335E-41F3-A63F-149602D9A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486150"/>
            <a:ext cx="2000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9EFE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9EFEA"/>
                </a:solidFill>
                <a:latin typeface="Aptos"/>
                <a:ea typeface="Aptos"/>
                <a:cs typeface="Aptos"/>
              </a:rPr>
              <a:t>Ingest gridded fire-carbon projections, characterize net persistence, avoid double counting, then run the full 10,000-draw Monte Carlo.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0E008C-48BC-491D-839E-BA178864B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476875"/>
            <a:ext cx="876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DF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DFC"/>
                </a:solidFill>
                <a:latin typeface="Aptos"/>
                <a:ea typeface="Aptos"/>
                <a:cs typeface="Aptos"/>
              </a:rPr>
              <a:t>A good AI-assisted research workflow made the uncertainty more visible, not less.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6E6DD9-D989-40E6-89B9-4F68484BA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Interpretation checkpoint: results are preliminary and intended to guide the next empirical iteration.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31168D-A0FD-4E1C-9697-E10990AFC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937239130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083313-E875-45D3-954A-6D6F0C7C3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777E79E-00CA-4AAD-9E8A-1D9D55F6C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E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9EBB8FE-CF85-4375-8834-F632A8F28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57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AUDIT TRAIL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38ECBB-A991-40C2-9110-66F491A4E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9906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321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82321"/>
                </a:solidFill>
                <a:latin typeface="Aptos Display"/>
                <a:ea typeface="Aptos Display"/>
                <a:cs typeface="Aptos Display"/>
              </a:rPr>
              <a:t>The audit separated what is known, unknown and definitely missing.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83F778-D80C-40E3-A5C9-9E10FB4D0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191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4D37A1-129D-466C-AE2E-88F9DF8A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B5B"/>
          </a:solidFill>
          <a:ln xmlns:a="http://schemas.openxmlformats.org/drawingml/2006/main" w="0">
            <a:solidFill>
              <a:srgbClr val="1F6B5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6E92CD-38A4-4EA6-AD0D-96CA9A802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05025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DF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DFC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F603D0-8D03-4F62-B884-681993B48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812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321"/>
                </a:solidFill>
                <a:latin typeface="Aptos"/>
                <a:ea typeface="Aptos"/>
                <a:cs typeface="Aptos"/>
              </a:rPr>
              <a:t>Pathway 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AF27C8-AFCE-47F6-991B-0E9174AF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98120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MimiRFFSPs loads one aggregate global CO2 emissions pathway, not fossil / AFOLU / fire splits.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3C9198-B45D-4C39-8342-730E8C11B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3835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6B5B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1F6B5B"/>
                </a:solidFill>
                <a:latin typeface="Aptos Mono"/>
                <a:ea typeface="Aptos Mono"/>
                <a:cs typeface="Aptos Mono"/>
              </a:rPr>
              <a:t>MimiRFFSPs: SPs.jl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34861F-E0E3-4530-B7E3-864B2950A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0191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8063FC-6D96-4186-93BC-2F91C77A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908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B5B"/>
          </a:solidFill>
          <a:ln xmlns:a="http://schemas.openxmlformats.org/drawingml/2006/main" w="0">
            <a:solidFill>
              <a:srgbClr val="1F6B5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F742E1-4C1E-402F-93F3-E3F1E4E17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38475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DF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DFC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2C64FB-2250-4827-9DE2-59BF27E9F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146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321"/>
                </a:solidFill>
                <a:latin typeface="Aptos"/>
                <a:ea typeface="Aptos"/>
                <a:cs typeface="Aptos"/>
              </a:rPr>
              <a:t>Model connection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847010-88BE-4BBB-84E7-F5C71310E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91465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GIVE passes aggregate CO2 into FaIR, where the carbon cycle, forcing and temperature are calculated.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28340B-538D-468B-8140-00BC75AFB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7180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6B5B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1F6B5B"/>
                </a:solidFill>
                <a:latin typeface="Aptos Mono"/>
                <a:ea typeface="Aptos Mono"/>
                <a:cs typeface="Aptos Mono"/>
              </a:rPr>
              <a:t>MimiGIVE: main_model.jl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629E1B-37A0-415A-A04F-DB2E5895E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10191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3406F6-FCE0-4751-95E0-5C2AD3624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2430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B5B"/>
          </a:solidFill>
          <a:ln xmlns:a="http://schemas.openxmlformats.org/drawingml/2006/main" w="0">
            <a:solidFill>
              <a:srgbClr val="1F6B5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5F4F01-833E-4B71-964B-4E2346D2E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71925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DF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DFC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3825DB-C206-4DBE-BBA8-8370532AF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481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321"/>
                </a:solidFill>
                <a:latin typeface="Aptos"/>
                <a:ea typeface="Aptos"/>
                <a:cs typeface="Aptos"/>
              </a:rPr>
              <a:t>Fallback pathways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66D587-A0A9-4384-A0E6-7B6DB9972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84810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For non-RFF runs, GIVE uses AR6-style fossil plus other CO2 pathway inputs.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34EF4A-E36A-45D7-85F0-78411F861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0525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F6B5B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1F6B5B"/>
                </a:solidFill>
                <a:latin typeface="Aptos Mono"/>
                <a:ea typeface="Aptos Mono"/>
                <a:cs typeface="Aptos Mono"/>
              </a:rPr>
              <a:t>main_model.jl fallback branch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ABE8A1-1C50-4465-88ED-4DEC9B813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10191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5CA"/>
          </a:solidFill>
          <a:ln xmlns:a="http://schemas.openxmlformats.org/drawingml/2006/main" w="9525">
            <a:solidFill>
              <a:srgbClr val="C84E2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5425AE-118D-4E9C-B05C-1B08AF520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577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E2D"/>
          </a:solidFill>
          <a:ln xmlns:a="http://schemas.openxmlformats.org/drawingml/2006/main" w="0">
            <a:solidFill>
              <a:srgbClr val="C84E2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EAF68F-0BD8-4926-8A9F-0C1EE3ED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05375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DF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DFC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984BFC-FCAA-4D6B-B335-96C500851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815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321"/>
                </a:solidFill>
                <a:latin typeface="Aptos"/>
                <a:ea typeface="Aptos"/>
                <a:cs typeface="Aptos"/>
              </a:rPr>
              <a:t>Definite gap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F67DA4-CF0F-4AE8-AC80-F88780CE4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78155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No internal loop makes higher temperature produce extra wildfire CO2 emissions during the SCC pulse run.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0C3D2F-9D02-4557-96E4-ADE74816A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3870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84E2D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C84E2D"/>
                </a:solidFill>
                <a:latin typeface="Aptos Mono"/>
                <a:ea typeface="Aptos Mono"/>
                <a:cs typeface="Aptos Mono"/>
              </a:rPr>
              <a:t>wildfire feedback absent unless added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DB59AA-7ACE-4FDF-8BBA-7317B5A9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715000"/>
            <a:ext cx="933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321"/>
                </a:solidFill>
                <a:latin typeface="Aptos"/>
                <a:ea typeface="Aptos"/>
                <a:cs typeface="Aptos"/>
              </a:rPr>
              <a:t>Audit conclusion: we cannot prove every historical or projected fire emission is absent from the baseline, but we can test an additional temperature-driven feedback as a residual mechanism.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4EE49D-6B4F-420F-844C-0145FC14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Code-audit summary; detailed file paths belong in the appendix/technical memo.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67DEC8-2B4A-476F-B634-EFD2D079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32202358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78E1A6-F551-47E5-A96D-FC47D4CD9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6739C7C-049E-41E0-ADF2-9D5F5D8DE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E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3E57D6D-9DA2-4F57-8033-34DCD4393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57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CODE CHANGES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A85F1D-6635-4C61-A63F-9A83328EF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9906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321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82321"/>
                </a:solidFill>
                <a:latin typeface="Aptos Display"/>
                <a:ea typeface="Aptos Display"/>
                <a:cs typeface="Aptos Display"/>
              </a:rPr>
              <a:t>The implementation is a wrapper extension, not a rewrite of GIVE.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65C210-251B-40F3-BABF-8C4277926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44767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F8BF65-132E-403B-AF83-45420EBE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95500"/>
            <a:ext cx="3524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2321"/>
                </a:solidFill>
                <a:latin typeface="Aptos"/>
                <a:ea typeface="Aptos"/>
                <a:cs typeface="Aptos"/>
              </a:rPr>
              <a:t>Original replication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BDEE6C-9BBD-4F04-BC14-045E7329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86050"/>
            <a:ext cx="3619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6B5B"/>
                </a:solidFill>
                <a:latin typeface="Aptos Mono"/>
                <a:ea typeface="Aptos Mono"/>
                <a:cs typeface="Aptos Mono"/>
              </a:defRPr>
            </a:pPr>
            <a:r>
              <a:rPr sz="1650" b="0">
                <a:solidFill>
                  <a:srgbClr val="1F6B5B"/>
                </a:solidFill>
                <a:latin typeface="Aptos Mono"/>
                <a:ea typeface="Aptos Mono"/>
                <a:cs typeface="Aptos Mono"/>
              </a:rPr>
              <a:t>RFF-SP CO2 pathway</a:t>
            </a:r>
          </a:p>
          <a:p xmlns:a="http://schemas.openxmlformats.org/drawingml/2006/main">
            <a:pPr algn="l">
              <a:defRPr sz="1650" b="0">
                <a:solidFill>
                  <a:srgbClr val="1F6B5B"/>
                </a:solidFill>
                <a:latin typeface="Aptos Mono"/>
                <a:ea typeface="Aptos Mono"/>
                <a:cs typeface="Aptos Mono"/>
              </a:defRPr>
            </a:pPr>
            <a:r>
              <a:rPr sz="1650" b="0">
                <a:solidFill>
                  <a:srgbClr val="1F6B5B"/>
                </a:solidFill>
                <a:latin typeface="Aptos Mono"/>
                <a:ea typeface="Aptos Mono"/>
                <a:cs typeface="Aptos Mono"/>
              </a:rPr>
              <a:t>       -&gt; FaIR carbon cycle</a:t>
            </a:r>
          </a:p>
          <a:p xmlns:a="http://schemas.openxmlformats.org/drawingml/2006/main">
            <a:pPr algn="l">
              <a:defRPr sz="1650" b="0">
                <a:solidFill>
                  <a:srgbClr val="1F6B5B"/>
                </a:solidFill>
                <a:latin typeface="Aptos Mono"/>
                <a:ea typeface="Aptos Mono"/>
                <a:cs typeface="Aptos Mono"/>
              </a:defRPr>
            </a:pPr>
            <a:r>
              <a:rPr sz="1650" b="0">
                <a:solidFill>
                  <a:srgbClr val="1F6B5B"/>
                </a:solidFill>
                <a:latin typeface="Aptos Mono"/>
                <a:ea typeface="Aptos Mono"/>
                <a:cs typeface="Aptos Mono"/>
              </a:rPr>
              <a:t>       -&gt; forcing and temperature</a:t>
            </a:r>
          </a:p>
          <a:p xmlns:a="http://schemas.openxmlformats.org/drawingml/2006/main">
            <a:pPr algn="l">
              <a:defRPr sz="1650" b="0">
                <a:solidFill>
                  <a:srgbClr val="1F6B5B"/>
                </a:solidFill>
                <a:latin typeface="Aptos Mono"/>
                <a:ea typeface="Aptos Mono"/>
                <a:cs typeface="Aptos Mono"/>
              </a:defRPr>
            </a:pPr>
            <a:r>
              <a:rPr sz="1650" b="0">
                <a:solidFill>
                  <a:srgbClr val="1F6B5B"/>
                </a:solidFill>
                <a:latin typeface="Aptos Mono"/>
                <a:ea typeface="Aptos Mono"/>
                <a:cs typeface="Aptos Mono"/>
              </a:rPr>
              <a:t>       -&gt; sector damages</a:t>
            </a:r>
          </a:p>
          <a:p xmlns:a="http://schemas.openxmlformats.org/drawingml/2006/main">
            <a:pPr algn="l">
              <a:defRPr sz="1650" b="0">
                <a:solidFill>
                  <a:srgbClr val="1F6B5B"/>
                </a:solidFill>
                <a:latin typeface="Aptos Mono"/>
                <a:ea typeface="Aptos Mono"/>
                <a:cs typeface="Aptos Mono"/>
              </a:defRPr>
            </a:pPr>
            <a:r>
              <a:rPr sz="1650" b="0">
                <a:solidFill>
                  <a:srgbClr val="1F6B5B"/>
                </a:solidFill>
                <a:latin typeface="Aptos Mono"/>
                <a:ea typeface="Aptos Mono"/>
                <a:cs typeface="Aptos Mono"/>
              </a:rPr>
              <a:t>       -&gt; SCC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078DC3-0EA6-4C47-BC31-E45791E2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44767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9E2"/>
          </a:solidFill>
          <a:ln xmlns:a="http://schemas.openxmlformats.org/drawingml/2006/main" w="9525">
            <a:solidFill>
              <a:srgbClr val="1F6B5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7D36BB-85A0-44DA-9BC4-790136D72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95500"/>
            <a:ext cx="3524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2321"/>
                </a:solidFill>
                <a:latin typeface="Aptos"/>
                <a:ea typeface="Aptos"/>
                <a:cs typeface="Aptos"/>
              </a:rPr>
              <a:t>Extension wrapper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B895C8-D643-4E9F-B9B8-A61059E4A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86050"/>
            <a:ext cx="3619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6B5B"/>
                </a:solidFill>
                <a:latin typeface="Aptos Mono"/>
                <a:ea typeface="Aptos Mono"/>
                <a:cs typeface="Aptos Mono"/>
              </a:defRPr>
            </a:pPr>
            <a:r>
              <a:rPr sz="1650" b="0">
                <a:solidFill>
                  <a:srgbClr val="1F6B5B"/>
                </a:solidFill>
                <a:latin typeface="Aptos Mono"/>
                <a:ea typeface="Aptos Mono"/>
                <a:cs typeface="Aptos Mono"/>
              </a:rPr>
              <a:t>Same baseline path</a:t>
            </a:r>
          </a:p>
          <a:p xmlns:a="http://schemas.openxmlformats.org/drawingml/2006/main">
            <a:pPr algn="l">
              <a:defRPr sz="1650" b="0">
                <a:solidFill>
                  <a:srgbClr val="1F6B5B"/>
                </a:solidFill>
                <a:latin typeface="Aptos Mono"/>
                <a:ea typeface="Aptos Mono"/>
                <a:cs typeface="Aptos Mono"/>
              </a:defRPr>
            </a:pPr>
            <a:r>
              <a:rPr sz="1650" b="0">
                <a:solidFill>
                  <a:srgbClr val="1F6B5B"/>
                </a:solidFill>
                <a:latin typeface="Aptos Mono"/>
                <a:ea typeface="Aptos Mono"/>
                <a:cs typeface="Aptos Mono"/>
              </a:rPr>
              <a:t>       + wildfire feedback</a:t>
            </a:r>
          </a:p>
          <a:p xmlns:a="http://schemas.openxmlformats.org/drawingml/2006/main">
            <a:pPr algn="l">
              <a:defRPr sz="1650" b="0">
                <a:solidFill>
                  <a:srgbClr val="1F6B5B"/>
                </a:solidFill>
                <a:latin typeface="Aptos Mono"/>
                <a:ea typeface="Aptos Mono"/>
                <a:cs typeface="Aptos Mono"/>
              </a:defRPr>
            </a:pPr>
            <a:r>
              <a:rPr sz="1650" b="0">
                <a:solidFill>
                  <a:srgbClr val="1F6B5B"/>
                </a:solidFill>
                <a:latin typeface="Aptos Mono"/>
                <a:ea typeface="Aptos Mono"/>
                <a:cs typeface="Aptos Mono"/>
              </a:rPr>
              <a:t>       -&gt; FaIR carbon cycle</a:t>
            </a:r>
          </a:p>
          <a:p xmlns:a="http://schemas.openxmlformats.org/drawingml/2006/main">
            <a:pPr algn="l">
              <a:defRPr sz="1650" b="0">
                <a:solidFill>
                  <a:srgbClr val="1F6B5B"/>
                </a:solidFill>
                <a:latin typeface="Aptos Mono"/>
                <a:ea typeface="Aptos Mono"/>
                <a:cs typeface="Aptos Mono"/>
              </a:defRPr>
            </a:pPr>
            <a:r>
              <a:rPr sz="1650" b="0">
                <a:solidFill>
                  <a:srgbClr val="1F6B5B"/>
                </a:solidFill>
                <a:latin typeface="Aptos Mono"/>
                <a:ea typeface="Aptos Mono"/>
                <a:cs typeface="Aptos Mono"/>
              </a:rPr>
              <a:t>       -&gt; same damage modules</a:t>
            </a:r>
          </a:p>
          <a:p xmlns:a="http://schemas.openxmlformats.org/drawingml/2006/main">
            <a:pPr algn="l">
              <a:defRPr sz="1650" b="0">
                <a:solidFill>
                  <a:srgbClr val="1F6B5B"/>
                </a:solidFill>
                <a:latin typeface="Aptos Mono"/>
                <a:ea typeface="Aptos Mono"/>
                <a:cs typeface="Aptos Mono"/>
              </a:defRPr>
            </a:pPr>
            <a:r>
              <a:rPr sz="1650" b="0">
                <a:solidFill>
                  <a:srgbClr val="1F6B5B"/>
                </a:solidFill>
                <a:latin typeface="Aptos Mono"/>
                <a:ea typeface="Aptos Mono"/>
                <a:cs typeface="Aptos Mono"/>
              </a:rPr>
              <a:t>       -&gt; paired SCC comparison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F0ACE3-D6A2-41F4-9224-C1EBB6E3F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53000"/>
            <a:ext cx="8191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21"/>
          </a:solidFill>
          <a:ln xmlns:a="http://schemas.openxmlformats.org/drawingml/2006/main" w="9525">
            <a:solidFill>
              <a:srgbClr val="18232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53C895-734E-4C53-B527-FB5D730C6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200650"/>
            <a:ext cx="7620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DFC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FFDFC"/>
                </a:solidFill>
                <a:latin typeface="Aptos Mono"/>
                <a:ea typeface="Aptos Mono"/>
                <a:cs typeface="Aptos Mono"/>
              </a:rPr>
              <a:t>Changed files live under wildfire_extension/: WildfireGIVE.jl  |  run_temperature_feedback_mcs.jl  |  run_sectoral_diagnostics.jl  |  run_regional_damage_map_diagnostics.jl  |  make_png_pdf_figures.R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0D421B-4E80-4BAE-9593-C35A90C69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Original replication code preserved; extension files are isolated for review and rollback.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FADFBC-F623-45DD-AC06-97F0CDF74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424021342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A36CC3-B60F-4C70-B778-33BE4BCA5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2D05644-CB9D-4182-89B7-D548E042B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E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CB31C3B-9354-4A52-BF74-02F188360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57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FROM LITERATURE TO PARAMETERS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EF4B61-14B3-4881-AD12-38DE8D949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9906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321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82321"/>
                </a:solidFill>
                <a:latin typeface="Aptos Display"/>
                <a:ea typeface="Aptos Display"/>
                <a:cs typeface="Aptos Display"/>
              </a:rPr>
              <a:t>The papers inform separate parameters rather than a single magic number.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59F93B-A517-4852-9F1F-569A1838C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2714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Source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C110F1-1087-49BF-81BD-4C7120428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7145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Parameter role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537DFC-9FBE-41F6-9471-D5EF282AC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14500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Interpretation guardrail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A56E59-008F-46D6-8275-4CC8DDE27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10287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BAF935-D391-439C-8932-B9D5DEEE5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2571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6B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6B5B"/>
                </a:solidFill>
                <a:latin typeface="Aptos"/>
                <a:ea typeface="Aptos"/>
                <a:cs typeface="Aptos"/>
              </a:rPr>
              <a:t>Byrne et al. Canada 2023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DBC1BB-540A-4935-B45D-093A83A59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288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82321"/>
                </a:solidFill>
                <a:latin typeface="Aptos"/>
                <a:ea typeface="Aptos"/>
                <a:cs typeface="Aptos"/>
              </a:rPr>
              <a:t>Event-scale sanity check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CAFA3F-0791-4CDE-8FA3-FDA7AD46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90750"/>
            <a:ext cx="3810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Large boreal events can reach multi-GtCO2 annual scale.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E76806-4946-4BBC-A2EC-A4175FDA1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10287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4D4F44-55F9-4A17-859B-A8CCF5CFA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2571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6B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6B5B"/>
                </a:solidFill>
                <a:latin typeface="Aptos"/>
                <a:ea typeface="Aptos"/>
                <a:cs typeface="Aptos"/>
              </a:rPr>
              <a:t>Val Martin / Pierce / Heald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BB04CE-E789-45B2-9DAD-FCC0F838D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9146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82321"/>
                </a:solidFill>
                <a:latin typeface="Aptos"/>
                <a:ea typeface="Aptos"/>
                <a:cs typeface="Aptos"/>
              </a:rPr>
              <a:t>Temperature response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E47B4E-D5B2-4FB2-8940-8EAF50F68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76550"/>
            <a:ext cx="3810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Used to motivate a gross fire-emissions sensitivity to warming.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EB840A-2CD2-49D3-B1F8-44AEBE725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9950"/>
            <a:ext cx="10287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28C178-2E03-4E69-937F-7E9C28541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0450"/>
            <a:ext cx="2571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6B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6B5B"/>
                </a:solidFill>
                <a:latin typeface="Aptos"/>
                <a:ea typeface="Aptos"/>
                <a:cs typeface="Aptos"/>
              </a:rPr>
              <a:t>RESFire / CESM fire-feedback studies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8AECFC-8996-4B29-81D8-B0591CCBC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004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82321"/>
                </a:solidFill>
                <a:latin typeface="Aptos"/>
                <a:ea typeface="Aptos"/>
                <a:cs typeface="Aptos"/>
              </a:rPr>
              <a:t>Stress bounds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E1EC9C-F8F2-4360-835A-7E520888A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62350"/>
            <a:ext cx="3810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High-end missing-feedback cases show mechanism sensitivity.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D2CD45-EDB0-4099-A84A-66EAFB9BE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10287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A35302-9BE9-46EE-9896-FFFFB8017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86250"/>
            <a:ext cx="2571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6B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6B5B"/>
                </a:solidFill>
                <a:latin typeface="Aptos"/>
                <a:ea typeface="Aptos"/>
                <a:cs typeface="Aptos"/>
              </a:rPr>
              <a:t>Qiu et al.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206538-57FF-4436-A40F-5589D4CE6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862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82321"/>
                </a:solidFill>
                <a:latin typeface="Aptos"/>
                <a:ea typeface="Aptos"/>
                <a:cs typeface="Aptos"/>
              </a:rPr>
              <a:t>Complementary damage channel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F4A1E6-3F5F-4C88-9A60-50EEBC3DA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48150"/>
            <a:ext cx="3810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Smoke mortality is important but not included in this carbon-only extension.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644458-6B94-433D-9EB6-55FA0A79E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81550"/>
            <a:ext cx="10287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3954CE-63A4-431E-9F68-93D3019C3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72050"/>
            <a:ext cx="2571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6B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6B5B"/>
                </a:solidFill>
                <a:latin typeface="Aptos"/>
                <a:ea typeface="Aptos"/>
                <a:cs typeface="Aptos"/>
              </a:rPr>
              <a:t>RFF-SP / GIVE / FaIR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647AF5-6F0D-4EAE-A94F-50528533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9720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82321"/>
                </a:solidFill>
                <a:latin typeface="Aptos"/>
                <a:ea typeface="Aptos"/>
                <a:cs typeface="Aptos"/>
              </a:rPr>
              <a:t>Accounting boundary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0548CB-11CC-46C8-8E6D-E4E770B5B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33950"/>
            <a:ext cx="3810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Defines where aggregate CO2 enters and where double-counting can occur.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CD381B-8D6C-40C4-B433-5D3B53930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695950"/>
            <a:ext cx="895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This structure keeps the model honest: magnitude, persistence, missing share and damages are distinct judgments.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76A434-2E5C-4E26-91B8-4C21161B2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Literature synthesis used for the current validation-scale model extension.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317367-3ACF-445E-91C5-DA5B15FA8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831344977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7525EB-DE49-43AB-A8B6-23CEF256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543036E-F6CE-44D0-9739-6FDFD5F82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E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C342CBC-BDDF-4C20-A3D7-5012C8689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57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UNCERTAINTY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FC81A9-9E13-4A59-9350-895E078B6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0096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321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82321"/>
                </a:solidFill>
                <a:latin typeface="Aptos Display"/>
                <a:ea typeface="Aptos Display"/>
                <a:cs typeface="Aptos Display"/>
              </a:rPr>
              <a:t>Paired sampling isolates the wildfire effect from GIVE's existing uncertainty.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F81E01-A50A-4416-965A-3B7B0CC05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3143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01FA19-285F-47B4-8C11-4E5C51E2E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05050"/>
            <a:ext cx="2571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2321"/>
                </a:solidFill>
                <a:latin typeface="Aptos"/>
                <a:ea typeface="Aptos"/>
                <a:cs typeface="Aptos"/>
              </a:rPr>
              <a:t>Hold fixed across pair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B17768-6C00-4132-9280-57219CE79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33700"/>
            <a:ext cx="257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Climate sensitivity, socioeconomic path, damage parameters, discounting and baseline SCC draw.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6C401D-6151-4F7E-99C7-2BC4CAB58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819400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99F9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99F91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E5B12C-C4E8-45D0-8A49-ECA4965A1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00250"/>
            <a:ext cx="3143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9E2"/>
          </a:solidFill>
          <a:ln xmlns:a="http://schemas.openxmlformats.org/drawingml/2006/main" w="9525">
            <a:solidFill>
              <a:srgbClr val="1F6B5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D7D80D-039F-4810-9F0A-839850E97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05050"/>
            <a:ext cx="2571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6B5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F6B5B"/>
                </a:solidFill>
                <a:latin typeface="Aptos"/>
                <a:ea typeface="Aptos"/>
                <a:cs typeface="Aptos"/>
              </a:rPr>
              <a:t>Sample for wildfire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D000AA-FE62-404E-B5A7-CFAFF6D2C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33700"/>
            <a:ext cx="257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Reference fire scale, temperature response, net persistence and missing-share adjustment.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F0F74F-2809-4549-A1FF-3822EC30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819400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99F9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99F91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66BE62-A46C-404B-9210-D0D481A1D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00250"/>
            <a:ext cx="3143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CE12D3-ED8C-46A4-9BB2-AE28BD3C3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05050"/>
            <a:ext cx="2571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2321"/>
                </a:solidFill>
                <a:latin typeface="Aptos"/>
                <a:ea typeface="Aptos"/>
                <a:cs typeface="Aptos"/>
              </a:rPr>
              <a:t>Compare within draw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3B64EE-2371-4102-8C08-1A67AD507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33700"/>
            <a:ext cx="257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SCC_wildfire - SCC_baseline gives the incremental effect under the same GIVE world.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BAFEB4-2DAE-4FD8-9B51-E0A3E0453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762500"/>
            <a:ext cx="8096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8C6"/>
          </a:solidFill>
          <a:ln xmlns:a="http://schemas.openxmlformats.org/drawingml/2006/main" w="9525">
            <a:solidFill>
              <a:srgbClr val="D6A13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44E0F6-A4E8-4361-9D5B-CEE92F18D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933950"/>
            <a:ext cx="7477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321"/>
                </a:solidFill>
                <a:latin typeface="Aptos"/>
                <a:ea typeface="Aptos"/>
                <a:cs typeface="Aptos"/>
              </a:rPr>
              <a:t>Why this matters: a noisy Monte Carlo can hide small effects. Paired draws make the wildfire increment visible without pretending the 100-draw validation is the final 10,000-run result.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3C9723-7730-4E40-93F0-DA7BF65F2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Method used in run_temperature_feedback_mcs.jl and planned for the full Monte Carlo.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B696A2-41DF-4EA0-81D7-B1091BE66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33660757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702FC3-33AA-464E-92CA-E975B8598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25F765B-59E4-4114-8590-4D49EF3A1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E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658CC75-DA5C-4638-A669-3F743828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57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4E2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E2D"/>
                </a:solidFill>
                <a:latin typeface="Aptos"/>
                <a:ea typeface="Aptos"/>
                <a:cs typeface="Aptos"/>
              </a:rPr>
              <a:t>WHAT REMAINS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3BD26E-FD95-4C10-8E0D-47F40A9C4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9906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321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82321"/>
                </a:solidFill>
                <a:latin typeface="Aptos Display"/>
                <a:ea typeface="Aptos Display"/>
                <a:cs typeface="Aptos Display"/>
              </a:rPr>
              <a:t>The next run should be bigger only after the data boundary is locked.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05A9A6-E4AF-458F-89B8-480521A7E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1009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5CA"/>
          </a:solidFill>
          <a:ln xmlns:a="http://schemas.openxmlformats.org/drawingml/2006/main" w="9525">
            <a:solidFill>
              <a:srgbClr val="C84E2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CB0E64-FE9B-44BC-9779-F4A9CFE43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240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E2D"/>
          </a:solidFill>
          <a:ln xmlns:a="http://schemas.openxmlformats.org/drawingml/2006/main" w="0">
            <a:solidFill>
              <a:srgbClr val="C84E2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D02209-720D-4563-B76A-1B499B24F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71675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DF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DFC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9BACFF-73BE-4490-A859-67FE89B10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8859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321"/>
                </a:solidFill>
                <a:latin typeface="Aptos"/>
                <a:ea typeface="Aptos"/>
                <a:cs typeface="Aptos"/>
              </a:rPr>
              <a:t>Freeze accounting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B11131-0000-4FA4-8D68-3D56FC7AD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66900"/>
            <a:ext cx="523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Decide what counts as net, persistent, not-already-embedded wildfire CO2.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AA87DF-F1C4-47F7-932F-C641E93D4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14600"/>
            <a:ext cx="1009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8BE532-6307-473E-A46C-F9C7FEEA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4320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B5B"/>
          </a:solidFill>
          <a:ln xmlns:a="http://schemas.openxmlformats.org/drawingml/2006/main" w="0">
            <a:solidFill>
              <a:srgbClr val="1F6B5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618781-03D5-4CDD-8D63-13A4000ED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90825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DF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DFC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FF7877-8BD4-47A6-823B-DE4FDD822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051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321"/>
                </a:solidFill>
                <a:latin typeface="Aptos"/>
                <a:ea typeface="Aptos"/>
                <a:cs typeface="Aptos"/>
              </a:rPr>
              <a:t>Upgrade data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F515C1-30F8-4C3E-90D0-F4FE004D4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86050"/>
            <a:ext cx="523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Replace heuristic source weights with gridded or regional fire-carbon projections.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D0414C-2789-479C-AA8C-8658536D0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1009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8A3C10-8E68-446C-A6DE-92FB22D42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623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B5B"/>
          </a:solidFill>
          <a:ln xmlns:a="http://schemas.openxmlformats.org/drawingml/2006/main" w="0">
            <a:solidFill>
              <a:srgbClr val="1F6B5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D7C501-BB50-4206-BE9D-1D94515E3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09975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DF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DFC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741138-0AE9-4BB4-B93C-07DF09826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242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321"/>
                </a:solidFill>
                <a:latin typeface="Aptos"/>
                <a:ea typeface="Aptos"/>
                <a:cs typeface="Aptos"/>
              </a:rPr>
              <a:t>Run 10,000 pairs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BE098A-C6DE-47F8-A1E6-177B573AB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05200"/>
            <a:ext cx="523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Parallelize baseline and wildfire scenarios with identical GIVE draws.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080BB8-25B4-45AC-8FFE-AD94C139E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52900"/>
            <a:ext cx="1009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2067C2-9723-4AC4-94C0-5256039F0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8150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B5B"/>
          </a:solidFill>
          <a:ln xmlns:a="http://schemas.openxmlformats.org/drawingml/2006/main" w="0">
            <a:solidFill>
              <a:srgbClr val="1F6B5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F7A952-4891-4202-BDD4-CA8B56AE2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29125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DF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DFC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AE4795-5EC8-4D59-9FED-8E88BF4CF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3434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321"/>
                </a:solidFill>
                <a:latin typeface="Aptos"/>
                <a:ea typeface="Aptos"/>
                <a:cs typeface="Aptos"/>
              </a:rPr>
              <a:t>Stress-test mechanisms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20B51F-5A14-419D-9F6C-155283FDD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24350"/>
            <a:ext cx="523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Check temperature, forcing, sector damages, discounting and sea-level timing.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72DBB1-C1FF-4C92-876D-BA9F2A66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72050"/>
            <a:ext cx="1009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DB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1A00F5-4FB0-472B-B20B-3679DB33B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006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B5B"/>
          </a:solidFill>
          <a:ln xmlns:a="http://schemas.openxmlformats.org/drawingml/2006/main" w="0">
            <a:solidFill>
              <a:srgbClr val="1F6B5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DC0BE4-57CB-46F4-A3C7-F6D84D922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248275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DF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DFC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47BC6A-6EE3-4D07-ACF0-5785F074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625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32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321"/>
                </a:solidFill>
                <a:latin typeface="Aptos"/>
                <a:ea typeface="Aptos"/>
                <a:cs typeface="Aptos"/>
              </a:rPr>
              <a:t>Publish package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5E7E6B-1984-46C7-BDE9-BA5F329B4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143500"/>
            <a:ext cx="523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Create remote GitHub repository, tag version and include run logs.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B0DEB2-B44E-4C01-81DE-8CA13122B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Reason for stopping at validation scale: avoid spending compute on a parameterization we may revise.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37F4E1-4B15-4E3B-97C2-40E8628E1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217001342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8E050F-6587-48ED-8CEC-9567990AF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BD28393-913F-434B-8E9B-58F6AF05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CBB2815-3842-4728-9C92-015B75F6E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57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4E8C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E8C6"/>
                </a:solidFill>
                <a:latin typeface="Aptos"/>
                <a:ea typeface="Aptos"/>
                <a:cs typeface="Aptos"/>
              </a:rPr>
              <a:t>BOOTCAMP CLOSE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3F5692-9A04-4CF0-B0BA-6C9B18223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876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FFFDFC"/>
                </a:solidFill>
                <a:latin typeface="Aptos Display"/>
                <a:ea typeface="Aptos Display"/>
                <a:cs typeface="Aptos Display"/>
              </a:defRPr>
            </a:pPr>
            <a:r>
              <a:rPr sz="3375" b="1">
                <a:solidFill>
                  <a:srgbClr val="FFFDFC"/>
                </a:solidFill>
                <a:latin typeface="Aptos Display"/>
                <a:ea typeface="Aptos Display"/>
                <a:cs typeface="Aptos Display"/>
              </a:rPr>
              <a:t>The collaboration pattern is the portable lesson.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CCBE05-2AEE-46F1-BF2B-9B55529C8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43125"/>
            <a:ext cx="962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330"/>
          </a:solidFill>
          <a:ln xmlns:a="http://schemas.openxmlformats.org/drawingml/2006/main" w="9525">
            <a:solidFill>
              <a:srgbClr val="41524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915533-98E6-40AC-A1A8-607597CE4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050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E8C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E8C6"/>
                </a:solidFill>
                <a:latin typeface="Aptos"/>
                <a:ea typeface="Aptos"/>
                <a:cs typeface="Aptos"/>
              </a:rPr>
              <a:t>Make the question falsifiable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EEF228-299D-4BCA-A4C4-29F0B3F42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0505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9EFE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9EFEA"/>
                </a:solidFill>
                <a:latin typeface="Aptos"/>
                <a:ea typeface="Aptos"/>
                <a:cs typeface="Aptos"/>
              </a:rPr>
              <a:t>Can we show the feedback is absent, embedded or ambiguous?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B450B5-963D-4B77-A342-B505891D4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90825"/>
            <a:ext cx="962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B37"/>
          </a:solidFill>
          <a:ln xmlns:a="http://schemas.openxmlformats.org/drawingml/2006/main" w="9525">
            <a:solidFill>
              <a:srgbClr val="41524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81D6B5-B007-4D4A-B213-C652FF779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527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E8C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E8C6"/>
                </a:solidFill>
                <a:latin typeface="Aptos"/>
                <a:ea typeface="Aptos"/>
                <a:cs typeface="Aptos"/>
              </a:rPr>
              <a:t>Keep files visible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F41EAD-3BB8-417A-A404-5EC3ADB3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5275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9EFE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9EFEA"/>
                </a:solidFill>
                <a:latin typeface="Aptos"/>
                <a:ea typeface="Aptos"/>
                <a:cs typeface="Aptos"/>
              </a:rPr>
              <a:t>Every claim should point to code, data, output or a figure.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1B2DC3-ACE7-459E-BCB7-B2DDF595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38525"/>
            <a:ext cx="962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330"/>
          </a:solidFill>
          <a:ln xmlns:a="http://schemas.openxmlformats.org/drawingml/2006/main" w="9525">
            <a:solidFill>
              <a:srgbClr val="41524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A2DA98-C675-4CB1-A2FE-0EFC460D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004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E8C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E8C6"/>
                </a:solidFill>
                <a:latin typeface="Aptos"/>
                <a:ea typeface="Aptos"/>
                <a:cs typeface="Aptos"/>
              </a:rPr>
              <a:t>Run small before large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260EA7-B083-42CB-B5EE-CB7FC3743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0045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9EFE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9EFEA"/>
                </a:solidFill>
                <a:latin typeface="Aptos"/>
                <a:ea typeface="Aptos"/>
                <a:cs typeface="Aptos"/>
              </a:rPr>
              <a:t>One draw, diagnostics, then paired Monte Carlo.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805357-C565-4B1F-B481-81CEBC161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86225"/>
            <a:ext cx="962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B37"/>
          </a:solidFill>
          <a:ln xmlns:a="http://schemas.openxmlformats.org/drawingml/2006/main" w="9525">
            <a:solidFill>
              <a:srgbClr val="41524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C5135B-490F-46A4-A25F-903539BF9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481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E8C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E8C6"/>
                </a:solidFill>
                <a:latin typeface="Aptos"/>
                <a:ea typeface="Aptos"/>
                <a:cs typeface="Aptos"/>
              </a:rPr>
              <a:t>Use skepticism as steering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130C3F-0DC2-4300-B328-BB3AA2E46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4815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9EFE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9EFEA"/>
                </a:solidFill>
                <a:latin typeface="Aptos"/>
                <a:ea typeface="Aptos"/>
                <a:cs typeface="Aptos"/>
              </a:rPr>
              <a:t>Unit checks and double-counting questions improved the model.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A44F6A-CD9E-4888-86D3-ADBCB6C99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33925"/>
            <a:ext cx="962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330"/>
          </a:solidFill>
          <a:ln xmlns:a="http://schemas.openxmlformats.org/drawingml/2006/main" w="9525">
            <a:solidFill>
              <a:srgbClr val="41524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259C86-096A-49D8-8F39-F77B5B016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958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E8C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E8C6"/>
                </a:solidFill>
                <a:latin typeface="Aptos"/>
                <a:ea typeface="Aptos"/>
                <a:cs typeface="Aptos"/>
              </a:rPr>
              <a:t>Publish the trail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330C52-0095-4953-82BA-2E3476E65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9585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9EFE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9EFEA"/>
                </a:solidFill>
                <a:latin typeface="Aptos"/>
                <a:ea typeface="Aptos"/>
                <a:cs typeface="Aptos"/>
              </a:rPr>
              <a:t>Memo, manuscript, figures, scripts and repository before policy claims.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029326-7B0D-4F66-A232-0AB6D226D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72150"/>
            <a:ext cx="885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D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DFC"/>
                </a:solidFill>
                <a:latin typeface="Aptos"/>
                <a:ea typeface="Aptos"/>
                <a:cs typeface="Aptos"/>
              </a:rPr>
              <a:t>For academics: the AI is strongest when treated as a tireless collaborator inside a disciplined research design.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FA53F0-6E7C-4F1E-8087-F10C76BC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End: results and workflow are both part of the presentation.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53704B-3B1E-4037-9C06-49A077264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9635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9635E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4675667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2026-05-22T17:43:57.8680000Z</dcterms:created>
  <dcterms:modified xsi:type="dcterms:W3CDTF">2026-05-22T17:43:57.8680000Z</dcterms:modified>
</coreProperties>
</file>